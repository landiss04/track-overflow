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0313c4b-3828-c352-68c0-5a4ec144de6a}">
          <p14:sldIdLst>
            <p14:sldId id="256"/>
            <p14:sldId id="257"/>
          </p14:sldIdLst>
        </p14:section>
        <p14:section name="System architecture" id="{b93f8d5c-7d5c-3408-44d2-a81d13ba126a}">
          <p14:sldIdLst>
            <p14:sldId id="258"/>
            <p14:sldId id="259"/>
            <p14:sldId id="260"/>
            <p14:sldId id="261"/>
            <p14:sldId id="262"/>
            <p14:sldId id="263"/>
          </p14:sldIdLst>
        </p14:section>
        <p14:section name="Software design" id="{7a752202-6cd0-b5c0-7817-39dc5be03a63}">
          <p14:sldIdLst>
            <p14:sldId id="264"/>
            <p14:sldId id="265"/>
            <p14:sldId id="266"/>
            <p14:sldId id="267"/>
          </p14:sldIdLst>
        </p14:section>
        <p14:section name="Use cases and UI" id="{524e158c-82a6-0bd1-08bf-188c47be7b2e}">
          <p14:sldIdLst>
            <p14:sldId id="268"/>
            <p14:sldId id="269"/>
          </p14:sldIdLst>
        </p14:section>
        <p14:section name="Class design" id="{87ce53c8-6d33-b874-f11e-2b5329a729f2}">
          <p14:sldIdLst>
            <p14:sldId id="270"/>
            <p14:sldId id="271"/>
          </p14:sldIdLst>
        </p14:section>
        <p14:section name="Interactions" id="{a46ea2f3-1cea-c8b5-2603-30da7d88ad96}">
          <p14:sldIdLst>
            <p14:sldId id="272"/>
            <p14:sldId id="273"/>
            <p14:sldId id="274"/>
            <p14:sldId id="275"/>
            <p14:sldId id="276"/>
            <p14:sldId id="277"/>
          </p14:sldIdLst>
        </p14:section>
        <p14:section name="Deployment and wrap-up" id="{e2f04411-35fe-cb9a-bd73-72b170126c19}">
          <p14:sldIdLst>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module. The Track Model is the simulated physical track: it holds the layout, places trains on it from the offsets they report, detects occupancy, and gives each train the speed and authority of its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The system-level material is shared across the group; the software design onward is the Track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CTC suggests, wayside validates and controls, Track Model simulates the physical track, Train model and controller run the train. Feedback goes back up the same path. Two links skip a step: signal light to the Train controller, ticket sales to the CTC.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list with types and units is the interface dictionary, Appendix G of the SDD.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route is a list of blocks plus the switch positions needed. The Track Model keeps topology and switch state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Authority is the only thing that tells a train where to stop. A train in block 5 that may run through block 8 and stop there has an authority of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 Model never reads PLC text. It only receives the speed and authority, switch, signal and crossing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one clock in the harness, fixed dt of 0.1 s; 10x means 100 ticks per real second. Vitality: the Track controller and Train controller are the vital modules; their channels are non-vital, so they check what they are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core has no Qt code, so it runs headless and is unit tested. The window reads snapshot() and converts to ft, mph and F. The test UI reaches the module only through a local 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defines its own boundary types. The harness owns one pure mapping function per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TrackModel Protocol lives in track_model/interface.py. edit_block and reset are test-only.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maps each output to the next module's input with the edge functions. The Train model gets the speed and authority of the block it is in; the Train controller gets the light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use cases. The descriptions are in the SDD,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for context only. The window is Qt Quick (PySide6) and shows imperial units. A separate test UI process stands in for the other modules until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Layout.next_block answers where the train goes next, following the switches as set. The private _Train keeps the offset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window never decides anything; it reads snapshot() and calls Murphy's failure, temperature and load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system-level use case. Every message passes through the central harness, once per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step(): validate, apply commands, update temperatures, move trains, sell tickets, build feeds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True offset is reported offset plus carry. Past the block length the train moves to Layout.next_block; below zero it rolls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 controller sees the failure at once, between ticks, because the read-back is rebuilt when Murphy injects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Boarding takes min(waiting, capacity) and is returned in the train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diagram; shows the three block states and how a failure overrides occupancy.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 Model has no hardware variant. Its test UI exists only when the module runs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Heaters: D026 says the Track Model switches them, but the code and test UI still take heater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gives 10 points for what you learned from colleagues. Fill these in after the other teams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Iteration 3 is the system demonstration: dispatch a train from the yard to a station with all modules communicating.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Track Model  |  Design Review</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ignal light 1"/>
          <p:cNvSpPr/>
          <p:nvPr/>
        </p:nvSpPr>
        <p:spPr>
          <a:xfrm>
            <a:off x="822960" y="1371600"/>
            <a:ext cx="365760" cy="365760"/>
          </a:xfrm>
          <a:prstGeom prst="ellipse">
            <a:avLst/>
          </a:prstGeom>
          <a:solidFill>
            <a:srgbClr val="C0392B"/>
          </a:solidFill>
          <a:ln w="12700">
            <a:solidFill>
              <a:srgbClr val="C0392B"/>
            </a:solidFill>
            <a:prstDash val="solid"/>
          </a:ln>
        </p:spPr>
      </p:sp>
      <p:sp>
        <p:nvSpPr>
          <p:cNvPr id="3" name="signal light 2"/>
          <p:cNvSpPr/>
          <p:nvPr/>
        </p:nvSpPr>
        <p:spPr>
          <a:xfrm>
            <a:off x="1325880" y="1371600"/>
            <a:ext cx="365760" cy="365760"/>
          </a:xfrm>
          <a:prstGeom prst="ellipse">
            <a:avLst/>
          </a:prstGeom>
          <a:solidFill>
            <a:srgbClr val="F2A900"/>
          </a:solidFill>
          <a:ln w="12700">
            <a:solidFill>
              <a:srgbClr val="F2A900"/>
            </a:solidFill>
            <a:prstDash val="solid"/>
          </a:ln>
        </p:spPr>
      </p:sp>
      <p:sp>
        <p:nvSpPr>
          <p:cNvPr id="4" name="signal light 3"/>
          <p:cNvSpPr/>
          <p:nvPr/>
        </p:nvSpPr>
        <p:spPr>
          <a:xfrm>
            <a:off x="1828800" y="1371600"/>
            <a:ext cx="365760" cy="365760"/>
          </a:xfrm>
          <a:prstGeom prst="ellipse">
            <a:avLst/>
          </a:prstGeom>
          <a:solidFill>
            <a:srgbClr val="2E7D6B"/>
          </a:solidFill>
          <a:ln w="12700">
            <a:solidFill>
              <a:srgbClr val="2E7D6B"/>
            </a:solidFill>
            <a:prstDash val="solid"/>
          </a:ln>
        </p:spPr>
      </p:sp>
      <p:sp>
        <p:nvSpPr>
          <p:cNvPr id="5" name="Text 3"/>
          <p:cNvSpPr txBox="1"/>
          <p:nvPr/>
        </p:nvSpPr>
        <p:spPr>
          <a:xfrm>
            <a:off x="822960" y="2011680"/>
            <a:ext cx="10058400" cy="1188720"/>
          </a:xfrm>
          <a:prstGeom prst="rect">
            <a:avLst/>
          </a:prstGeom>
          <a:noFill/>
          <a:ln/>
        </p:spPr>
        <p:txBody>
          <a:bodyPr wrap="square" lIns="0" tIns="0" rIns="0" bIns="0" rtlCol="0" anchor="ctr"/>
          <a:lstStyle/>
          <a:p>
            <a:pPr indent="0" marL="0">
              <a:buNone/>
            </a:pPr>
            <a:r>
              <a:rPr lang="en-US" sz="6000" b="1" dirty="0">
                <a:solidFill>
                  <a:schemeClr val="bg1"/>
                </a:solidFill>
              </a:rPr>
              <a:t>Track Model</a:t>
            </a:r>
            <a:endParaRPr lang="en-US" sz="6000" dirty="0"/>
          </a:p>
        </p:txBody>
      </p:sp>
      <p:sp>
        <p:nvSpPr>
          <p:cNvPr id="6" name="Text 4"/>
          <p:cNvSpPr txBox="1"/>
          <p:nvPr/>
        </p:nvSpPr>
        <p:spPr>
          <a:xfrm>
            <a:off x="822960" y="3200400"/>
            <a:ext cx="10058400" cy="640080"/>
          </a:xfrm>
          <a:prstGeom prst="rect">
            <a:avLst/>
          </a:prstGeom>
          <a:noFill/>
          <a:ln/>
        </p:spPr>
        <p:txBody>
          <a:bodyPr wrap="square" lIns="0" tIns="0" rIns="0" bIns="0" rtlCol="0" anchor="ctr"/>
          <a:lstStyle/>
          <a:p>
            <a:pPr indent="0" marL="0">
              <a:buNone/>
            </a:pPr>
            <a:r>
              <a:rPr lang="en-US" sz="2800" dirty="0">
                <a:solidFill>
                  <a:srgbClr val="CBD3DD"/>
                </a:solidFill>
              </a:rPr>
              <a:t>Design Review: Railway Simulation</a:t>
            </a:r>
            <a:endParaRPr lang="en-US" sz="2800" dirty="0"/>
          </a:p>
        </p:txBody>
      </p:sp>
      <p:sp>
        <p:nvSpPr>
          <p:cNvPr id="7" name="Text 5"/>
          <p:cNvSpPr txBox="1"/>
          <p:nvPr/>
        </p:nvSpPr>
        <p:spPr>
          <a:xfrm>
            <a:off x="822960" y="5120640"/>
            <a:ext cx="10058400" cy="457200"/>
          </a:xfrm>
          <a:prstGeom prst="rect">
            <a:avLst/>
          </a:prstGeom>
          <a:noFill/>
          <a:ln/>
        </p:spPr>
        <p:txBody>
          <a:bodyPr wrap="square" lIns="0" tIns="0" rIns="0" bIns="0" rtlCol="0" anchor="ctr"/>
          <a:lstStyle/>
          <a:p>
            <a:pPr indent="0" marL="0">
              <a:buNone/>
            </a:pPr>
            <a:r>
              <a:rPr lang="en-US" sz="1800" dirty="0">
                <a:solidFill>
                  <a:srgbClr val="CBD3DD"/>
                </a:solidFill>
              </a:rPr>
              <a:t>[Your name]   |   [Group name]   |   ECE 1140</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What this review covers</a:t>
            </a:r>
            <a:endParaRPr lang="en-US" sz="3400" dirty="0"/>
          </a:p>
        </p:txBody>
      </p:sp>
      <p:sp>
        <p:nvSpPr>
          <p:cNvPr id="3" name="agenda card 1"/>
          <p:cNvSpPr/>
          <p:nvPr/>
        </p:nvSpPr>
        <p:spPr>
          <a:xfrm>
            <a:off x="548640" y="1554480"/>
            <a:ext cx="2103120" cy="2926080"/>
          </a:xfrm>
          <a:prstGeom prst="roundRect">
            <a:avLst>
              <a:gd name="adj" fmla="val 3478"/>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4" name="number 1"/>
          <p:cNvSpPr/>
          <p:nvPr/>
        </p:nvSpPr>
        <p:spPr>
          <a:xfrm>
            <a:off x="731520" y="173736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731520" y="2377440"/>
            <a:ext cx="1737360" cy="822960"/>
          </a:xfrm>
          <a:prstGeom prst="rect">
            <a:avLst/>
          </a:prstGeom>
          <a:noFill/>
          <a:ln/>
        </p:spPr>
        <p:txBody>
          <a:bodyPr wrap="square" lIns="0" tIns="0" rIns="0" bIns="0" rtlCol="0" anchor="t"/>
          <a:lstStyle/>
          <a:p>
            <a:pPr indent="0" marL="0">
              <a:buNone/>
            </a:pPr>
            <a:r>
              <a:rPr lang="en-US" sz="2000" b="1" dirty="0">
                <a:solidFill>
                  <a:schemeClr val="tx1"/>
                </a:solidFill>
              </a:rPr>
              <a:t>System architecture</a:t>
            </a:r>
            <a:endParaRPr lang="en-US" sz="2000" dirty="0"/>
          </a:p>
        </p:txBody>
      </p:sp>
      <p:sp>
        <p:nvSpPr>
          <p:cNvPr id="7" name="Text 5"/>
          <p:cNvSpPr txBox="1"/>
          <p:nvPr/>
        </p:nvSpPr>
        <p:spPr>
          <a:xfrm>
            <a:off x="731520" y="3200400"/>
            <a:ext cx="1737360" cy="1188720"/>
          </a:xfrm>
          <a:prstGeom prst="rect">
            <a:avLst/>
          </a:prstGeom>
          <a:noFill/>
          <a:ln/>
        </p:spPr>
        <p:txBody>
          <a:bodyPr wrap="square" lIns="0" tIns="0" rIns="0" bIns="0" rtlCol="0" anchor="t"/>
          <a:lstStyle/>
          <a:p>
            <a:pPr indent="0" marL="0">
              <a:buNone/>
            </a:pPr>
            <a:r>
              <a:rPr lang="en-US" sz="1500" dirty="0">
                <a:solidFill>
                  <a:schemeClr val="tx2"/>
                </a:solidFill>
              </a:rPr>
              <a:t>Modules, interfaces, route, authority, wayside, timing, vitality</a:t>
            </a:r>
            <a:endParaRPr lang="en-US" sz="1500" dirty="0"/>
          </a:p>
        </p:txBody>
      </p:sp>
      <p:sp>
        <p:nvSpPr>
          <p:cNvPr id="8" name="agenda card 2"/>
          <p:cNvSpPr/>
          <p:nvPr/>
        </p:nvSpPr>
        <p:spPr>
          <a:xfrm>
            <a:off x="2788920" y="1554480"/>
            <a:ext cx="2103120" cy="2926080"/>
          </a:xfrm>
          <a:prstGeom prst="roundRect">
            <a:avLst>
              <a:gd name="adj" fmla="val 3478"/>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9" name="number 2"/>
          <p:cNvSpPr/>
          <p:nvPr/>
        </p:nvSpPr>
        <p:spPr>
          <a:xfrm>
            <a:off x="2971800" y="173736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2971800" y="17373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2971800" y="2377440"/>
            <a:ext cx="1737360" cy="822960"/>
          </a:xfrm>
          <a:prstGeom prst="rect">
            <a:avLst/>
          </a:prstGeom>
          <a:noFill/>
          <a:ln/>
        </p:spPr>
        <p:txBody>
          <a:bodyPr wrap="square" lIns="0" tIns="0" rIns="0" bIns="0" rtlCol="0" anchor="t"/>
          <a:lstStyle/>
          <a:p>
            <a:pPr indent="0" marL="0">
              <a:buNone/>
            </a:pPr>
            <a:r>
              <a:rPr lang="en-US" sz="2000" b="1" dirty="0">
                <a:solidFill>
                  <a:schemeClr val="tx1"/>
                </a:solidFill>
              </a:rPr>
              <a:t>Software design</a:t>
            </a:r>
            <a:endParaRPr lang="en-US" sz="2000" dirty="0"/>
          </a:p>
        </p:txBody>
      </p:sp>
      <p:sp>
        <p:nvSpPr>
          <p:cNvPr id="12" name="Text 10"/>
          <p:cNvSpPr txBox="1"/>
          <p:nvPr/>
        </p:nvSpPr>
        <p:spPr>
          <a:xfrm>
            <a:off x="2971800" y="3200400"/>
            <a:ext cx="1737360" cy="1188720"/>
          </a:xfrm>
          <a:prstGeom prst="rect">
            <a:avLst/>
          </a:prstGeom>
          <a:noFill/>
          <a:ln/>
        </p:spPr>
        <p:txBody>
          <a:bodyPr wrap="square" lIns="0" tIns="0" rIns="0" bIns="0" rtlCol="0" anchor="t"/>
          <a:lstStyle/>
          <a:p>
            <a:pPr indent="0" marL="0">
              <a:buNone/>
            </a:pPr>
            <a:r>
              <a:rPr lang="en-US" sz="1500" dirty="0">
                <a:solidFill>
                  <a:schemeClr val="tx2"/>
                </a:solidFill>
              </a:rPr>
              <a:t>Architecture, boundary types and the interface contract</a:t>
            </a:r>
            <a:endParaRPr lang="en-US" sz="1500" dirty="0"/>
          </a:p>
        </p:txBody>
      </p:sp>
      <p:sp>
        <p:nvSpPr>
          <p:cNvPr id="13" name="agenda card 3"/>
          <p:cNvSpPr/>
          <p:nvPr/>
        </p:nvSpPr>
        <p:spPr>
          <a:xfrm>
            <a:off x="5029200" y="1554480"/>
            <a:ext cx="2103120" cy="2926080"/>
          </a:xfrm>
          <a:prstGeom prst="roundRect">
            <a:avLst>
              <a:gd name="adj" fmla="val 3478"/>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4" name="number 3"/>
          <p:cNvSpPr/>
          <p:nvPr/>
        </p:nvSpPr>
        <p:spPr>
          <a:xfrm>
            <a:off x="5212080" y="173736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5212080" y="17373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5212080" y="2377440"/>
            <a:ext cx="1737360" cy="822960"/>
          </a:xfrm>
          <a:prstGeom prst="rect">
            <a:avLst/>
          </a:prstGeom>
          <a:noFill/>
          <a:ln/>
        </p:spPr>
        <p:txBody>
          <a:bodyPr wrap="square" lIns="0" tIns="0" rIns="0" bIns="0" rtlCol="0" anchor="t"/>
          <a:lstStyle/>
          <a:p>
            <a:pPr indent="0" marL="0">
              <a:buNone/>
            </a:pPr>
            <a:r>
              <a:rPr lang="en-US" sz="2000" b="1" dirty="0">
                <a:solidFill>
                  <a:schemeClr val="tx1"/>
                </a:solidFill>
              </a:rPr>
              <a:t>Use cases and UI</a:t>
            </a:r>
            <a:endParaRPr lang="en-US" sz="2000" dirty="0"/>
          </a:p>
        </p:txBody>
      </p:sp>
      <p:sp>
        <p:nvSpPr>
          <p:cNvPr id="17" name="Text 15"/>
          <p:cNvSpPr txBox="1"/>
          <p:nvPr/>
        </p:nvSpPr>
        <p:spPr>
          <a:xfrm>
            <a:off x="5212080" y="3200400"/>
            <a:ext cx="1737360" cy="1188720"/>
          </a:xfrm>
          <a:prstGeom prst="rect">
            <a:avLst/>
          </a:prstGeom>
          <a:noFill/>
          <a:ln/>
        </p:spPr>
        <p:txBody>
          <a:bodyPr wrap="square" lIns="0" tIns="0" rIns="0" bIns="0" rtlCol="0" anchor="t"/>
          <a:lstStyle/>
          <a:p>
            <a:pPr indent="0" marL="0">
              <a:buNone/>
            </a:pPr>
            <a:r>
              <a:rPr lang="en-US" sz="1500" dirty="0">
                <a:solidFill>
                  <a:schemeClr val="tx2"/>
                </a:solidFill>
              </a:rPr>
              <a:t>Who uses the Track Model and for what</a:t>
            </a:r>
            <a:endParaRPr lang="en-US" sz="1500" dirty="0"/>
          </a:p>
        </p:txBody>
      </p:sp>
      <p:sp>
        <p:nvSpPr>
          <p:cNvPr id="18" name="agenda card 4"/>
          <p:cNvSpPr/>
          <p:nvPr/>
        </p:nvSpPr>
        <p:spPr>
          <a:xfrm>
            <a:off x="7269480" y="1554480"/>
            <a:ext cx="2103120" cy="2926080"/>
          </a:xfrm>
          <a:prstGeom prst="roundRect">
            <a:avLst>
              <a:gd name="adj" fmla="val 3478"/>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9" name="number 4"/>
          <p:cNvSpPr/>
          <p:nvPr/>
        </p:nvSpPr>
        <p:spPr>
          <a:xfrm>
            <a:off x="7452360" y="173736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7452360" y="17373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9"/>
          <p:cNvSpPr txBox="1"/>
          <p:nvPr/>
        </p:nvSpPr>
        <p:spPr>
          <a:xfrm>
            <a:off x="7452360" y="2377440"/>
            <a:ext cx="1737360" cy="822960"/>
          </a:xfrm>
          <a:prstGeom prst="rect">
            <a:avLst/>
          </a:prstGeom>
          <a:noFill/>
          <a:ln/>
        </p:spPr>
        <p:txBody>
          <a:bodyPr wrap="square" lIns="0" tIns="0" rIns="0" bIns="0" rtlCol="0" anchor="t"/>
          <a:lstStyle/>
          <a:p>
            <a:pPr indent="0" marL="0">
              <a:buNone/>
            </a:pPr>
            <a:r>
              <a:rPr lang="en-US" sz="2000" b="1" dirty="0">
                <a:solidFill>
                  <a:schemeClr val="tx1"/>
                </a:solidFill>
              </a:rPr>
              <a:t>Class and interactions</a:t>
            </a:r>
            <a:endParaRPr lang="en-US" sz="2000" dirty="0"/>
          </a:p>
        </p:txBody>
      </p:sp>
      <p:sp>
        <p:nvSpPr>
          <p:cNvPr id="22" name="Text 20"/>
          <p:cNvSpPr txBox="1"/>
          <p:nvPr/>
        </p:nvSpPr>
        <p:spPr>
          <a:xfrm>
            <a:off x="7452360" y="3200400"/>
            <a:ext cx="1737360" cy="1188720"/>
          </a:xfrm>
          <a:prstGeom prst="rect">
            <a:avLst/>
          </a:prstGeom>
          <a:noFill/>
          <a:ln/>
        </p:spPr>
        <p:txBody>
          <a:bodyPr wrap="square" lIns="0" tIns="0" rIns="0" bIns="0" rtlCol="0" anchor="t"/>
          <a:lstStyle/>
          <a:p>
            <a:pPr indent="0" marL="0">
              <a:buNone/>
            </a:pPr>
            <a:r>
              <a:rPr lang="en-US" sz="1500" dirty="0">
                <a:solidFill>
                  <a:schemeClr val="tx2"/>
                </a:solidFill>
              </a:rPr>
              <a:t>Class diagrams, sequence diagrams, block state</a:t>
            </a:r>
            <a:endParaRPr lang="en-US" sz="1500" dirty="0"/>
          </a:p>
        </p:txBody>
      </p:sp>
      <p:sp>
        <p:nvSpPr>
          <p:cNvPr id="23" name="agenda card 5"/>
          <p:cNvSpPr/>
          <p:nvPr/>
        </p:nvSpPr>
        <p:spPr>
          <a:xfrm>
            <a:off x="9509760" y="1554480"/>
            <a:ext cx="2103120" cy="2926080"/>
          </a:xfrm>
          <a:prstGeom prst="roundRect">
            <a:avLst>
              <a:gd name="adj" fmla="val 3478"/>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24" name="number 5"/>
          <p:cNvSpPr/>
          <p:nvPr/>
        </p:nvSpPr>
        <p:spPr>
          <a:xfrm>
            <a:off x="9692640" y="1737360"/>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9692640" y="17373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6" name="Text 24"/>
          <p:cNvSpPr txBox="1"/>
          <p:nvPr/>
        </p:nvSpPr>
        <p:spPr>
          <a:xfrm>
            <a:off x="9692640" y="2377440"/>
            <a:ext cx="1737360" cy="822960"/>
          </a:xfrm>
          <a:prstGeom prst="rect">
            <a:avLst/>
          </a:prstGeom>
          <a:noFill/>
          <a:ln/>
        </p:spPr>
        <p:txBody>
          <a:bodyPr wrap="square" lIns="0" tIns="0" rIns="0" bIns="0" rtlCol="0" anchor="t"/>
          <a:lstStyle/>
          <a:p>
            <a:pPr indent="0" marL="0">
              <a:buNone/>
            </a:pPr>
            <a:r>
              <a:rPr lang="en-US" sz="2000" b="1" dirty="0">
                <a:solidFill>
                  <a:schemeClr val="tx1"/>
                </a:solidFill>
              </a:rPr>
              <a:t>Deployment</a:t>
            </a:r>
            <a:endParaRPr lang="en-US" sz="2000" dirty="0"/>
          </a:p>
        </p:txBody>
      </p:sp>
      <p:sp>
        <p:nvSpPr>
          <p:cNvPr id="27" name="Text 25"/>
          <p:cNvSpPr txBox="1"/>
          <p:nvPr/>
        </p:nvSpPr>
        <p:spPr>
          <a:xfrm>
            <a:off x="9692640" y="3200400"/>
            <a:ext cx="1737360" cy="1188720"/>
          </a:xfrm>
          <a:prstGeom prst="rect">
            <a:avLst/>
          </a:prstGeom>
          <a:noFill/>
          <a:ln/>
        </p:spPr>
        <p:txBody>
          <a:bodyPr wrap="square" lIns="0" tIns="0" rIns="0" bIns="0" rtlCol="0" anchor="t"/>
          <a:lstStyle/>
          <a:p>
            <a:pPr indent="0" marL="0">
              <a:buNone/>
            </a:pPr>
            <a:r>
              <a:rPr lang="en-US" sz="1500" dirty="0">
                <a:solidFill>
                  <a:schemeClr val="tx2"/>
                </a:solidFill>
              </a:rPr>
              <a:t>How it runs, decisions and open items</a:t>
            </a:r>
            <a:endParaRPr lang="en-US" sz="1500" dirty="0"/>
          </a:p>
        </p:txBody>
      </p:sp>
      <p:sp>
        <p:nvSpPr>
          <p:cNvPr id="28" name="Text 26"/>
          <p:cNvSpPr txBox="1"/>
          <p:nvPr/>
        </p:nvSpPr>
        <p:spPr>
          <a:xfrm>
            <a:off x="548640" y="4846320"/>
            <a:ext cx="10972800" cy="457200"/>
          </a:xfrm>
          <a:prstGeom prst="rect">
            <a:avLst/>
          </a:prstGeom>
          <a:noFill/>
          <a:ln/>
        </p:spPr>
        <p:txBody>
          <a:bodyPr wrap="square" lIns="0" tIns="0" rIns="0" bIns="0" rtlCol="0" anchor="ctr"/>
          <a:lstStyle/>
          <a:p>
            <a:pPr indent="0" marL="0">
              <a:buNone/>
            </a:pPr>
            <a:r>
              <a:rPr lang="en-US" sz="1800" i="1" dirty="0">
                <a:solidFill>
                  <a:schemeClr val="tx2"/>
                </a:solidFill>
              </a:rPr>
              <a:t>The system-wide concepts apply to all five modules; the design from slide 9 on is the Track Model.</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System architecture</a:t>
            </a:r>
            <a:endParaRPr lang="en-US" sz="3400" dirty="0"/>
          </a:p>
        </p:txBody>
      </p:sp>
      <p:sp>
        <p:nvSpPr>
          <p:cNvPr id="3" name="System architecture diagram frame"/>
          <p:cNvSpPr/>
          <p:nvPr/>
        </p:nvSpPr>
        <p:spPr>
          <a:xfrm>
            <a:off x="475488" y="1161288"/>
            <a:ext cx="7278624" cy="4504179"/>
          </a:xfrm>
          <a:prstGeom prst="rect">
            <a:avLst/>
          </a:prstGeom>
          <a:solidFill>
            <a:srgbClr val="FFFFFF"/>
          </a:solidFill>
          <a:ln w="9525">
            <a:solidFill>
              <a:srgbClr val="D5DAE1"/>
            </a:solidFill>
            <a:prstDash val="solid"/>
          </a:ln>
        </p:spPr>
      </p:sp>
      <p:pic>
        <p:nvPicPr>
          <p:cNvPr id="4" name="System architecture diagram" descr="System architecture diagram">    </p:cNvPr>
          <p:cNvPicPr>
            <a:picLocks noChangeAspect="1"/>
          </p:cNvPicPr>
          <p:nvPr/>
        </p:nvPicPr>
        <p:blipFill>
          <a:blip r:embed="rId1"/>
          <a:stretch>
            <a:fillRect/>
          </a:stretch>
        </p:blipFill>
        <p:spPr>
          <a:xfrm>
            <a:off x="548640" y="1234440"/>
            <a:ext cx="7132320" cy="4357875"/>
          </a:xfrm>
          <a:prstGeom prst="rect">
            <a:avLst/>
          </a:prstGeom>
        </p:spPr>
      </p:pic>
      <p:sp>
        <p:nvSpPr>
          <p:cNvPr id="5" name="Text 2"/>
          <p:cNvSpPr txBox="1"/>
          <p:nvPr/>
        </p:nvSpPr>
        <p:spPr>
          <a:xfrm>
            <a:off x="8046720" y="1371600"/>
            <a:ext cx="3657600" cy="4572000"/>
          </a:xfrm>
          <a:prstGeom prst="rect">
            <a:avLst/>
          </a:prstGeom>
          <a:noFill/>
          <a:ln/>
        </p:spPr>
        <p:txBody>
          <a:bodyPr wrap="square" lIns="635" tIns="635" rIns="635" bIns="635" rtlCol="0" anchor="t"/>
          <a:lstStyle/>
          <a:p>
            <a:pPr marL="342900" indent="-342900">
              <a:spcAft>
                <a:spcPts val="800"/>
              </a:spcAft>
              <a:buSzPct val="100000"/>
              <a:buChar char="•"/>
            </a:pPr>
            <a:r>
              <a:rPr lang="en-US" sz="1600" b="1" dirty="0">
                <a:solidFill>
                  <a:schemeClr val="tx1"/>
                </a:solidFill>
              </a:rPr>
              <a:t>Between wayside and train: </a:t>
            </a:r>
            <a:pPr indent="0" marL="0">
              <a:spcAft>
                <a:spcPts val="800"/>
              </a:spcAft>
              <a:buNone/>
            </a:pPr>
            <a:r>
              <a:rPr lang="en-US" sz="1600" dirty="0">
                <a:solidFill>
                  <a:schemeClr val="tx1"/>
                </a:solidFill>
              </a:rPr>
              <a:t>the Track Model gets commands from the Track controller and feeds the Train model.</a:t>
            </a:r>
            <a:endParaRPr lang="en-US" sz="1600" dirty="0"/>
          </a:p>
          <a:p>
            <a:pPr marL="342900" indent="-342900">
              <a:spcAft>
                <a:spcPts val="800"/>
              </a:spcAft>
              <a:buSzPct val="100000"/>
              <a:buChar char="•"/>
            </a:pPr>
            <a:r>
              <a:rPr lang="en-US" sz="1600" b="1" dirty="0">
                <a:solidFill>
                  <a:schemeClr val="tx1"/>
                </a:solidFill>
              </a:rPr>
              <a:t>Direct to the Train controller: </a:t>
            </a:r>
            <a:pPr indent="0" marL="0">
              <a:spcAft>
                <a:spcPts val="800"/>
              </a:spcAft>
              <a:buNone/>
            </a:pPr>
            <a:r>
              <a:rPr lang="en-US" sz="1600" dirty="0">
                <a:solidFill>
                  <a:schemeClr val="tx1"/>
                </a:solidFill>
              </a:rPr>
              <a:t>the signal light the train saw on entering a block.</a:t>
            </a:r>
            <a:endParaRPr lang="en-US" sz="1600" dirty="0"/>
          </a:p>
          <a:p>
            <a:pPr marL="342900" indent="-342900">
              <a:spcAft>
                <a:spcPts val="800"/>
              </a:spcAft>
              <a:buSzPct val="100000"/>
              <a:buChar char="•"/>
            </a:pPr>
            <a:r>
              <a:rPr lang="en-US" sz="1600" b="1" dirty="0">
                <a:solidFill>
                  <a:schemeClr val="tx1"/>
                </a:solidFill>
              </a:rPr>
              <a:t>Direct to the CTC office: </a:t>
            </a:r>
            <a:pPr indent="0" marL="0">
              <a:spcAft>
                <a:spcPts val="800"/>
              </a:spcAft>
              <a:buNone/>
            </a:pPr>
            <a:r>
              <a:rPr lang="en-US" sz="1600" dirty="0">
                <a:solidFill>
                  <a:schemeClr val="tx1"/>
                </a:solidFill>
              </a:rPr>
              <a:t>tickets sold each tick.</a:t>
            </a:r>
            <a:endParaRPr lang="en-US" sz="1600" dirty="0"/>
          </a:p>
          <a:p>
            <a:pPr marL="342900" indent="-342900">
              <a:spcAft>
                <a:spcPts val="800"/>
              </a:spcAft>
              <a:buSzPct val="100000"/>
              <a:buChar char="•"/>
            </a:pPr>
            <a:r>
              <a:rPr lang="en-US" sz="1600" b="1" dirty="0">
                <a:solidFill>
                  <a:schemeClr val="tx1"/>
                </a:solidFill>
              </a:rPr>
              <a:t>Every connection </a:t>
            </a:r>
            <a:pPr indent="0" marL="0">
              <a:spcAft>
                <a:spcPts val="800"/>
              </a:spcAft>
              <a:buNone/>
            </a:pPr>
            <a:r>
              <a:rPr lang="en-US" sz="1600" dirty="0">
                <a:solidFill>
                  <a:schemeClr val="tx1"/>
                </a:solidFill>
              </a:rPr>
              <a:t>passes through the central harness.</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Track Model inputs and outputs</a:t>
            </a:r>
            <a:endParaRPr lang="en-US" sz="3400" dirty="0"/>
          </a:p>
        </p:txBody>
      </p:sp>
      <p:sp>
        <p:nvSpPr>
          <p:cNvPr id="3" name="Inputs card"/>
          <p:cNvSpPr/>
          <p:nvPr/>
        </p:nvSpPr>
        <p:spPr>
          <a:xfrm>
            <a:off x="548640" y="1280160"/>
            <a:ext cx="5486400" cy="4937760"/>
          </a:xfrm>
          <a:prstGeom prst="roundRect">
            <a:avLst>
              <a:gd name="adj" fmla="val 1481"/>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4" name="Inputs marker"/>
          <p:cNvSpPr/>
          <p:nvPr/>
        </p:nvSpPr>
        <p:spPr>
          <a:xfrm>
            <a:off x="777240" y="1481328"/>
            <a:ext cx="274320" cy="274320"/>
          </a:xfrm>
          <a:prstGeom prst="ellipse">
            <a:avLst/>
          </a:prstGeom>
          <a:solidFill>
            <a:schemeClr val="accent4"/>
          </a:solidFill>
          <a:ln w="12700">
            <a:solidFill>
              <a:schemeClr val="accent4"/>
            </a:solidFill>
            <a:prstDash val="solid"/>
          </a:ln>
        </p:spPr>
      </p:sp>
      <p:sp>
        <p:nvSpPr>
          <p:cNvPr id="5" name="Text 3"/>
          <p:cNvSpPr txBox="1"/>
          <p:nvPr/>
        </p:nvSpPr>
        <p:spPr>
          <a:xfrm>
            <a:off x="1188720" y="1417320"/>
            <a:ext cx="4114800" cy="411480"/>
          </a:xfrm>
          <a:prstGeom prst="rect">
            <a:avLst/>
          </a:prstGeom>
          <a:noFill/>
          <a:ln/>
        </p:spPr>
        <p:txBody>
          <a:bodyPr wrap="square" lIns="0" tIns="0" rIns="0" bIns="0" rtlCol="0" anchor="ctr"/>
          <a:lstStyle/>
          <a:p>
            <a:pPr indent="0" marL="0">
              <a:buNone/>
            </a:pPr>
            <a:r>
              <a:rPr lang="en-US" sz="2200" b="1" dirty="0">
                <a:solidFill>
                  <a:schemeClr val="tx1"/>
                </a:solidFill>
              </a:rPr>
              <a:t>Inputs</a:t>
            </a:r>
            <a:endParaRPr lang="en-US" sz="2200" dirty="0"/>
          </a:p>
        </p:txBody>
      </p:sp>
      <p:sp>
        <p:nvSpPr>
          <p:cNvPr id="6" name="Text 4"/>
          <p:cNvSpPr txBox="1"/>
          <p:nvPr/>
        </p:nvSpPr>
        <p:spPr>
          <a:xfrm>
            <a:off x="822960" y="2011680"/>
            <a:ext cx="4937760" cy="4023360"/>
          </a:xfrm>
          <a:prstGeom prst="rect">
            <a:avLst/>
          </a:prstGeom>
          <a:noFill/>
          <a:ln/>
        </p:spPr>
        <p:txBody>
          <a:bodyPr wrap="square" lIns="0" tIns="0" rIns="0" bIns="0" rtlCol="0" anchor="t"/>
          <a:lstStyle/>
          <a:p>
            <a:pPr indent="0" marL="0">
              <a:spcAft>
                <a:spcPts val="1200"/>
              </a:spcAft>
              <a:buNone/>
            </a:pPr>
            <a:r>
              <a:rPr lang="en-US" sz="1600" b="1" dirty="0">
                <a:solidFill>
                  <a:schemeClr val="tx1"/>
                </a:solidFill>
              </a:rPr>
              <a:t>Track controller: </a:t>
            </a:r>
            <a:pPr indent="0" marL="0">
              <a:spcAft>
                <a:spcPts val="1200"/>
              </a:spcAft>
              <a:buNone/>
            </a:pPr>
            <a:r>
              <a:rPr lang="en-US" sz="1600" dirty="0">
                <a:solidFill>
                  <a:schemeClr val="tx1"/>
                </a:solidFill>
              </a:rPr>
              <a:t>speed (whole m/s) and authority (blocks) per block; switch, signal and crossing commands</a:t>
            </a:r>
            <a:endParaRPr lang="en-US" sz="1600" dirty="0"/>
          </a:p>
          <a:p>
            <a:pPr indent="0" marL="0">
              <a:spcAft>
                <a:spcPts val="1200"/>
              </a:spcAft>
              <a:buNone/>
            </a:pPr>
            <a:r>
              <a:rPr lang="en-US" sz="1600" b="1" dirty="0">
                <a:solidFill>
                  <a:schemeClr val="tx1"/>
                </a:solidFill>
              </a:rPr>
              <a:t>Train model: </a:t>
            </a:r>
            <a:pPr indent="0" marL="0">
              <a:spcAft>
                <a:spcPts val="1200"/>
              </a:spcAft>
              <a:buNone/>
            </a:pPr>
            <a:r>
              <a:rPr lang="en-US" sz="1600" dirty="0">
                <a:solidFill>
                  <a:schemeClr val="tx1"/>
                </a:solidFill>
              </a:rPr>
              <a:t>block, offset, speed, doors and capacity for each train</a:t>
            </a:r>
            <a:endParaRPr lang="en-US" sz="1600" dirty="0"/>
          </a:p>
          <a:p>
            <a:pPr indent="0" marL="0">
              <a:spcAft>
                <a:spcPts val="1200"/>
              </a:spcAft>
              <a:buNone/>
            </a:pPr>
            <a:r>
              <a:rPr lang="en-US" sz="1600" b="1" dirty="0">
                <a:solidFill>
                  <a:schemeClr val="tx1"/>
                </a:solidFill>
              </a:rPr>
              <a:t>Murphy: </a:t>
            </a:r>
            <a:pPr indent="0" marL="0">
              <a:spcAft>
                <a:spcPts val="1200"/>
              </a:spcAft>
              <a:buNone/>
            </a:pPr>
            <a:r>
              <a:rPr lang="en-US" sz="1600" dirty="0">
                <a:solidFill>
                  <a:schemeClr val="tx1"/>
                </a:solidFill>
              </a:rPr>
              <a:t>failure on a block; ambient temperature</a:t>
            </a:r>
            <a:endParaRPr lang="en-US" sz="1600" dirty="0"/>
          </a:p>
          <a:p>
            <a:pPr indent="0" marL="0">
              <a:spcAft>
                <a:spcPts val="1200"/>
              </a:spcAft>
              <a:buNone/>
            </a:pPr>
            <a:r>
              <a:rPr lang="en-US" sz="1600" b="1" dirty="0">
                <a:solidFill>
                  <a:schemeClr val="tx1"/>
                </a:solidFill>
              </a:rPr>
              <a:t>Track Builder: </a:t>
            </a:r>
            <a:pPr indent="0" marL="0">
              <a:spcAft>
                <a:spcPts val="1200"/>
              </a:spcAft>
              <a:buNone/>
            </a:pPr>
            <a:r>
              <a:rPr lang="en-US" sz="1600" dirty="0">
                <a:solidFill>
                  <a:schemeClr val="tx1"/>
                </a:solidFill>
              </a:rPr>
              <a:t>layout file (JSON)</a:t>
            </a:r>
            <a:endParaRPr lang="en-US" sz="1600" dirty="0"/>
          </a:p>
          <a:p>
            <a:pPr indent="0" marL="0">
              <a:spcAft>
                <a:spcPts val="1200"/>
              </a:spcAft>
              <a:buNone/>
            </a:pPr>
            <a:r>
              <a:rPr lang="en-US" sz="1600" b="1" dirty="0">
                <a:solidFill>
                  <a:schemeClr val="tx1"/>
                </a:solidFill>
              </a:rPr>
              <a:t>Harness: </a:t>
            </a:r>
            <a:pPr indent="0" marL="0">
              <a:spcAft>
                <a:spcPts val="1200"/>
              </a:spcAft>
              <a:buNone/>
            </a:pPr>
            <a:r>
              <a:rPr lang="en-US" sz="1600" dirty="0">
                <a:solidFill>
                  <a:schemeClr val="tx1"/>
                </a:solidFill>
              </a:rPr>
              <a:t>a tick every 0.1 s</a:t>
            </a:r>
            <a:endParaRPr lang="en-US" sz="1600" dirty="0"/>
          </a:p>
        </p:txBody>
      </p:sp>
      <p:sp>
        <p:nvSpPr>
          <p:cNvPr id="7" name="Outputs card"/>
          <p:cNvSpPr/>
          <p:nvPr/>
        </p:nvSpPr>
        <p:spPr>
          <a:xfrm>
            <a:off x="6153912" y="1280160"/>
            <a:ext cx="5486400" cy="4937760"/>
          </a:xfrm>
          <a:prstGeom prst="roundRect">
            <a:avLst>
              <a:gd name="adj" fmla="val 1481"/>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8" name="Outputs marker"/>
          <p:cNvSpPr/>
          <p:nvPr/>
        </p:nvSpPr>
        <p:spPr>
          <a:xfrm>
            <a:off x="6382512" y="1481328"/>
            <a:ext cx="274320" cy="274320"/>
          </a:xfrm>
          <a:prstGeom prst="ellipse">
            <a:avLst/>
          </a:prstGeom>
          <a:solidFill>
            <a:schemeClr val="accent2"/>
          </a:solidFill>
          <a:ln w="12700">
            <a:solidFill>
              <a:schemeClr val="accent2"/>
            </a:solidFill>
            <a:prstDash val="solid"/>
          </a:ln>
        </p:spPr>
      </p:sp>
      <p:sp>
        <p:nvSpPr>
          <p:cNvPr id="9" name="Text 7"/>
          <p:cNvSpPr txBox="1"/>
          <p:nvPr/>
        </p:nvSpPr>
        <p:spPr>
          <a:xfrm>
            <a:off x="6793992" y="1417320"/>
            <a:ext cx="4114800" cy="411480"/>
          </a:xfrm>
          <a:prstGeom prst="rect">
            <a:avLst/>
          </a:prstGeom>
          <a:noFill/>
          <a:ln/>
        </p:spPr>
        <p:txBody>
          <a:bodyPr wrap="square" lIns="0" tIns="0" rIns="0" bIns="0" rtlCol="0" anchor="ctr"/>
          <a:lstStyle/>
          <a:p>
            <a:pPr indent="0" marL="0">
              <a:buNone/>
            </a:pPr>
            <a:r>
              <a:rPr lang="en-US" sz="2200" b="1" dirty="0">
                <a:solidFill>
                  <a:schemeClr val="tx1"/>
                </a:solidFill>
              </a:rPr>
              <a:t>Outputs</a:t>
            </a:r>
            <a:endParaRPr lang="en-US" sz="2200" dirty="0"/>
          </a:p>
        </p:txBody>
      </p:sp>
      <p:sp>
        <p:nvSpPr>
          <p:cNvPr id="10" name="Text 8"/>
          <p:cNvSpPr txBox="1"/>
          <p:nvPr/>
        </p:nvSpPr>
        <p:spPr>
          <a:xfrm>
            <a:off x="6428232" y="2011680"/>
            <a:ext cx="4937760" cy="4023360"/>
          </a:xfrm>
          <a:prstGeom prst="rect">
            <a:avLst/>
          </a:prstGeom>
          <a:noFill/>
          <a:ln/>
        </p:spPr>
        <p:txBody>
          <a:bodyPr wrap="square" lIns="0" tIns="0" rIns="0" bIns="0" rtlCol="0" anchor="t"/>
          <a:lstStyle/>
          <a:p>
            <a:pPr indent="0" marL="0">
              <a:spcAft>
                <a:spcPts val="1200"/>
              </a:spcAft>
              <a:buNone/>
            </a:pPr>
            <a:r>
              <a:rPr lang="en-US" sz="1600" b="1" dirty="0">
                <a:solidFill>
                  <a:schemeClr val="tx1"/>
                </a:solidFill>
              </a:rPr>
              <a:t>Track controller: </a:t>
            </a:r>
            <a:pPr indent="0" marL="0">
              <a:spcAft>
                <a:spcPts val="1200"/>
              </a:spcAft>
              <a:buNone/>
            </a:pPr>
            <a:r>
              <a:rPr lang="en-US" sz="1600" dirty="0">
                <a:solidFill>
                  <a:schemeClr val="tx1"/>
                </a:solidFill>
              </a:rPr>
              <a:t>occupancy; switch, signal and gate state; failures; heaters; track temperature</a:t>
            </a:r>
            <a:endParaRPr lang="en-US" sz="1600" dirty="0"/>
          </a:p>
          <a:p>
            <a:pPr indent="0" marL="0">
              <a:spcAft>
                <a:spcPts val="1200"/>
              </a:spcAft>
              <a:buNone/>
            </a:pPr>
            <a:r>
              <a:rPr lang="en-US" sz="1600" b="1" dirty="0">
                <a:solidFill>
                  <a:schemeClr val="tx1"/>
                </a:solidFill>
              </a:rPr>
              <a:t>Train model: </a:t>
            </a:r>
            <a:pPr indent="0" marL="0">
              <a:spcAft>
                <a:spcPts val="1200"/>
              </a:spcAft>
              <a:buNone/>
            </a:pPr>
            <a:r>
              <a:rPr lang="en-US" sz="1600" dirty="0">
                <a:solidFill>
                  <a:schemeClr val="tx1"/>
                </a:solidFill>
              </a:rPr>
              <a:t>track info, speed and authority of its block, beacon, passengers boarded</a:t>
            </a:r>
            <a:endParaRPr lang="en-US" sz="1600" dirty="0"/>
          </a:p>
          <a:p>
            <a:pPr indent="0" marL="0">
              <a:spcAft>
                <a:spcPts val="1200"/>
              </a:spcAft>
              <a:buNone/>
            </a:pPr>
            <a:r>
              <a:rPr lang="en-US" sz="1600" b="1" dirty="0">
                <a:solidFill>
                  <a:schemeClr val="tx1"/>
                </a:solidFill>
              </a:rPr>
              <a:t>Train controller: </a:t>
            </a:r>
            <a:pPr indent="0" marL="0">
              <a:spcAft>
                <a:spcPts val="1200"/>
              </a:spcAft>
              <a:buNone/>
            </a:pPr>
            <a:r>
              <a:rPr lang="en-US" sz="1600" dirty="0">
                <a:solidFill>
                  <a:schemeClr val="tx1"/>
                </a:solidFill>
              </a:rPr>
              <a:t>the signal light seen on entering a block (direct)</a:t>
            </a:r>
            <a:endParaRPr lang="en-US" sz="1600" dirty="0"/>
          </a:p>
          <a:p>
            <a:pPr indent="0" marL="0">
              <a:spcAft>
                <a:spcPts val="1200"/>
              </a:spcAft>
              <a:buNone/>
            </a:pPr>
            <a:r>
              <a:rPr lang="en-US" sz="1600" b="1" dirty="0">
                <a:solidFill>
                  <a:schemeClr val="tx1"/>
                </a:solidFill>
              </a:rPr>
              <a:t>CTC office: </a:t>
            </a:r>
            <a:pPr indent="0" marL="0">
              <a:spcAft>
                <a:spcPts val="1200"/>
              </a:spcAft>
              <a:buNone/>
            </a:pPr>
            <a:r>
              <a:rPr lang="en-US" sz="1600" dirty="0">
                <a:solidFill>
                  <a:schemeClr val="tx1"/>
                </a:solidFill>
              </a:rPr>
              <a:t>tickets sold this tick, by station (direct)</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Route: who owns what</a:t>
            </a:r>
            <a:endParaRPr lang="en-US" sz="3400" dirty="0"/>
          </a:p>
        </p:txBody>
      </p:sp>
      <p:sp>
        <p:nvSpPr>
          <p:cNvPr id="3" name="route card 1"/>
          <p:cNvSpPr/>
          <p:nvPr/>
        </p:nvSpPr>
        <p:spPr>
          <a:xfrm>
            <a:off x="548640" y="1463040"/>
            <a:ext cx="3566160" cy="3017520"/>
          </a:xfrm>
          <a:prstGeom prst="roundRect">
            <a:avLst>
              <a:gd name="adj" fmla="val 2424"/>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4" name="number 1"/>
          <p:cNvSpPr/>
          <p:nvPr/>
        </p:nvSpPr>
        <p:spPr>
          <a:xfrm>
            <a:off x="777240" y="1691640"/>
            <a:ext cx="502920" cy="502920"/>
          </a:xfrm>
          <a:prstGeom prst="ellipse">
            <a:avLst/>
          </a:prstGeom>
          <a:solidFill>
            <a:schemeClr val="accent4"/>
          </a:solidFill>
          <a:ln w="12700">
            <a:solidFill>
              <a:schemeClr val="accent4"/>
            </a:solidFill>
            <a:prstDash val="solid"/>
          </a:ln>
        </p:spPr>
      </p:sp>
      <p:sp>
        <p:nvSpPr>
          <p:cNvPr id="5" name="Text 3"/>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777240" y="2331720"/>
            <a:ext cx="3108960" cy="457200"/>
          </a:xfrm>
          <a:prstGeom prst="rect">
            <a:avLst/>
          </a:prstGeom>
          <a:noFill/>
          <a:ln/>
        </p:spPr>
        <p:txBody>
          <a:bodyPr wrap="square" lIns="0" tIns="0" rIns="0" bIns="0" rtlCol="0" anchor="ctr"/>
          <a:lstStyle/>
          <a:p>
            <a:pPr indent="0" marL="0">
              <a:buNone/>
            </a:pPr>
            <a:r>
              <a:rPr lang="en-US" sz="2200" b="1" dirty="0">
                <a:solidFill>
                  <a:schemeClr val="tx1"/>
                </a:solidFill>
              </a:rPr>
              <a:t>CTC office</a:t>
            </a:r>
            <a:endParaRPr lang="en-US" sz="2200" dirty="0"/>
          </a:p>
        </p:txBody>
      </p:sp>
      <p:sp>
        <p:nvSpPr>
          <p:cNvPr id="7" name="Text 5"/>
          <p:cNvSpPr txBox="1"/>
          <p:nvPr/>
        </p:nvSpPr>
        <p:spPr>
          <a:xfrm>
            <a:off x="777240" y="2834640"/>
            <a:ext cx="3108960" cy="1554480"/>
          </a:xfrm>
          <a:prstGeom prst="rect">
            <a:avLst/>
          </a:prstGeom>
          <a:noFill/>
          <a:ln/>
        </p:spPr>
        <p:txBody>
          <a:bodyPr wrap="square" lIns="0" tIns="0" rIns="0" bIns="0" rtlCol="0" anchor="t"/>
          <a:lstStyle/>
          <a:p>
            <a:pPr indent="0" marL="0">
              <a:buNone/>
            </a:pPr>
            <a:r>
              <a:rPr lang="en-US" sz="1600" dirty="0">
                <a:solidFill>
                  <a:schemeClr val="tx2"/>
                </a:solidFill>
              </a:rPr>
              <a:t>Owns the route. Releases a train at the yard, sends it station to station, and suggests speed and authority per block.</a:t>
            </a:r>
            <a:endParaRPr lang="en-US" sz="1600" dirty="0"/>
          </a:p>
        </p:txBody>
      </p:sp>
      <p:sp>
        <p:nvSpPr>
          <p:cNvPr id="8" name="route card 2"/>
          <p:cNvSpPr/>
          <p:nvPr/>
        </p:nvSpPr>
        <p:spPr>
          <a:xfrm>
            <a:off x="4297680" y="1463040"/>
            <a:ext cx="3566160" cy="3017520"/>
          </a:xfrm>
          <a:prstGeom prst="roundRect">
            <a:avLst>
              <a:gd name="adj" fmla="val 2424"/>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9" name="number 2"/>
          <p:cNvSpPr/>
          <p:nvPr/>
        </p:nvSpPr>
        <p:spPr>
          <a:xfrm>
            <a:off x="4526280" y="1691640"/>
            <a:ext cx="502920" cy="502920"/>
          </a:xfrm>
          <a:prstGeom prst="ellipse">
            <a:avLst/>
          </a:prstGeom>
          <a:solidFill>
            <a:schemeClr val="accent3"/>
          </a:solidFill>
          <a:ln w="12700">
            <a:solidFill>
              <a:schemeClr val="accent3"/>
            </a:solidFill>
            <a:prstDash val="solid"/>
          </a:ln>
        </p:spPr>
      </p:sp>
      <p:sp>
        <p:nvSpPr>
          <p:cNvPr id="10" name="Text 8"/>
          <p:cNvSpPr txBox="1"/>
          <p:nvPr/>
        </p:nvSpPr>
        <p:spPr>
          <a:xfrm>
            <a:off x="4526280" y="169164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4526280" y="2331720"/>
            <a:ext cx="3108960" cy="457200"/>
          </a:xfrm>
          <a:prstGeom prst="rect">
            <a:avLst/>
          </a:prstGeom>
          <a:noFill/>
          <a:ln/>
        </p:spPr>
        <p:txBody>
          <a:bodyPr wrap="square" lIns="0" tIns="0" rIns="0" bIns="0" rtlCol="0" anchor="ctr"/>
          <a:lstStyle/>
          <a:p>
            <a:pPr indent="0" marL="0">
              <a:buNone/>
            </a:pPr>
            <a:r>
              <a:rPr lang="en-US" sz="2200" b="1" dirty="0">
                <a:solidFill>
                  <a:schemeClr val="tx1"/>
                </a:solidFill>
              </a:rPr>
              <a:t>Track controller</a:t>
            </a:r>
            <a:endParaRPr lang="en-US" sz="2200" dirty="0"/>
          </a:p>
        </p:txBody>
      </p:sp>
      <p:sp>
        <p:nvSpPr>
          <p:cNvPr id="12" name="Text 10"/>
          <p:cNvSpPr txBox="1"/>
          <p:nvPr/>
        </p:nvSpPr>
        <p:spPr>
          <a:xfrm>
            <a:off x="4526280" y="2834640"/>
            <a:ext cx="3108960" cy="1554480"/>
          </a:xfrm>
          <a:prstGeom prst="rect">
            <a:avLst/>
          </a:prstGeom>
          <a:noFill/>
          <a:ln/>
        </p:spPr>
        <p:txBody>
          <a:bodyPr wrap="square" lIns="0" tIns="0" rIns="0" bIns="0" rtlCol="0" anchor="t"/>
          <a:lstStyle/>
          <a:p>
            <a:pPr indent="0" marL="0">
              <a:buNone/>
            </a:pPr>
            <a:r>
              <a:rPr lang="en-US" sz="1600" dirty="0">
                <a:solidFill>
                  <a:schemeClr val="tx2"/>
                </a:solidFill>
              </a:rPr>
              <a:t>Sets switches from its PLC program, which knows blocks, not trains. The CTC commands a switch only in maintenance.</a:t>
            </a:r>
            <a:endParaRPr lang="en-US" sz="1600" dirty="0"/>
          </a:p>
        </p:txBody>
      </p:sp>
      <p:sp>
        <p:nvSpPr>
          <p:cNvPr id="13" name="route card 3"/>
          <p:cNvSpPr/>
          <p:nvPr/>
        </p:nvSpPr>
        <p:spPr>
          <a:xfrm>
            <a:off x="8046720" y="1463040"/>
            <a:ext cx="3566160" cy="3017520"/>
          </a:xfrm>
          <a:prstGeom prst="roundRect">
            <a:avLst>
              <a:gd name="adj" fmla="val 2424"/>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4" name="number 3"/>
          <p:cNvSpPr/>
          <p:nvPr/>
        </p:nvSpPr>
        <p:spPr>
          <a:xfrm>
            <a:off x="8275320" y="169164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8275320" y="169164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8275320" y="2331720"/>
            <a:ext cx="3108960" cy="457200"/>
          </a:xfrm>
          <a:prstGeom prst="rect">
            <a:avLst/>
          </a:prstGeom>
          <a:noFill/>
          <a:ln/>
        </p:spPr>
        <p:txBody>
          <a:bodyPr wrap="square" lIns="0" tIns="0" rIns="0" bIns="0" rtlCol="0" anchor="ctr"/>
          <a:lstStyle/>
          <a:p>
            <a:pPr indent="0" marL="0">
              <a:buNone/>
            </a:pPr>
            <a:r>
              <a:rPr lang="en-US" sz="2200" b="1" dirty="0">
                <a:solidFill>
                  <a:schemeClr val="tx1"/>
                </a:solidFill>
              </a:rPr>
              <a:t>Track Model</a:t>
            </a:r>
            <a:endParaRPr lang="en-US" sz="2200" dirty="0"/>
          </a:p>
        </p:txBody>
      </p:sp>
      <p:sp>
        <p:nvSpPr>
          <p:cNvPr id="17" name="Text 15"/>
          <p:cNvSpPr txBox="1"/>
          <p:nvPr/>
        </p:nvSpPr>
        <p:spPr>
          <a:xfrm>
            <a:off x="8275320" y="2834640"/>
            <a:ext cx="3108960" cy="1554480"/>
          </a:xfrm>
          <a:prstGeom prst="rect">
            <a:avLst/>
          </a:prstGeom>
          <a:noFill/>
          <a:ln/>
        </p:spPr>
        <p:txBody>
          <a:bodyPr wrap="square" lIns="0" tIns="0" rIns="0" bIns="0" rtlCol="0" anchor="t"/>
          <a:lstStyle/>
          <a:p>
            <a:pPr indent="0" marL="0">
              <a:buNone/>
            </a:pPr>
            <a:r>
              <a:rPr lang="en-US" sz="1600" dirty="0">
                <a:solidFill>
                  <a:schemeClr val="tx2"/>
                </a:solidFill>
              </a:rPr>
              <a:t>Never routes. A train follows the rails as the switches lie. Direction of travel is `next_blocks` in the layout file.</a:t>
            </a:r>
            <a:endParaRPr lang="en-US" sz="1600" dirty="0"/>
          </a:p>
        </p:txBody>
      </p:sp>
      <p:sp>
        <p:nvSpPr>
          <p:cNvPr id="18" name="route callout"/>
          <p:cNvSpPr/>
          <p:nvPr/>
        </p:nvSpPr>
        <p:spPr>
          <a:xfrm>
            <a:off x="548640" y="4754880"/>
            <a:ext cx="11064240" cy="1280160"/>
          </a:xfrm>
          <a:prstGeom prst="roundRect">
            <a:avLst>
              <a:gd name="adj" fmla="val 5714"/>
            </a:avLst>
          </a:prstGeom>
          <a:solidFill>
            <a:srgbClr val="FFF6DB"/>
          </a:solidFill>
          <a:ln w="9525">
            <a:solidFill>
              <a:srgbClr val="F2D58A"/>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822960" y="4846320"/>
            <a:ext cx="10515600" cy="1097280"/>
          </a:xfrm>
          <a:prstGeom prst="rect">
            <a:avLst/>
          </a:prstGeom>
          <a:noFill/>
          <a:ln/>
        </p:spPr>
        <p:txBody>
          <a:bodyPr wrap="square" lIns="0" tIns="0" rIns="0" bIns="0" rtlCol="0" anchor="ctr"/>
          <a:lstStyle/>
          <a:p>
            <a:pPr indent="0" marL="0">
              <a:buNone/>
            </a:pPr>
            <a:r>
              <a:rPr lang="en-US" sz="2000" b="1" dirty="0">
                <a:solidFill>
                  <a:schemeClr val="tx1"/>
                </a:solidFill>
              </a:rPr>
              <a:t>If a switch is set wrong, </a:t>
            </a:r>
            <a:pPr indent="0" marL="0">
              <a:buNone/>
            </a:pPr>
            <a:r>
              <a:rPr lang="en-US" sz="2000" dirty="0">
                <a:solidFill>
                  <a:schemeClr val="tx1"/>
                </a:solidFill>
              </a:rPr>
              <a:t>the train still goes where the track leads, as on a real railway. The CTC computes authority through the switches as they lie.</a:t>
            </a:r>
            <a:endParaRPr lang="en-US" sz="2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Authority: a count of blocks</a:t>
            </a:r>
            <a:endParaRPr lang="en-US" sz="3400" dirty="0"/>
          </a:p>
        </p:txBody>
      </p:sp>
      <p:sp>
        <p:nvSpPr>
          <p:cNvPr id="3" name="authority step 1"/>
          <p:cNvSpPr/>
          <p:nvPr/>
        </p:nvSpPr>
        <p:spPr>
          <a:xfrm>
            <a:off x="548640" y="1463040"/>
            <a:ext cx="2606040" cy="2377440"/>
          </a:xfrm>
          <a:prstGeom prst="roundRect">
            <a:avLst>
              <a:gd name="adj" fmla="val 3077"/>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4" name="number 1"/>
          <p:cNvSpPr/>
          <p:nvPr/>
        </p:nvSpPr>
        <p:spPr>
          <a:xfrm>
            <a:off x="731520" y="164592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731520" y="164592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731520" y="2194560"/>
            <a:ext cx="2286000" cy="685800"/>
          </a:xfrm>
          <a:prstGeom prst="rect">
            <a:avLst/>
          </a:prstGeom>
          <a:noFill/>
          <a:ln/>
        </p:spPr>
        <p:txBody>
          <a:bodyPr wrap="square" lIns="0" tIns="0" rIns="0" bIns="0" rtlCol="0" anchor="t"/>
          <a:lstStyle/>
          <a:p>
            <a:pPr indent="0" marL="0">
              <a:buNone/>
            </a:pPr>
            <a:r>
              <a:rPr lang="en-US" sz="1800" b="1" dirty="0">
                <a:solidFill>
                  <a:schemeClr val="tx1"/>
                </a:solidFill>
              </a:rPr>
              <a:t>CTC computes</a:t>
            </a:r>
            <a:endParaRPr lang="en-US" sz="1800" dirty="0"/>
          </a:p>
        </p:txBody>
      </p:sp>
      <p:sp>
        <p:nvSpPr>
          <p:cNvPr id="7" name="Text 5"/>
          <p:cNvSpPr txBox="1"/>
          <p:nvPr/>
        </p:nvSpPr>
        <p:spPr>
          <a:xfrm>
            <a:off x="731520" y="2880360"/>
            <a:ext cx="2286000" cy="914400"/>
          </a:xfrm>
          <a:prstGeom prst="rect">
            <a:avLst/>
          </a:prstGeom>
          <a:noFill/>
          <a:ln/>
        </p:spPr>
        <p:txBody>
          <a:bodyPr wrap="square" lIns="0" tIns="0" rIns="0" bIns="0" rtlCol="0" anchor="t"/>
          <a:lstStyle/>
          <a:p>
            <a:pPr indent="0" marL="0">
              <a:buNone/>
            </a:pPr>
            <a:r>
              <a:rPr lang="en-US" sz="1400" dirty="0">
                <a:solidFill>
                  <a:schemeClr val="tx2"/>
                </a:solidFill>
              </a:rPr>
              <a:t>Along the route; never into an occupied, closed or failed block</a:t>
            </a:r>
            <a:endParaRPr lang="en-US" sz="1400" dirty="0"/>
          </a:p>
        </p:txBody>
      </p:sp>
      <p:sp>
        <p:nvSpPr>
          <p:cNvPr id="8" name="authority step 2"/>
          <p:cNvSpPr/>
          <p:nvPr/>
        </p:nvSpPr>
        <p:spPr>
          <a:xfrm>
            <a:off x="3383280" y="1463040"/>
            <a:ext cx="2606040" cy="2377440"/>
          </a:xfrm>
          <a:prstGeom prst="roundRect">
            <a:avLst>
              <a:gd name="adj" fmla="val 3077"/>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9" name="number 2"/>
          <p:cNvSpPr/>
          <p:nvPr/>
        </p:nvSpPr>
        <p:spPr>
          <a:xfrm>
            <a:off x="3566160" y="1645920"/>
            <a:ext cx="411480" cy="411480"/>
          </a:xfrm>
          <a:prstGeom prst="ellipse">
            <a:avLst/>
          </a:prstGeom>
          <a:solidFill>
            <a:schemeClr val="accent1"/>
          </a:solidFill>
          <a:ln w="12700">
            <a:solidFill>
              <a:schemeClr val="accent1"/>
            </a:solidFill>
            <a:prstDash val="solid"/>
          </a:ln>
        </p:spPr>
      </p:sp>
      <p:sp>
        <p:nvSpPr>
          <p:cNvPr id="10" name="Text 8"/>
          <p:cNvSpPr txBox="1"/>
          <p:nvPr/>
        </p:nvSpPr>
        <p:spPr>
          <a:xfrm>
            <a:off x="3566160" y="164592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3566160" y="2194560"/>
            <a:ext cx="2286000" cy="685800"/>
          </a:xfrm>
          <a:prstGeom prst="rect">
            <a:avLst/>
          </a:prstGeom>
          <a:noFill/>
          <a:ln/>
        </p:spPr>
        <p:txBody>
          <a:bodyPr wrap="square" lIns="0" tIns="0" rIns="0" bIns="0" rtlCol="0" anchor="t"/>
          <a:lstStyle/>
          <a:p>
            <a:pPr indent="0" marL="0">
              <a:buNone/>
            </a:pPr>
            <a:r>
              <a:rPr lang="en-US" sz="1800" b="1" dirty="0">
                <a:solidFill>
                  <a:schemeClr val="tx1"/>
                </a:solidFill>
              </a:rPr>
              <a:t>Wayside passes or withholds</a:t>
            </a:r>
            <a:endParaRPr lang="en-US" sz="1800" dirty="0"/>
          </a:p>
        </p:txBody>
      </p:sp>
      <p:sp>
        <p:nvSpPr>
          <p:cNvPr id="12" name="Text 10"/>
          <p:cNvSpPr txBox="1"/>
          <p:nvPr/>
        </p:nvSpPr>
        <p:spPr>
          <a:xfrm>
            <a:off x="3566160" y="2880360"/>
            <a:ext cx="2286000" cy="914400"/>
          </a:xfrm>
          <a:prstGeom prst="rect">
            <a:avLst/>
          </a:prstGeom>
          <a:noFill/>
          <a:ln/>
        </p:spPr>
        <p:txBody>
          <a:bodyPr wrap="square" lIns="0" tIns="0" rIns="0" bIns="0" rtlCol="0" anchor="t"/>
          <a:lstStyle/>
          <a:p>
            <a:pPr indent="0" marL="0">
              <a:buNone/>
            </a:pPr>
            <a:r>
              <a:rPr lang="en-US" sz="1400" dirty="0">
                <a:solidFill>
                  <a:schemeClr val="tx2"/>
                </a:solidFill>
              </a:rPr>
              <a:t>The PLC bit AUTH_n: send the count, or send 0 and speed 0</a:t>
            </a:r>
            <a:endParaRPr lang="en-US" sz="1400" dirty="0"/>
          </a:p>
        </p:txBody>
      </p:sp>
      <p:sp>
        <p:nvSpPr>
          <p:cNvPr id="13" name="authority step 3"/>
          <p:cNvSpPr/>
          <p:nvPr/>
        </p:nvSpPr>
        <p:spPr>
          <a:xfrm>
            <a:off x="6217920" y="1463040"/>
            <a:ext cx="2606040" cy="2377440"/>
          </a:xfrm>
          <a:prstGeom prst="roundRect">
            <a:avLst>
              <a:gd name="adj" fmla="val 3077"/>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4" name="number 3"/>
          <p:cNvSpPr/>
          <p:nvPr/>
        </p:nvSpPr>
        <p:spPr>
          <a:xfrm>
            <a:off x="6400800" y="1645920"/>
            <a:ext cx="411480" cy="411480"/>
          </a:xfrm>
          <a:prstGeom prst="ellipse">
            <a:avLst/>
          </a:prstGeom>
          <a:solidFill>
            <a:schemeClr val="accent1"/>
          </a:solidFill>
          <a:ln w="12700">
            <a:solidFill>
              <a:schemeClr val="accent1"/>
            </a:solidFill>
            <a:prstDash val="solid"/>
          </a:ln>
        </p:spPr>
      </p:sp>
      <p:sp>
        <p:nvSpPr>
          <p:cNvPr id="15" name="Text 13"/>
          <p:cNvSpPr txBox="1"/>
          <p:nvPr/>
        </p:nvSpPr>
        <p:spPr>
          <a:xfrm>
            <a:off x="6400800" y="164592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6400800" y="2194560"/>
            <a:ext cx="2286000" cy="685800"/>
          </a:xfrm>
          <a:prstGeom prst="rect">
            <a:avLst/>
          </a:prstGeom>
          <a:noFill/>
          <a:ln/>
        </p:spPr>
        <p:txBody>
          <a:bodyPr wrap="square" lIns="0" tIns="0" rIns="0" bIns="0" rtlCol="0" anchor="t"/>
          <a:lstStyle/>
          <a:p>
            <a:pPr indent="0" marL="0">
              <a:buNone/>
            </a:pPr>
            <a:r>
              <a:rPr lang="en-US" sz="1800" b="1" dirty="0">
                <a:solidFill>
                  <a:schemeClr val="tx1"/>
                </a:solidFill>
              </a:rPr>
              <a:t>Track Model delivers</a:t>
            </a:r>
            <a:endParaRPr lang="en-US" sz="1800" dirty="0"/>
          </a:p>
        </p:txBody>
      </p:sp>
      <p:sp>
        <p:nvSpPr>
          <p:cNvPr id="17" name="Text 15"/>
          <p:cNvSpPr txBox="1"/>
          <p:nvPr/>
        </p:nvSpPr>
        <p:spPr>
          <a:xfrm>
            <a:off x="6400800" y="2880360"/>
            <a:ext cx="2286000" cy="914400"/>
          </a:xfrm>
          <a:prstGeom prst="rect">
            <a:avLst/>
          </a:prstGeom>
          <a:noFill/>
          <a:ln/>
        </p:spPr>
        <p:txBody>
          <a:bodyPr wrap="square" lIns="0" tIns="0" rIns="0" bIns="0" rtlCol="0" anchor="t"/>
          <a:lstStyle/>
          <a:p>
            <a:pPr indent="0" marL="0">
              <a:buNone/>
            </a:pPr>
            <a:r>
              <a:rPr lang="en-US" sz="1400" dirty="0">
                <a:solidFill>
                  <a:schemeClr val="tx2"/>
                </a:solidFill>
              </a:rPr>
              <a:t>The signal of the block the train is in</a:t>
            </a:r>
            <a:endParaRPr lang="en-US" sz="1400" dirty="0"/>
          </a:p>
        </p:txBody>
      </p:sp>
      <p:sp>
        <p:nvSpPr>
          <p:cNvPr id="18" name="authority step 4"/>
          <p:cNvSpPr/>
          <p:nvPr/>
        </p:nvSpPr>
        <p:spPr>
          <a:xfrm>
            <a:off x="9052560" y="1463040"/>
            <a:ext cx="2606040" cy="2377440"/>
          </a:xfrm>
          <a:prstGeom prst="roundRect">
            <a:avLst>
              <a:gd name="adj" fmla="val 3077"/>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9" name="number 4"/>
          <p:cNvSpPr/>
          <p:nvPr/>
        </p:nvSpPr>
        <p:spPr>
          <a:xfrm>
            <a:off x="9235440" y="1645920"/>
            <a:ext cx="411480" cy="411480"/>
          </a:xfrm>
          <a:prstGeom prst="ellipse">
            <a:avLst/>
          </a:prstGeom>
          <a:solidFill>
            <a:schemeClr val="accent1"/>
          </a:solidFill>
          <a:ln w="12700">
            <a:solidFill>
              <a:schemeClr val="accent1"/>
            </a:solidFill>
            <a:prstDash val="solid"/>
          </a:ln>
        </p:spPr>
      </p:sp>
      <p:sp>
        <p:nvSpPr>
          <p:cNvPr id="20" name="Text 18"/>
          <p:cNvSpPr txBox="1"/>
          <p:nvPr/>
        </p:nvSpPr>
        <p:spPr>
          <a:xfrm>
            <a:off x="9235440" y="164592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9"/>
          <p:cNvSpPr txBox="1"/>
          <p:nvPr/>
        </p:nvSpPr>
        <p:spPr>
          <a:xfrm>
            <a:off x="9235440" y="2194560"/>
            <a:ext cx="2286000" cy="685800"/>
          </a:xfrm>
          <a:prstGeom prst="rect">
            <a:avLst/>
          </a:prstGeom>
          <a:noFill/>
          <a:ln/>
        </p:spPr>
        <p:txBody>
          <a:bodyPr wrap="square" lIns="0" tIns="0" rIns="0" bIns="0" rtlCol="0" anchor="t"/>
          <a:lstStyle/>
          <a:p>
            <a:pPr indent="0" marL="0">
              <a:buNone/>
            </a:pPr>
            <a:r>
              <a:rPr lang="en-US" sz="1800" b="1" dirty="0">
                <a:solidFill>
                  <a:schemeClr val="tx1"/>
                </a:solidFill>
              </a:rPr>
              <a:t>Train stops</a:t>
            </a:r>
            <a:endParaRPr lang="en-US" sz="1800" dirty="0"/>
          </a:p>
        </p:txBody>
      </p:sp>
      <p:sp>
        <p:nvSpPr>
          <p:cNvPr id="22" name="Text 20"/>
          <p:cNvSpPr txBox="1"/>
          <p:nvPr/>
        </p:nvSpPr>
        <p:spPr>
          <a:xfrm>
            <a:off x="9235440" y="2880360"/>
            <a:ext cx="2286000" cy="914400"/>
          </a:xfrm>
          <a:prstGeom prst="rect">
            <a:avLst/>
          </a:prstGeom>
          <a:noFill/>
          <a:ln/>
        </p:spPr>
        <p:txBody>
          <a:bodyPr wrap="square" lIns="0" tIns="0" rIns="0" bIns="0" rtlCol="0" anchor="t"/>
          <a:lstStyle/>
          <a:p>
            <a:pPr indent="0" marL="0">
              <a:buNone/>
            </a:pPr>
            <a:r>
              <a:rPr lang="en-US" sz="1400" dirty="0">
                <a:solidFill>
                  <a:schemeClr val="tx2"/>
                </a:solidFill>
              </a:rPr>
              <a:t>The Train controller brakes to stop inside it</a:t>
            </a:r>
            <a:endParaRPr lang="en-US" sz="1400" dirty="0"/>
          </a:p>
        </p:txBody>
      </p:sp>
      <p:sp>
        <p:nvSpPr>
          <p:cNvPr id="23" name="authority rule 1"/>
          <p:cNvSpPr/>
          <p:nvPr/>
        </p:nvSpPr>
        <p:spPr>
          <a:xfrm>
            <a:off x="548640" y="4114800"/>
            <a:ext cx="3566160" cy="2011680"/>
          </a:xfrm>
          <a:prstGeom prst="roundRect">
            <a:avLst>
              <a:gd name="adj" fmla="val 3636"/>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24" name="Text 22"/>
          <p:cNvSpPr txBox="1"/>
          <p:nvPr/>
        </p:nvSpPr>
        <p:spPr>
          <a:xfrm>
            <a:off x="777240" y="4251960"/>
            <a:ext cx="3108960" cy="457200"/>
          </a:xfrm>
          <a:prstGeom prst="rect">
            <a:avLst/>
          </a:prstGeom>
          <a:noFill/>
          <a:ln/>
        </p:spPr>
        <p:txBody>
          <a:bodyPr wrap="square" lIns="0" tIns="0" rIns="0" bIns="0" rtlCol="0" anchor="ctr"/>
          <a:lstStyle/>
          <a:p>
            <a:pPr indent="0" marL="0">
              <a:buNone/>
            </a:pPr>
            <a:r>
              <a:rPr lang="en-US" sz="2000" b="1" dirty="0">
                <a:solidFill>
                  <a:schemeClr val="tx1"/>
                </a:solidFill>
              </a:rPr>
              <a:t>Block count (D013)</a:t>
            </a:r>
            <a:endParaRPr lang="en-US" sz="2000" dirty="0"/>
          </a:p>
        </p:txBody>
      </p:sp>
      <p:sp>
        <p:nvSpPr>
          <p:cNvPr id="25" name="Text 23"/>
          <p:cNvSpPr txBox="1"/>
          <p:nvPr/>
        </p:nvSpPr>
        <p:spPr>
          <a:xfrm>
            <a:off x="777240" y="4754880"/>
            <a:ext cx="3108960" cy="1280160"/>
          </a:xfrm>
          <a:prstGeom prst="rect">
            <a:avLst/>
          </a:prstGeom>
          <a:noFill/>
          <a:ln/>
        </p:spPr>
        <p:txBody>
          <a:bodyPr wrap="square" lIns="0" tIns="0" rIns="0" bIns="0" rtlCol="0" anchor="t"/>
          <a:lstStyle/>
          <a:p>
            <a:pPr indent="0" marL="0">
              <a:buNone/>
            </a:pPr>
            <a:r>
              <a:rPr lang="en-US" sz="1500" dirty="0">
                <a:solidFill>
                  <a:schemeClr val="tx2"/>
                </a:solidFill>
              </a:rPr>
              <a:t>Blocks ahead of the current one. The current block is not counted. 0 means stop before leaving it.</a:t>
            </a:r>
            <a:endParaRPr lang="en-US" sz="1500" dirty="0"/>
          </a:p>
        </p:txBody>
      </p:sp>
      <p:sp>
        <p:nvSpPr>
          <p:cNvPr id="26" name="authority rule 2"/>
          <p:cNvSpPr/>
          <p:nvPr/>
        </p:nvSpPr>
        <p:spPr>
          <a:xfrm>
            <a:off x="4297680" y="4114800"/>
            <a:ext cx="3566160" cy="2011680"/>
          </a:xfrm>
          <a:prstGeom prst="roundRect">
            <a:avLst>
              <a:gd name="adj" fmla="val 3636"/>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27" name="Text 25"/>
          <p:cNvSpPr txBox="1"/>
          <p:nvPr/>
        </p:nvSpPr>
        <p:spPr>
          <a:xfrm>
            <a:off x="4526280" y="4251960"/>
            <a:ext cx="3108960" cy="457200"/>
          </a:xfrm>
          <a:prstGeom prst="rect">
            <a:avLst/>
          </a:prstGeom>
          <a:noFill/>
          <a:ln/>
        </p:spPr>
        <p:txBody>
          <a:bodyPr wrap="square" lIns="0" tIns="0" rIns="0" bIns="0" rtlCol="0" anchor="ctr"/>
          <a:lstStyle/>
          <a:p>
            <a:pPr indent="0" marL="0">
              <a:buNone/>
            </a:pPr>
            <a:r>
              <a:rPr lang="en-US" sz="2000" b="1" dirty="0">
                <a:solidFill>
                  <a:schemeClr val="tx1"/>
                </a:solidFill>
              </a:rPr>
              <a:t>Per block, not per train</a:t>
            </a:r>
            <a:endParaRPr lang="en-US" sz="2000" dirty="0"/>
          </a:p>
        </p:txBody>
      </p:sp>
      <p:sp>
        <p:nvSpPr>
          <p:cNvPr id="28" name="Text 26"/>
          <p:cNvSpPr txBox="1"/>
          <p:nvPr/>
        </p:nvSpPr>
        <p:spPr>
          <a:xfrm>
            <a:off x="4526280" y="4754880"/>
            <a:ext cx="3108960" cy="1280160"/>
          </a:xfrm>
          <a:prstGeom prst="rect">
            <a:avLst/>
          </a:prstGeom>
          <a:noFill/>
          <a:ln/>
        </p:spPr>
        <p:txBody>
          <a:bodyPr wrap="square" lIns="0" tIns="0" rIns="0" bIns="0" rtlCol="0" anchor="t"/>
          <a:lstStyle/>
          <a:p>
            <a:pPr indent="0" marL="0">
              <a:buNone/>
            </a:pPr>
            <a:r>
              <a:rPr lang="en-US" sz="1500" dirty="0">
                <a:solidFill>
                  <a:schemeClr val="tx2"/>
                </a:solidFill>
              </a:rPr>
              <a:t>Like the signal on the rails, a block carries one speed and one authority.</a:t>
            </a:r>
            <a:endParaRPr lang="en-US" sz="1500" dirty="0"/>
          </a:p>
        </p:txBody>
      </p:sp>
      <p:sp>
        <p:nvSpPr>
          <p:cNvPr id="29" name="authority rule 3"/>
          <p:cNvSpPr/>
          <p:nvPr/>
        </p:nvSpPr>
        <p:spPr>
          <a:xfrm>
            <a:off x="8046720" y="4114800"/>
            <a:ext cx="3566160" cy="2011680"/>
          </a:xfrm>
          <a:prstGeom prst="roundRect">
            <a:avLst>
              <a:gd name="adj" fmla="val 3636"/>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30" name="Text 28"/>
          <p:cNvSpPr txBox="1"/>
          <p:nvPr/>
        </p:nvSpPr>
        <p:spPr>
          <a:xfrm>
            <a:off x="8275320" y="4251960"/>
            <a:ext cx="3108960" cy="457200"/>
          </a:xfrm>
          <a:prstGeom prst="rect">
            <a:avLst/>
          </a:prstGeom>
          <a:noFill/>
          <a:ln/>
        </p:spPr>
        <p:txBody>
          <a:bodyPr wrap="square" lIns="0" tIns="0" rIns="0" bIns="0" rtlCol="0" anchor="ctr"/>
          <a:lstStyle/>
          <a:p>
            <a:pPr indent="0" marL="0">
              <a:buNone/>
            </a:pPr>
            <a:r>
              <a:rPr lang="en-US" sz="2000" b="1" dirty="0">
                <a:solidFill>
                  <a:schemeClr val="tx1"/>
                </a:solidFill>
              </a:rPr>
              <a:t>Fail-safe</a:t>
            </a:r>
            <a:endParaRPr lang="en-US" sz="2000" dirty="0"/>
          </a:p>
        </p:txBody>
      </p:sp>
      <p:sp>
        <p:nvSpPr>
          <p:cNvPr id="31" name="Text 29"/>
          <p:cNvSpPr txBox="1"/>
          <p:nvPr/>
        </p:nvSpPr>
        <p:spPr>
          <a:xfrm>
            <a:off x="8275320" y="4754880"/>
            <a:ext cx="3108960" cy="1280160"/>
          </a:xfrm>
          <a:prstGeom prst="rect">
            <a:avLst/>
          </a:prstGeom>
          <a:noFill/>
          <a:ln/>
        </p:spPr>
        <p:txBody>
          <a:bodyPr wrap="square" lIns="0" tIns="0" rIns="0" bIns="0" rtlCol="0" anchor="t"/>
          <a:lstStyle/>
          <a:p>
            <a:pPr indent="0" marL="0">
              <a:buNone/>
            </a:pPr>
            <a:r>
              <a:rPr lang="en-US" sz="1500" dirty="0">
                <a:solidFill>
                  <a:schemeClr val="tx2"/>
                </a:solidFill>
              </a:rPr>
              <a:t>A failed circuit, or a block never commanded, carries speed 0 and authority 0.</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Wayside controllers and their language</a:t>
            </a:r>
            <a:endParaRPr lang="en-US" sz="3400" dirty="0"/>
          </a:p>
        </p:txBody>
      </p:sp>
      <p:sp>
        <p:nvSpPr>
          <p:cNvPr id="3" name="Text 1"/>
          <p:cNvSpPr txBox="1"/>
          <p:nvPr/>
        </p:nvSpPr>
        <p:spPr>
          <a:xfrm>
            <a:off x="548640" y="1280160"/>
            <a:ext cx="5669280" cy="365760"/>
          </a:xfrm>
          <a:prstGeom prst="rect">
            <a:avLst/>
          </a:prstGeom>
          <a:noFill/>
          <a:ln/>
        </p:spPr>
        <p:txBody>
          <a:bodyPr wrap="square" lIns="0" tIns="0" rIns="0" bIns="0" rtlCol="0" anchor="ctr"/>
          <a:lstStyle/>
          <a:p>
            <a:pPr indent="0" marL="0">
              <a:buNone/>
            </a:pPr>
            <a:r>
              <a:rPr lang="en-US" sz="1800" b="1" dirty="0">
                <a:solidFill>
                  <a:schemeClr val="tx1"/>
                </a:solidFill>
              </a:rPr>
              <a:t>Distribution</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669280" cy="914400"/>
        </p:xfrm>
        <a:graphic>
          <a:graphicData uri="http://schemas.openxmlformats.org/drawingml/2006/table">
            <a:tbl>
              <a:tblPr/>
              <a:tblGrid>
                <a:gridCol w="822960"/>
                <a:gridCol w="1097280"/>
                <a:gridCol w="1463040"/>
                <a:gridCol w="2286000"/>
              </a:tblGrid>
              <a:tr h="548640">
                <a:tc>
                  <a:txBody>
                    <a:bodyPr/>
                    <a:lstStyle/>
                    <a:p>
                      <a:pPr indent="0" marL="0">
                        <a:buNone/>
                      </a:pPr>
                      <a:r>
                        <a:rPr lang="en-US" sz="1400" b="1" dirty="0">
                          <a:solidFill>
                            <a:srgbClr val="FFFFFF"/>
                          </a:solidFill>
                        </a:rPr>
                        <a:t>Line</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400" b="1" dirty="0">
                          <a:solidFill>
                            <a:srgbClr val="FFFFFF"/>
                          </a:solidFill>
                        </a:rPr>
                        <a:t>Variant</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400" b="1" dirty="0">
                          <a:solidFill>
                            <a:srgbClr val="FFFFFF"/>
                          </a:solidFill>
                        </a:rPr>
                        <a:t>Runs on</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400" b="1" dirty="0">
                          <a:solidFill>
                            <a:srgbClr val="FFFFFF"/>
                          </a:solidFill>
                        </a:rPr>
                        <a:t>Waysides</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548640">
                <a:tc>
                  <a:txBody>
                    <a:bodyPr/>
                    <a:lstStyle/>
                    <a:p>
                      <a:pPr indent="0" marL="0">
                        <a:buNone/>
                      </a:pPr>
                      <a:r>
                        <a:rPr lang="en-US" sz="1400" dirty="0">
                          <a:solidFill>
                            <a:srgbClr val="1B2A3A"/>
                          </a:solidFill>
                        </a:rPr>
                        <a:t>Green</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3A"/>
                          </a:solidFill>
                        </a:rPr>
                        <a:t>Software</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3A"/>
                          </a:solidFill>
                        </a:rPr>
                        <a:t>Host PC</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3A"/>
                          </a:solidFill>
                        </a:rPr>
                        <a:t>6 by default, at least 2</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48640">
                <a:tc>
                  <a:txBody>
                    <a:bodyPr/>
                    <a:lstStyle/>
                    <a:p>
                      <a:pPr indent="0" marL="0">
                        <a:buNone/>
                      </a:pPr>
                      <a:r>
                        <a:rPr lang="en-US" sz="1400" dirty="0">
                          <a:solidFill>
                            <a:srgbClr val="1B2A3A"/>
                          </a:solidFill>
                        </a:rPr>
                        <a:t>Red</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3A"/>
                          </a:solidFill>
                        </a:rPr>
                        <a:t>Hardware</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3A"/>
                          </a:solidFill>
                        </a:rPr>
                        <a:t>One Raspberry Pi</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3A"/>
                          </a:solidFill>
                        </a:rPr>
                        <a:t>One per database; boundaries to choose</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5" name="Text 2"/>
          <p:cNvSpPr txBox="1"/>
          <p:nvPr/>
        </p:nvSpPr>
        <p:spPr>
          <a:xfrm>
            <a:off x="548640" y="3749040"/>
            <a:ext cx="5669280" cy="24688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A wayside owns a contiguous run of blocks, with their switches, signals and crossings.</a:t>
            </a:r>
            <a:endParaRPr lang="en-US" sz="1500" dirty="0"/>
          </a:p>
          <a:p>
            <a:pPr marL="342900" indent="-342900">
              <a:spcAft>
                <a:spcPts val="800"/>
              </a:spcAft>
              <a:buSzPct val="100000"/>
              <a:buChar char="•"/>
            </a:pPr>
            <a:r>
              <a:rPr lang="en-US" sz="1500" dirty="0">
                <a:solidFill>
                  <a:schemeClr val="tx1"/>
                </a:solidFill>
              </a:rPr>
              <a:t>A line runs only when every wayside on it is ready.</a:t>
            </a:r>
            <a:endParaRPr lang="en-US" sz="1500" dirty="0"/>
          </a:p>
          <a:p>
            <a:pPr marL="342900" indent="-342900">
              <a:spcAft>
                <a:spcPts val="800"/>
              </a:spcAft>
              <a:buSzPct val="100000"/>
              <a:buChar char="•"/>
            </a:pPr>
            <a:r>
              <a:rPr lang="en-US" sz="1500" dirty="0">
                <a:solidFill>
                  <a:schemeClr val="tx1"/>
                </a:solidFill>
              </a:rPr>
              <a:t>The Track Model keys everything by block, so the split does not touch it.</a:t>
            </a:r>
            <a:endParaRPr lang="en-US" sz="1500" dirty="0"/>
          </a:p>
        </p:txBody>
      </p:sp>
      <p:sp>
        <p:nvSpPr>
          <p:cNvPr id="6" name="PLC card"/>
          <p:cNvSpPr/>
          <p:nvPr/>
        </p:nvSpPr>
        <p:spPr>
          <a:xfrm>
            <a:off x="6583680" y="1280160"/>
            <a:ext cx="5029200" cy="4937760"/>
          </a:xfrm>
          <a:prstGeom prst="roundRect">
            <a:avLst>
              <a:gd name="adj" fmla="val 1481"/>
            </a:avLst>
          </a:prstGeom>
          <a:solidFill>
            <a:srgbClr val="1B2A3A"/>
          </a:solidFill>
          <a:ln w="9525">
            <a:solidFill>
              <a:srgbClr val="1B2A3A"/>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0" y="1417320"/>
            <a:ext cx="4572000" cy="411480"/>
          </a:xfrm>
          <a:prstGeom prst="rect">
            <a:avLst/>
          </a:prstGeom>
          <a:noFill/>
          <a:ln/>
        </p:spPr>
        <p:txBody>
          <a:bodyPr wrap="square" lIns="0" tIns="0" rIns="0" bIns="0" rtlCol="0" anchor="ctr"/>
          <a:lstStyle/>
          <a:p>
            <a:pPr indent="0" marL="0">
              <a:buNone/>
            </a:pPr>
            <a:r>
              <a:rPr lang="en-US" sz="1800" b="1" dirty="0">
                <a:solidFill>
                  <a:schemeClr val="bg1"/>
                </a:solidFill>
              </a:rPr>
              <a:t>PLC program (Boolean only)</a:t>
            </a:r>
            <a:endParaRPr lang="en-US" sz="1800" dirty="0"/>
          </a:p>
        </p:txBody>
      </p:sp>
      <p:sp>
        <p:nvSpPr>
          <p:cNvPr id="8" name="Text 5"/>
          <p:cNvSpPr txBox="1"/>
          <p:nvPr/>
        </p:nvSpPr>
        <p:spPr>
          <a:xfrm>
            <a:off x="6858000" y="2011680"/>
            <a:ext cx="4572000" cy="1737360"/>
          </a:xfrm>
          <a:prstGeom prst="rect">
            <a:avLst/>
          </a:prstGeom>
          <a:noFill/>
          <a:ln/>
        </p:spPr>
        <p:txBody>
          <a:bodyPr wrap="square" lIns="0" tIns="0" rIns="0" bIns="0" rtlCol="0" anchor="t"/>
          <a:lstStyle/>
          <a:p>
            <a:pPr indent="0" marL="0">
              <a:buNone/>
            </a:pPr>
            <a:r>
              <a:rPr lang="en-US" sz="1400" dirty="0">
                <a:solidFill>
                  <a:srgbClr val="F2D58A"/>
                </a:solidFill>
                <a:latin typeface="Courier New" pitchFamily="34" charset="0"/>
                <a:ea typeface="Courier New" pitchFamily="34" charset="-122"/>
                <a:cs typeface="Courier New" pitchFamily="34" charset="-120"/>
              </a:rPr>
              <a:t>VAR_IN   OCC_12 .. OCC_38</a:t>
            </a:r>
            <a:endParaRPr lang="en-US" sz="1400" dirty="0"/>
          </a:p>
          <a:p>
            <a:pPr indent="0" marL="0">
              <a:buNone/>
            </a:pPr>
            <a:r>
              <a:rPr lang="en-US" sz="1400" dirty="0">
                <a:solidFill>
                  <a:srgbClr val="F2D58A"/>
                </a:solidFill>
                <a:latin typeface="Courier New" pitchFamily="34" charset="0"/>
                <a:ea typeface="Courier New" pitchFamily="34" charset="-122"/>
                <a:cs typeface="Courier New" pitchFamily="34" charset="-120"/>
              </a:rPr>
              <a:t>VAR_OUT  AUTH_12..38 SW_12</a:t>
            </a:r>
            <a:endParaRPr lang="en-US" sz="1400" dirty="0"/>
          </a:p>
          <a:p>
            <a:pPr indent="0" marL="0">
              <a:buNone/>
            </a:pPr>
            <a:endParaRPr lang="en-US" sz="1400" dirty="0"/>
          </a:p>
          <a:p>
            <a:pPr indent="0" marL="0">
              <a:buNone/>
            </a:pPr>
            <a:r>
              <a:rPr lang="en-US" sz="1400" dirty="0">
                <a:solidFill>
                  <a:srgbClr val="F2D58A"/>
                </a:solidFill>
                <a:latin typeface="Courier New" pitchFamily="34" charset="0"/>
                <a:ea typeface="Courier New" pitchFamily="34" charset="-122"/>
                <a:cs typeface="Courier New" pitchFamily="34" charset="-120"/>
              </a:rPr>
              <a:t>AHEAD   := OCC_13 OR OCC_14</a:t>
            </a:r>
            <a:endParaRPr lang="en-US" sz="1400" dirty="0"/>
          </a:p>
          <a:p>
            <a:pPr indent="0" marL="0">
              <a:buNone/>
            </a:pPr>
            <a:r>
              <a:rPr lang="en-US" sz="1400" dirty="0">
                <a:solidFill>
                  <a:srgbClr val="F2D58A"/>
                </a:solidFill>
                <a:latin typeface="Courier New" pitchFamily="34" charset="0"/>
                <a:ea typeface="Courier New" pitchFamily="34" charset="-122"/>
                <a:cs typeface="Courier New" pitchFamily="34" charset="-120"/>
              </a:rPr>
              <a:t>AUTH_20 := NOT (OCC_19 OR OCC_21)</a:t>
            </a:r>
            <a:endParaRPr lang="en-US" sz="1400" dirty="0"/>
          </a:p>
        </p:txBody>
      </p:sp>
      <p:sp>
        <p:nvSpPr>
          <p:cNvPr id="9" name="Text 6"/>
          <p:cNvSpPr txBox="1"/>
          <p:nvPr/>
        </p:nvSpPr>
        <p:spPr>
          <a:xfrm>
            <a:off x="6858000" y="3931920"/>
            <a:ext cx="4572000" cy="2103120"/>
          </a:xfrm>
          <a:prstGeom prst="rect">
            <a:avLst/>
          </a:prstGeom>
          <a:noFill/>
          <a:ln/>
        </p:spPr>
        <p:txBody>
          <a:bodyPr wrap="square" lIns="0" tIns="0" rIns="0" bIns="0" rtlCol="0" anchor="t"/>
          <a:lstStyle/>
          <a:p>
            <a:pPr indent="0" marL="0">
              <a:spcAft>
                <a:spcPts val="800"/>
              </a:spcAft>
              <a:buNone/>
            </a:pPr>
            <a:r>
              <a:rPr lang="en-US" sz="1500" dirty="0">
                <a:solidFill>
                  <a:srgbClr val="E6EAF0"/>
                </a:solidFill>
              </a:rPr>
              <a:t>AND, OR, XOR, NOT. No loops, no numbers, so a scan always ends.</a:t>
            </a:r>
            <a:endParaRPr lang="en-US" sz="1500" dirty="0"/>
          </a:p>
          <a:p>
            <a:pPr indent="0" marL="0">
              <a:spcAft>
                <a:spcPts val="800"/>
              </a:spcAft>
              <a:buNone/>
            </a:pPr>
            <a:r>
              <a:rPr lang="en-US" sz="1500" dirty="0">
                <a:solidFill>
                  <a:srgbClr val="E6EAF0"/>
                </a:solidFill>
              </a:rPr>
              <a:t>One scan per tick. The two controller variants still use different names (D016 pending).</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Timing and vitality</a:t>
            </a:r>
            <a:endParaRPr lang="en-US" sz="3400" dirty="0"/>
          </a:p>
        </p:txBody>
      </p:sp>
      <p:sp>
        <p:nvSpPr>
          <p:cNvPr id="3" name="Timing card"/>
          <p:cNvSpPr/>
          <p:nvPr/>
        </p:nvSpPr>
        <p:spPr>
          <a:xfrm>
            <a:off x="548640" y="1280160"/>
            <a:ext cx="5394960" cy="4937760"/>
          </a:xfrm>
          <a:prstGeom prst="roundRect">
            <a:avLst>
              <a:gd name="adj" fmla="val 1481"/>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417320"/>
            <a:ext cx="4754880" cy="457200"/>
          </a:xfrm>
          <a:prstGeom prst="rect">
            <a:avLst/>
          </a:prstGeom>
          <a:noFill/>
          <a:ln/>
        </p:spPr>
        <p:txBody>
          <a:bodyPr wrap="square" lIns="0" tIns="0" rIns="0" bIns="0" rtlCol="0" anchor="ctr"/>
          <a:lstStyle/>
          <a:p>
            <a:pPr indent="0" marL="0">
              <a:buNone/>
            </a:pPr>
            <a:r>
              <a:rPr lang="en-US" sz="2400" b="1" dirty="0">
                <a:solidFill>
                  <a:schemeClr val="tx1"/>
                </a:solidFill>
              </a:rPr>
              <a:t>Timing</a:t>
            </a:r>
            <a:endParaRPr lang="en-US" sz="2400" dirty="0"/>
          </a:p>
        </p:txBody>
      </p:sp>
      <p:sp>
        <p:nvSpPr>
          <p:cNvPr id="5" name="Text 3"/>
          <p:cNvSpPr txBox="1"/>
          <p:nvPr/>
        </p:nvSpPr>
        <p:spPr>
          <a:xfrm>
            <a:off x="822960" y="2103120"/>
            <a:ext cx="1600200" cy="731520"/>
          </a:xfrm>
          <a:prstGeom prst="rect">
            <a:avLst/>
          </a:prstGeom>
          <a:noFill/>
          <a:ln/>
        </p:spPr>
        <p:txBody>
          <a:bodyPr wrap="square" lIns="0" tIns="0" rIns="0" bIns="0" rtlCol="0" anchor="ctr"/>
          <a:lstStyle/>
          <a:p>
            <a:pPr indent="0" marL="0">
              <a:buNone/>
            </a:pPr>
            <a:r>
              <a:rPr lang="en-US" sz="2200" b="1" dirty="0">
                <a:solidFill>
                  <a:schemeClr val="accent4"/>
                </a:solidFill>
              </a:rPr>
              <a:t>0.1 s</a:t>
            </a:r>
            <a:endParaRPr lang="en-US" sz="2200" dirty="0"/>
          </a:p>
        </p:txBody>
      </p:sp>
      <p:sp>
        <p:nvSpPr>
          <p:cNvPr id="6" name="Text 4"/>
          <p:cNvSpPr txBox="1"/>
          <p:nvPr/>
        </p:nvSpPr>
        <p:spPr>
          <a:xfrm>
            <a:off x="822960" y="2834640"/>
            <a:ext cx="1508760" cy="914400"/>
          </a:xfrm>
          <a:prstGeom prst="rect">
            <a:avLst/>
          </a:prstGeom>
          <a:noFill/>
          <a:ln/>
        </p:spPr>
        <p:txBody>
          <a:bodyPr wrap="square" lIns="0" tIns="0" rIns="0" bIns="0" rtlCol="0" anchor="t"/>
          <a:lstStyle/>
          <a:p>
            <a:pPr indent="0" marL="0">
              <a:buNone/>
            </a:pPr>
            <a:r>
              <a:rPr lang="en-US" sz="1400" dirty="0">
                <a:solidFill>
                  <a:schemeClr val="tx2"/>
                </a:solidFill>
              </a:rPr>
              <a:t>fixed tick (D006)</a:t>
            </a:r>
            <a:endParaRPr lang="en-US" sz="1400" dirty="0"/>
          </a:p>
        </p:txBody>
      </p:sp>
      <p:sp>
        <p:nvSpPr>
          <p:cNvPr id="7" name="Text 5"/>
          <p:cNvSpPr txBox="1"/>
          <p:nvPr/>
        </p:nvSpPr>
        <p:spPr>
          <a:xfrm>
            <a:off x="2468880" y="2103120"/>
            <a:ext cx="1600200" cy="731520"/>
          </a:xfrm>
          <a:prstGeom prst="rect">
            <a:avLst/>
          </a:prstGeom>
          <a:noFill/>
          <a:ln/>
        </p:spPr>
        <p:txBody>
          <a:bodyPr wrap="square" lIns="0" tIns="0" rIns="0" bIns="0" rtlCol="0" anchor="ctr"/>
          <a:lstStyle/>
          <a:p>
            <a:pPr indent="0" marL="0">
              <a:buNone/>
            </a:pPr>
            <a:r>
              <a:rPr lang="en-US" sz="2200" b="1" dirty="0">
                <a:solidFill>
                  <a:schemeClr val="accent4"/>
                </a:solidFill>
              </a:rPr>
              <a:t>1x / 10x</a:t>
            </a:r>
            <a:endParaRPr lang="en-US" sz="2200" dirty="0"/>
          </a:p>
        </p:txBody>
      </p:sp>
      <p:sp>
        <p:nvSpPr>
          <p:cNvPr id="8" name="Text 6"/>
          <p:cNvSpPr txBox="1"/>
          <p:nvPr/>
        </p:nvSpPr>
        <p:spPr>
          <a:xfrm>
            <a:off x="2468880" y="2834640"/>
            <a:ext cx="1508760" cy="914400"/>
          </a:xfrm>
          <a:prstGeom prst="rect">
            <a:avLst/>
          </a:prstGeom>
          <a:noFill/>
          <a:ln/>
        </p:spPr>
        <p:txBody>
          <a:bodyPr wrap="square" lIns="0" tIns="0" rIns="0" bIns="0" rtlCol="0" anchor="t"/>
          <a:lstStyle/>
          <a:p>
            <a:pPr indent="0" marL="0">
              <a:buNone/>
            </a:pPr>
            <a:r>
              <a:rPr lang="en-US" sz="1400" dirty="0">
                <a:solidFill>
                  <a:schemeClr val="tx2"/>
                </a:solidFill>
              </a:rPr>
              <a:t>and pause, set by the CTC</a:t>
            </a:r>
            <a:endParaRPr lang="en-US" sz="1400" dirty="0"/>
          </a:p>
        </p:txBody>
      </p:sp>
      <p:sp>
        <p:nvSpPr>
          <p:cNvPr id="9" name="Text 7"/>
          <p:cNvSpPr txBox="1"/>
          <p:nvPr/>
        </p:nvSpPr>
        <p:spPr>
          <a:xfrm>
            <a:off x="4114800" y="2103120"/>
            <a:ext cx="1600200" cy="731520"/>
          </a:xfrm>
          <a:prstGeom prst="rect">
            <a:avLst/>
          </a:prstGeom>
          <a:noFill/>
          <a:ln/>
        </p:spPr>
        <p:txBody>
          <a:bodyPr wrap="square" lIns="0" tIns="0" rIns="0" bIns="0" rtlCol="0" anchor="ctr"/>
          <a:lstStyle/>
          <a:p>
            <a:pPr indent="0" marL="0">
              <a:buNone/>
            </a:pPr>
            <a:r>
              <a:rPr lang="en-US" sz="2200" b="1" dirty="0">
                <a:solidFill>
                  <a:schemeClr val="accent4"/>
                </a:solidFill>
              </a:rPr>
              <a:t>1 clock</a:t>
            </a:r>
            <a:endParaRPr lang="en-US" sz="2200" dirty="0"/>
          </a:p>
        </p:txBody>
      </p:sp>
      <p:sp>
        <p:nvSpPr>
          <p:cNvPr id="10" name="Text 8"/>
          <p:cNvSpPr txBox="1"/>
          <p:nvPr/>
        </p:nvSpPr>
        <p:spPr>
          <a:xfrm>
            <a:off x="4114800" y="2834640"/>
            <a:ext cx="1508760" cy="914400"/>
          </a:xfrm>
          <a:prstGeom prst="rect">
            <a:avLst/>
          </a:prstGeom>
          <a:noFill/>
          <a:ln/>
        </p:spPr>
        <p:txBody>
          <a:bodyPr wrap="square" lIns="0" tIns="0" rIns="0" bIns="0" rtlCol="0" anchor="t"/>
          <a:lstStyle/>
          <a:p>
            <a:pPr indent="0" marL="0">
              <a:buNone/>
            </a:pPr>
            <a:r>
              <a:rPr lang="en-US" sz="1400" dirty="0">
                <a:solidFill>
                  <a:schemeClr val="tx2"/>
                </a:solidFill>
              </a:rPr>
              <a:t>owned by the harness</a:t>
            </a:r>
            <a:endParaRPr lang="en-US" sz="1400" dirty="0"/>
          </a:p>
        </p:txBody>
      </p:sp>
      <p:sp>
        <p:nvSpPr>
          <p:cNvPr id="11" name="Text 9"/>
          <p:cNvSpPr txBox="1"/>
          <p:nvPr/>
        </p:nvSpPr>
        <p:spPr>
          <a:xfrm>
            <a:off x="822960" y="4023360"/>
            <a:ext cx="4846320" cy="2103120"/>
          </a:xfrm>
          <a:prstGeom prst="rect">
            <a:avLst/>
          </a:prstGeom>
          <a:noFill/>
          <a:ln/>
        </p:spPr>
        <p:txBody>
          <a:bodyPr wrap="square" lIns="0" tIns="0" rIns="0" bIns="0" rtlCol="0" anchor="t"/>
          <a:lstStyle/>
          <a:p>
            <a:pPr indent="0" marL="0">
              <a:buNone/>
            </a:pPr>
            <a:r>
              <a:rPr lang="en-US" sz="1700" dirty="0">
                <a:solidFill>
                  <a:schemeClr val="tx1"/>
                </a:solidFill>
              </a:rPr>
              <a:t>The harness sends dt and the time to every module, waits for every reply, and pauses the clock if one is late. The Track Model steps on the last tick's train reports.</a:t>
            </a:r>
            <a:endParaRPr lang="en-US" sz="1700" dirty="0"/>
          </a:p>
        </p:txBody>
      </p:sp>
      <p:sp>
        <p:nvSpPr>
          <p:cNvPr id="12" name="Vitality card"/>
          <p:cNvSpPr/>
          <p:nvPr/>
        </p:nvSpPr>
        <p:spPr>
          <a:xfrm>
            <a:off x="6217920" y="1280160"/>
            <a:ext cx="5394960" cy="4937760"/>
          </a:xfrm>
          <a:prstGeom prst="roundRect">
            <a:avLst>
              <a:gd name="adj" fmla="val 1481"/>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492240" y="1417320"/>
            <a:ext cx="4754880" cy="457200"/>
          </a:xfrm>
          <a:prstGeom prst="rect">
            <a:avLst/>
          </a:prstGeom>
          <a:noFill/>
          <a:ln/>
        </p:spPr>
        <p:txBody>
          <a:bodyPr wrap="square" lIns="0" tIns="0" rIns="0" bIns="0" rtlCol="0" anchor="ctr"/>
          <a:lstStyle/>
          <a:p>
            <a:pPr indent="0" marL="0">
              <a:buNone/>
            </a:pPr>
            <a:r>
              <a:rPr lang="en-US" sz="2400" b="1" dirty="0">
                <a:solidFill>
                  <a:schemeClr val="tx1"/>
                </a:solidFill>
              </a:rPr>
              <a:t>Vitality</a:t>
            </a:r>
            <a:endParaRPr lang="en-US" sz="2400" dirty="0"/>
          </a:p>
        </p:txBody>
      </p:sp>
      <p:sp>
        <p:nvSpPr>
          <p:cNvPr id="14" name="Text 12"/>
          <p:cNvSpPr txBox="1"/>
          <p:nvPr/>
        </p:nvSpPr>
        <p:spPr>
          <a:xfrm>
            <a:off x="6492240" y="2103120"/>
            <a:ext cx="1600200" cy="731520"/>
          </a:xfrm>
          <a:prstGeom prst="rect">
            <a:avLst/>
          </a:prstGeom>
          <a:noFill/>
          <a:ln/>
        </p:spPr>
        <p:txBody>
          <a:bodyPr wrap="square" lIns="0" tIns="0" rIns="0" bIns="0" rtlCol="0" anchor="ctr"/>
          <a:lstStyle/>
          <a:p>
            <a:pPr indent="0" marL="0">
              <a:buNone/>
            </a:pPr>
            <a:r>
              <a:rPr lang="en-US" sz="2200" b="1" dirty="0">
                <a:solidFill>
                  <a:schemeClr val="accent4"/>
                </a:solidFill>
              </a:rPr>
              <a:t>Fail-safe</a:t>
            </a:r>
            <a:endParaRPr lang="en-US" sz="2200" dirty="0"/>
          </a:p>
        </p:txBody>
      </p:sp>
      <p:sp>
        <p:nvSpPr>
          <p:cNvPr id="15" name="Text 13"/>
          <p:cNvSpPr txBox="1"/>
          <p:nvPr/>
        </p:nvSpPr>
        <p:spPr>
          <a:xfrm>
            <a:off x="6492240" y="2834640"/>
            <a:ext cx="1508760" cy="914400"/>
          </a:xfrm>
          <a:prstGeom prst="rect">
            <a:avLst/>
          </a:prstGeom>
          <a:noFill/>
          <a:ln/>
        </p:spPr>
        <p:txBody>
          <a:bodyPr wrap="square" lIns="0" tIns="0" rIns="0" bIns="0" rtlCol="0" anchor="t"/>
          <a:lstStyle/>
          <a:p>
            <a:pPr indent="0" marL="0">
              <a:buNone/>
            </a:pPr>
            <a:r>
              <a:rPr lang="en-US" sz="1400" dirty="0">
                <a:solidFill>
                  <a:schemeClr val="tx2"/>
                </a:solidFill>
              </a:rPr>
              <a:t>no program: stop, red, gates down</a:t>
            </a:r>
            <a:endParaRPr lang="en-US" sz="1400" dirty="0"/>
          </a:p>
        </p:txBody>
      </p:sp>
      <p:sp>
        <p:nvSpPr>
          <p:cNvPr id="16" name="Text 14"/>
          <p:cNvSpPr txBox="1"/>
          <p:nvPr/>
        </p:nvSpPr>
        <p:spPr>
          <a:xfrm>
            <a:off x="8138160" y="2103120"/>
            <a:ext cx="1600200" cy="731520"/>
          </a:xfrm>
          <a:prstGeom prst="rect">
            <a:avLst/>
          </a:prstGeom>
          <a:noFill/>
          <a:ln/>
        </p:spPr>
        <p:txBody>
          <a:bodyPr wrap="square" lIns="0" tIns="0" rIns="0" bIns="0" rtlCol="0" anchor="ctr"/>
          <a:lstStyle/>
          <a:p>
            <a:pPr indent="0" marL="0">
              <a:buNone/>
            </a:pPr>
            <a:r>
              <a:rPr lang="en-US" sz="2200" b="1" dirty="0">
                <a:solidFill>
                  <a:schemeClr val="accent4"/>
                </a:solidFill>
              </a:rPr>
              <a:t>Restrict</a:t>
            </a:r>
            <a:endParaRPr lang="en-US" sz="2200" dirty="0"/>
          </a:p>
        </p:txBody>
      </p:sp>
      <p:sp>
        <p:nvSpPr>
          <p:cNvPr id="17" name="Text 15"/>
          <p:cNvSpPr txBox="1"/>
          <p:nvPr/>
        </p:nvSpPr>
        <p:spPr>
          <a:xfrm>
            <a:off x="8138160" y="2834640"/>
            <a:ext cx="1508760" cy="914400"/>
          </a:xfrm>
          <a:prstGeom prst="rect">
            <a:avLst/>
          </a:prstGeom>
          <a:noFill/>
          <a:ln/>
        </p:spPr>
        <p:txBody>
          <a:bodyPr wrap="square" lIns="0" tIns="0" rIns="0" bIns="0" rtlCol="0" anchor="t"/>
          <a:lstStyle/>
          <a:p>
            <a:pPr indent="0" marL="0">
              <a:buNone/>
            </a:pPr>
            <a:r>
              <a:rPr lang="en-US" sz="1400" dirty="0">
                <a:solidFill>
                  <a:schemeClr val="tx2"/>
                </a:solidFill>
              </a:rPr>
              <a:t>the vital layer only restricts outputs</a:t>
            </a:r>
            <a:endParaRPr lang="en-US" sz="1400" dirty="0"/>
          </a:p>
        </p:txBody>
      </p:sp>
      <p:sp>
        <p:nvSpPr>
          <p:cNvPr id="18" name="Text 16"/>
          <p:cNvSpPr txBox="1"/>
          <p:nvPr/>
        </p:nvSpPr>
        <p:spPr>
          <a:xfrm>
            <a:off x="9784080" y="2103120"/>
            <a:ext cx="1600200" cy="731520"/>
          </a:xfrm>
          <a:prstGeom prst="rect">
            <a:avLst/>
          </a:prstGeom>
          <a:noFill/>
          <a:ln/>
        </p:spPr>
        <p:txBody>
          <a:bodyPr wrap="square" lIns="0" tIns="0" rIns="0" bIns="0" rtlCol="0" anchor="ctr"/>
          <a:lstStyle/>
          <a:p>
            <a:pPr indent="0" marL="0">
              <a:buNone/>
            </a:pPr>
            <a:r>
              <a:rPr lang="en-US" sz="2200" b="1" dirty="0">
                <a:solidFill>
                  <a:schemeClr val="accent4"/>
                </a:solidFill>
              </a:rPr>
              <a:t>Occupied</a:t>
            </a:r>
            <a:endParaRPr lang="en-US" sz="2200" dirty="0"/>
          </a:p>
        </p:txBody>
      </p:sp>
      <p:sp>
        <p:nvSpPr>
          <p:cNvPr id="19" name="Text 17"/>
          <p:cNvSpPr txBox="1"/>
          <p:nvPr/>
        </p:nvSpPr>
        <p:spPr>
          <a:xfrm>
            <a:off x="9784080" y="2834640"/>
            <a:ext cx="1508760" cy="914400"/>
          </a:xfrm>
          <a:prstGeom prst="rect">
            <a:avLst/>
          </a:prstGeom>
          <a:noFill/>
          <a:ln/>
        </p:spPr>
        <p:txBody>
          <a:bodyPr wrap="square" lIns="0" tIns="0" rIns="0" bIns="0" rtlCol="0" anchor="t"/>
          <a:lstStyle/>
          <a:p>
            <a:pPr indent="0" marL="0">
              <a:buNone/>
            </a:pPr>
            <a:r>
              <a:rPr lang="en-US" sz="1400" dirty="0">
                <a:solidFill>
                  <a:schemeClr val="tx2"/>
                </a:solidFill>
              </a:rPr>
              <a:t>a failed block reads occupied</a:t>
            </a:r>
            <a:endParaRPr lang="en-US" sz="1400" dirty="0"/>
          </a:p>
        </p:txBody>
      </p:sp>
      <p:sp>
        <p:nvSpPr>
          <p:cNvPr id="20" name="Text 18"/>
          <p:cNvSpPr txBox="1"/>
          <p:nvPr/>
        </p:nvSpPr>
        <p:spPr>
          <a:xfrm>
            <a:off x="6492240" y="4023360"/>
            <a:ext cx="4846320" cy="2103120"/>
          </a:xfrm>
          <a:prstGeom prst="rect">
            <a:avLst/>
          </a:prstGeom>
          <a:noFill/>
          <a:ln/>
        </p:spPr>
        <p:txBody>
          <a:bodyPr wrap="square" lIns="0" tIns="0" rIns="0" bIns="0" rtlCol="0" anchor="t"/>
          <a:lstStyle/>
          <a:p>
            <a:pPr indent="0" marL="0">
              <a:buNone/>
            </a:pPr>
            <a:r>
              <a:rPr lang="en-US" sz="1700" dirty="0">
                <a:solidFill>
                  <a:schemeClr val="tx1"/>
                </a:solidFill>
              </a:rPr>
              <a:t>The Track Model is not vital, but it supports the scheme: a failed circuit gives the train speed 0 and authority 0, and an invalid tick is rejected whole.</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Software architecture</a:t>
            </a:r>
            <a:endParaRPr lang="en-US" sz="3400" dirty="0"/>
          </a:p>
        </p:txBody>
      </p:sp>
      <p:sp>
        <p:nvSpPr>
          <p:cNvPr id="3" name="Software architecture component diagram frame"/>
          <p:cNvSpPr/>
          <p:nvPr/>
        </p:nvSpPr>
        <p:spPr>
          <a:xfrm>
            <a:off x="933184" y="1207008"/>
            <a:ext cx="6911872" cy="4992624"/>
          </a:xfrm>
          <a:prstGeom prst="rect">
            <a:avLst/>
          </a:prstGeom>
          <a:solidFill>
            <a:srgbClr val="FFFFFF"/>
          </a:solidFill>
          <a:ln w="9525">
            <a:solidFill>
              <a:srgbClr val="D5DAE1"/>
            </a:solidFill>
            <a:prstDash val="solid"/>
          </a:ln>
        </p:spPr>
      </p:sp>
      <p:pic>
        <p:nvPicPr>
          <p:cNvPr id="4" name="Software architecture component diagram" descr="Software architecture component diagram">    </p:cNvPr>
          <p:cNvPicPr>
            <a:picLocks noChangeAspect="1"/>
          </p:cNvPicPr>
          <p:nvPr/>
        </p:nvPicPr>
        <p:blipFill>
          <a:blip r:embed="rId1"/>
          <a:stretch>
            <a:fillRect/>
          </a:stretch>
        </p:blipFill>
        <p:spPr>
          <a:xfrm>
            <a:off x="1006336" y="1280160"/>
            <a:ext cx="6765568" cy="4846320"/>
          </a:xfrm>
          <a:prstGeom prst="rect">
            <a:avLst/>
          </a:prstGeom>
        </p:spPr>
      </p:pic>
      <p:sp>
        <p:nvSpPr>
          <p:cNvPr id="5" name="Text 2"/>
          <p:cNvSpPr txBox="1"/>
          <p:nvPr/>
        </p:nvSpPr>
        <p:spPr>
          <a:xfrm>
            <a:off x="8595360" y="1371600"/>
            <a:ext cx="3108960" cy="4572000"/>
          </a:xfrm>
          <a:prstGeom prst="rect">
            <a:avLst/>
          </a:prstGeom>
          <a:noFill/>
          <a:ln/>
        </p:spPr>
        <p:txBody>
          <a:bodyPr wrap="square" lIns="635" tIns="635" rIns="635" bIns="635" rtlCol="0" anchor="t"/>
          <a:lstStyle/>
          <a:p>
            <a:pPr marL="342900" indent="-342900">
              <a:spcAft>
                <a:spcPts val="800"/>
              </a:spcAft>
              <a:buSzPct val="100000"/>
              <a:buChar char="•"/>
            </a:pPr>
            <a:r>
              <a:rPr lang="en-US" sz="1600" b="1" dirty="0">
                <a:solidFill>
                  <a:schemeClr val="tx1"/>
                </a:solidFill>
              </a:rPr>
              <a:t>Module core: </a:t>
            </a:r>
            <a:pPr indent="0" marL="0">
              <a:spcAft>
                <a:spcPts val="800"/>
              </a:spcAft>
              <a:buNone/>
            </a:pPr>
            <a:r>
              <a:rPr lang="en-US" sz="1600" dirty="0">
                <a:solidFill>
                  <a:schemeClr val="tx1"/>
                </a:solidFill>
              </a:rPr>
              <a:t>model.py and layout.py, no Qt code.</a:t>
            </a:r>
            <a:endParaRPr lang="en-US" sz="1600" dirty="0"/>
          </a:p>
          <a:p>
            <a:pPr marL="342900" indent="-342900">
              <a:spcAft>
                <a:spcPts val="800"/>
              </a:spcAft>
              <a:buSzPct val="100000"/>
              <a:buChar char="•"/>
            </a:pPr>
            <a:r>
              <a:rPr lang="en-US" sz="1600" b="1" dirty="0">
                <a:solidFill>
                  <a:schemeClr val="tx1"/>
                </a:solidFill>
              </a:rPr>
              <a:t>Window: </a:t>
            </a:r>
            <a:pPr indent="0" marL="0">
              <a:spcAft>
                <a:spcPts val="800"/>
              </a:spcAft>
              <a:buNone/>
            </a:pPr>
            <a:r>
              <a:rPr lang="en-US" sz="1600" dirty="0">
                <a:solidFill>
                  <a:schemeClr val="tx1"/>
                </a:solidFill>
              </a:rPr>
              <a:t>Qt Quick, fed by a state object in display units.</a:t>
            </a:r>
            <a:endParaRPr lang="en-US" sz="1600" dirty="0"/>
          </a:p>
          <a:p>
            <a:pPr marL="342900" indent="-342900">
              <a:spcAft>
                <a:spcPts val="800"/>
              </a:spcAft>
              <a:buSzPct val="100000"/>
              <a:buChar char="•"/>
            </a:pPr>
            <a:r>
              <a:rPr lang="en-US" sz="1600" b="1" dirty="0">
                <a:solidFill>
                  <a:schemeClr val="tx1"/>
                </a:solidFill>
              </a:rPr>
              <a:t>Test scaffolding: </a:t>
            </a:r>
            <a:pPr indent="0" marL="0">
              <a:spcAft>
                <a:spcPts val="800"/>
              </a:spcAft>
              <a:buNone/>
            </a:pPr>
            <a:r>
              <a:rPr lang="en-US" sz="1600" dirty="0">
                <a:solidFill>
                  <a:schemeClr val="tx1"/>
                </a:solidFill>
              </a:rPr>
              <a:t>its own process, removed at integration.</a:t>
            </a:r>
            <a:endParaRPr lang="en-US" sz="1600" dirty="0"/>
          </a:p>
          <a:p>
            <a:pPr marL="342900" indent="-342900">
              <a:spcAft>
                <a:spcPts val="800"/>
              </a:spcAft>
              <a:buSzPct val="100000"/>
              <a:buChar char="•"/>
            </a:pPr>
            <a:r>
              <a:rPr lang="en-US" sz="1600" b="1" dirty="0">
                <a:solidFill>
                  <a:schemeClr val="tx1"/>
                </a:solidFill>
              </a:rPr>
              <a:t>Integration: </a:t>
            </a:r>
            <a:pPr indent="0" marL="0">
              <a:spcAft>
                <a:spcPts val="800"/>
              </a:spcAft>
              <a:buNone/>
            </a:pPr>
            <a:r>
              <a:rPr lang="en-US" sz="1600" dirty="0">
                <a:solidFill>
                  <a:schemeClr val="tx1"/>
                </a:solidFill>
              </a:rPr>
              <a:t>the harness calls step() through the edge functions.</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Module composition and boundary types</a:t>
            </a:r>
            <a:endParaRPr lang="en-US" sz="3400" dirty="0"/>
          </a:p>
        </p:txBody>
      </p:sp>
      <p:sp>
        <p:nvSpPr>
          <p:cNvPr id="3" name="Module composition diagram frame"/>
          <p:cNvSpPr/>
          <p:nvPr/>
        </p:nvSpPr>
        <p:spPr>
          <a:xfrm>
            <a:off x="475488" y="1207008"/>
            <a:ext cx="5449824" cy="2337752"/>
          </a:xfrm>
          <a:prstGeom prst="rect">
            <a:avLst/>
          </a:prstGeom>
          <a:solidFill>
            <a:srgbClr val="FFFFFF"/>
          </a:solidFill>
          <a:ln w="9525">
            <a:solidFill>
              <a:srgbClr val="D5DAE1"/>
            </a:solidFill>
            <a:prstDash val="solid"/>
          </a:ln>
        </p:spPr>
      </p:sp>
      <p:pic>
        <p:nvPicPr>
          <p:cNvPr id="4" name="Module composition diagram" descr="Module composition diagram">    </p:cNvPr>
          <p:cNvPicPr>
            <a:picLocks noChangeAspect="1"/>
          </p:cNvPicPr>
          <p:nvPr/>
        </p:nvPicPr>
        <p:blipFill>
          <a:blip r:embed="rId1"/>
          <a:stretch>
            <a:fillRect/>
          </a:stretch>
        </p:blipFill>
        <p:spPr>
          <a:xfrm>
            <a:off x="548640" y="1280160"/>
            <a:ext cx="5303520" cy="2191448"/>
          </a:xfrm>
          <a:prstGeom prst="rect">
            <a:avLst/>
          </a:prstGeom>
        </p:spPr>
      </p:pic>
      <p:sp>
        <p:nvSpPr>
          <p:cNvPr id="5" name="Boundary types diagram frame"/>
          <p:cNvSpPr/>
          <p:nvPr/>
        </p:nvSpPr>
        <p:spPr>
          <a:xfrm>
            <a:off x="2272225" y="3767328"/>
            <a:ext cx="7617071" cy="2615184"/>
          </a:xfrm>
          <a:prstGeom prst="rect">
            <a:avLst/>
          </a:prstGeom>
          <a:solidFill>
            <a:srgbClr val="FFFFFF"/>
          </a:solidFill>
          <a:ln w="9525">
            <a:solidFill>
              <a:srgbClr val="D5DAE1"/>
            </a:solidFill>
            <a:prstDash val="solid"/>
          </a:ln>
        </p:spPr>
      </p:sp>
      <p:pic>
        <p:nvPicPr>
          <p:cNvPr id="6" name="Boundary types diagram" descr="Boundary types diagram">    </p:cNvPr>
          <p:cNvPicPr>
            <a:picLocks noChangeAspect="1"/>
          </p:cNvPicPr>
          <p:nvPr/>
        </p:nvPicPr>
        <p:blipFill>
          <a:blip r:embed="rId2"/>
          <a:stretch>
            <a:fillRect/>
          </a:stretch>
        </p:blipFill>
        <p:spPr>
          <a:xfrm>
            <a:off x="2345377" y="3840480"/>
            <a:ext cx="7470767" cy="2468880"/>
          </a:xfrm>
          <a:prstGeom prst="rect">
            <a:avLst/>
          </a:prstGeom>
        </p:spPr>
      </p:pic>
      <p:sp>
        <p:nvSpPr>
          <p:cNvPr id="7" name="Text 3"/>
          <p:cNvSpPr txBox="1"/>
          <p:nvPr/>
        </p:nvSpPr>
        <p:spPr>
          <a:xfrm>
            <a:off x="6309360" y="1280160"/>
            <a:ext cx="5394960" cy="2377440"/>
          </a:xfrm>
          <a:prstGeom prst="rect">
            <a:avLst/>
          </a:prstGeom>
          <a:noFill/>
          <a:ln/>
        </p:spPr>
        <p:txBody>
          <a:bodyPr wrap="square" lIns="635" tIns="635" rIns="635" bIns="635" rtlCol="0" anchor="t"/>
          <a:lstStyle/>
          <a:p>
            <a:pPr marL="342900" indent="-342900">
              <a:spcAft>
                <a:spcPts val="800"/>
              </a:spcAft>
              <a:buSzPct val="100000"/>
              <a:buChar char="•"/>
            </a:pPr>
            <a:r>
              <a:rPr lang="en-US" sz="1600" b="1" dirty="0">
                <a:solidFill>
                  <a:schemeClr val="tx1"/>
                </a:solidFill>
              </a:rPr>
              <a:t>One executable: </a:t>
            </a:r>
            <a:pPr indent="0" marL="0">
              <a:spcAft>
                <a:spcPts val="800"/>
              </a:spcAft>
              <a:buNone/>
            </a:pPr>
            <a:r>
              <a:rPr lang="en-US" sz="1600" dirty="0">
                <a:solidFill>
                  <a:schemeClr val="tx1"/>
                </a:solidFill>
              </a:rPr>
              <a:t>the harness starts a process per module and drives each once per tick.</a:t>
            </a:r>
            <a:endParaRPr lang="en-US" sz="1600" dirty="0"/>
          </a:p>
          <a:p>
            <a:pPr marL="342900" indent="-342900">
              <a:spcAft>
                <a:spcPts val="800"/>
              </a:spcAft>
              <a:buSzPct val="100000"/>
              <a:buChar char="•"/>
            </a:pPr>
            <a:r>
              <a:rPr lang="en-US" sz="1600" b="1" dirty="0">
                <a:solidFill>
                  <a:schemeClr val="tx1"/>
                </a:solidFill>
              </a:rPr>
              <a:t>Own types: </a:t>
            </a:r>
            <a:pPr indent="0" marL="0">
              <a:spcAft>
                <a:spcPts val="800"/>
              </a:spcAft>
              <a:buNone/>
            </a:pPr>
            <a:r>
              <a:rPr lang="en-US" sz="1600" dirty="0">
                <a:solidFill>
                  <a:schemeClr val="tx1"/>
                </a:solidFill>
              </a:rPr>
              <a:t>a module defines only its own boundary types and imports no other module.</a:t>
            </a:r>
            <a:endParaRPr lang="en-US" sz="1600" dirty="0"/>
          </a:p>
          <a:p>
            <a:pPr marL="342900" indent="-342900">
              <a:spcAft>
                <a:spcPts val="800"/>
              </a:spcAft>
              <a:buSzPct val="100000"/>
              <a:buChar char="•"/>
            </a:pPr>
            <a:r>
              <a:rPr lang="en-US" sz="1600" b="1" dirty="0">
                <a:solidFill>
                  <a:schemeClr val="tx1"/>
                </a:solidFill>
              </a:rPr>
              <a:t>Frozen and SI: </a:t>
            </a:r>
            <a:pPr indent="0" marL="0">
              <a:spcAft>
                <a:spcPts val="800"/>
              </a:spcAft>
              <a:buNone/>
            </a:pPr>
            <a:r>
              <a:rPr lang="en-US" sz="1600" dirty="0">
                <a:solidFill>
                  <a:schemeClr val="tx1"/>
                </a:solidFill>
              </a:rPr>
              <a:t>frozen dataclasses, backend units, string IDs such as GREEN D-13.</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Module interface contract</a:t>
            </a:r>
            <a:endParaRPr lang="en-US" sz="3400" dirty="0"/>
          </a:p>
        </p:txBody>
      </p:sp>
      <p:sp>
        <p:nvSpPr>
          <p:cNvPr id="3" name="Interface contract diagram frame"/>
          <p:cNvSpPr/>
          <p:nvPr/>
        </p:nvSpPr>
        <p:spPr>
          <a:xfrm>
            <a:off x="475488" y="1207008"/>
            <a:ext cx="11210544" cy="3362833"/>
          </a:xfrm>
          <a:prstGeom prst="rect">
            <a:avLst/>
          </a:prstGeom>
          <a:solidFill>
            <a:srgbClr val="FFFFFF"/>
          </a:solidFill>
          <a:ln w="9525">
            <a:solidFill>
              <a:srgbClr val="D5DAE1"/>
            </a:solidFill>
            <a:prstDash val="solid"/>
          </a:ln>
        </p:spPr>
      </p:sp>
      <p:pic>
        <p:nvPicPr>
          <p:cNvPr id="4" name="Interface contract diagram" descr="Interface contract diagram">    </p:cNvPr>
          <p:cNvPicPr>
            <a:picLocks noChangeAspect="1"/>
          </p:cNvPicPr>
          <p:nvPr/>
        </p:nvPicPr>
        <p:blipFill>
          <a:blip r:embed="rId1"/>
          <a:stretch>
            <a:fillRect/>
          </a:stretch>
        </p:blipFill>
        <p:spPr>
          <a:xfrm>
            <a:off x="548640" y="1280160"/>
            <a:ext cx="11064240" cy="3216529"/>
          </a:xfrm>
          <a:prstGeom prst="rect">
            <a:avLst/>
          </a:prstGeom>
        </p:spPr>
      </p:pic>
      <p:sp>
        <p:nvSpPr>
          <p:cNvPr id="5" name="Text 2"/>
          <p:cNvSpPr txBox="1"/>
          <p:nvPr/>
        </p:nvSpPr>
        <p:spPr>
          <a:xfrm>
            <a:off x="548640" y="5486400"/>
            <a:ext cx="11064240" cy="731520"/>
          </a:xfrm>
          <a:prstGeom prst="rect">
            <a:avLst/>
          </a:prstGeom>
          <a:noFill/>
          <a:ln/>
        </p:spPr>
        <p:txBody>
          <a:bodyPr wrap="square" lIns="0" tIns="0" rIns="0" bIns="0" rtlCol="0" anchor="ctr"/>
          <a:lstStyle/>
          <a:p>
            <a:pPr indent="0" marL="0">
              <a:buNone/>
            </a:pPr>
            <a:r>
              <a:rPr lang="en-US" sz="1700" dirty="0">
                <a:solidFill>
                  <a:schemeClr val="tx2"/>
                </a:solidFill>
              </a:rPr>
              <a:t>The whole interface is step(dt, inputs). Other methods serve the window and the test UI. The harness maps each edge with a pure function.</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Movement authority request</a:t>
            </a:r>
            <a:endParaRPr lang="en-US" sz="3400" dirty="0"/>
          </a:p>
        </p:txBody>
      </p:sp>
      <p:sp>
        <p:nvSpPr>
          <p:cNvPr id="3" name="Movement authority sequence diagram frame"/>
          <p:cNvSpPr/>
          <p:nvPr/>
        </p:nvSpPr>
        <p:spPr>
          <a:xfrm>
            <a:off x="475488" y="1207008"/>
            <a:ext cx="11210544" cy="3915021"/>
          </a:xfrm>
          <a:prstGeom prst="rect">
            <a:avLst/>
          </a:prstGeom>
          <a:solidFill>
            <a:srgbClr val="FFFFFF"/>
          </a:solidFill>
          <a:ln w="9525">
            <a:solidFill>
              <a:srgbClr val="D5DAE1"/>
            </a:solidFill>
            <a:prstDash val="solid"/>
          </a:ln>
        </p:spPr>
      </p:sp>
      <p:pic>
        <p:nvPicPr>
          <p:cNvPr id="4" name="Movement authority sequence diagram" descr="Movement authority sequence diagram">    </p:cNvPr>
          <p:cNvPicPr>
            <a:picLocks noChangeAspect="1"/>
          </p:cNvPicPr>
          <p:nvPr/>
        </p:nvPicPr>
        <p:blipFill>
          <a:blip r:embed="rId1"/>
          <a:stretch>
            <a:fillRect/>
          </a:stretch>
        </p:blipFill>
        <p:spPr>
          <a:xfrm>
            <a:off x="548640" y="1280160"/>
            <a:ext cx="11064240" cy="3768717"/>
          </a:xfrm>
          <a:prstGeom prst="rect">
            <a:avLst/>
          </a:prstGeom>
        </p:spPr>
      </p:pic>
      <p:sp>
        <p:nvSpPr>
          <p:cNvPr id="5" name="Text 2"/>
          <p:cNvSpPr txBox="1"/>
          <p:nvPr/>
        </p:nvSpPr>
        <p:spPr>
          <a:xfrm>
            <a:off x="548640" y="5394960"/>
            <a:ext cx="11064240" cy="822960"/>
          </a:xfrm>
          <a:prstGeom prst="rect">
            <a:avLst/>
          </a:prstGeom>
          <a:noFill/>
          <a:ln/>
        </p:spPr>
        <p:txBody>
          <a:bodyPr wrap="square" lIns="0" tIns="0" rIns="0" bIns="0" rtlCol="0" anchor="ctr"/>
          <a:lstStyle/>
          <a:p>
            <a:pPr indent="0" marL="0">
              <a:buNone/>
            </a:pPr>
            <a:r>
              <a:rPr lang="en-US" sz="1700" dirty="0">
                <a:solidFill>
                  <a:schemeClr val="tx2"/>
                </a:solidFill>
              </a:rPr>
              <a:t>One tick: CTC suggests, the wayside decides, the Track Model checks the whole tick, stores speed and authority per block, and builds a feed for each train.</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Main use cases</a:t>
            </a:r>
            <a:endParaRPr lang="en-US" sz="3400" dirty="0"/>
          </a:p>
        </p:txBody>
      </p:sp>
      <p:sp>
        <p:nvSpPr>
          <p:cNvPr id="3" name="Use case diagram frame"/>
          <p:cNvSpPr/>
          <p:nvPr/>
        </p:nvSpPr>
        <p:spPr>
          <a:xfrm>
            <a:off x="908047" y="1161288"/>
            <a:ext cx="4950467" cy="5175504"/>
          </a:xfrm>
          <a:prstGeom prst="rect">
            <a:avLst/>
          </a:prstGeom>
          <a:solidFill>
            <a:srgbClr val="FFFFFF"/>
          </a:solidFill>
          <a:ln w="9525">
            <a:solidFill>
              <a:srgbClr val="D5DAE1"/>
            </a:solidFill>
            <a:prstDash val="solid"/>
          </a:ln>
        </p:spPr>
      </p:sp>
      <p:pic>
        <p:nvPicPr>
          <p:cNvPr id="4" name="Use case diagram" descr="Use case diagram">    </p:cNvPr>
          <p:cNvPicPr>
            <a:picLocks noChangeAspect="1"/>
          </p:cNvPicPr>
          <p:nvPr/>
        </p:nvPicPr>
        <p:blipFill>
          <a:blip r:embed="rId1"/>
          <a:stretch>
            <a:fillRect/>
          </a:stretch>
        </p:blipFill>
        <p:spPr>
          <a:xfrm>
            <a:off x="981199" y="1234440"/>
            <a:ext cx="4804163" cy="5029200"/>
          </a:xfrm>
          <a:prstGeom prst="rect">
            <a:avLst/>
          </a:prstGeom>
        </p:spPr>
      </p:pic>
      <p:sp>
        <p:nvSpPr>
          <p:cNvPr id="5" name="Text 2"/>
          <p:cNvSpPr txBox="1"/>
          <p:nvPr/>
        </p:nvSpPr>
        <p:spPr>
          <a:xfrm>
            <a:off x="6675120" y="1280160"/>
            <a:ext cx="5029200" cy="365760"/>
          </a:xfrm>
          <a:prstGeom prst="rect">
            <a:avLst/>
          </a:prstGeom>
          <a:noFill/>
          <a:ln/>
        </p:spPr>
        <p:txBody>
          <a:bodyPr wrap="square" lIns="0" tIns="0" rIns="0" bIns="0" rtlCol="0" anchor="ctr"/>
          <a:lstStyle/>
          <a:p>
            <a:pPr indent="0" marL="0">
              <a:buNone/>
            </a:pPr>
            <a:r>
              <a:rPr lang="en-US" sz="2000" b="1" dirty="0">
                <a:solidFill>
                  <a:schemeClr val="tx1"/>
                </a:solidFill>
              </a:rPr>
              <a:t>Actors</a:t>
            </a:r>
            <a:endParaRPr lang="en-US" sz="2000" dirty="0"/>
          </a:p>
        </p:txBody>
      </p:sp>
      <p:sp>
        <p:nvSpPr>
          <p:cNvPr id="6" name="Text 3"/>
          <p:cNvSpPr txBox="1"/>
          <p:nvPr/>
        </p:nvSpPr>
        <p:spPr>
          <a:xfrm>
            <a:off x="6675120" y="1691640"/>
            <a:ext cx="5029200" cy="1554480"/>
          </a:xfrm>
          <a:prstGeom prst="rect">
            <a:avLst/>
          </a:prstGeom>
          <a:noFill/>
          <a:ln/>
        </p:spPr>
        <p:txBody>
          <a:bodyPr wrap="square" lIns="635" tIns="635" rIns="635" bIns="635" rtlCol="0" anchor="t"/>
          <a:lstStyle/>
          <a:p>
            <a:pPr marL="342900" indent="-342900">
              <a:spcAft>
                <a:spcPts val="800"/>
              </a:spcAft>
              <a:buSzPct val="100000"/>
              <a:buChar char="•"/>
            </a:pPr>
            <a:r>
              <a:rPr lang="en-US" sz="1600" b="1" dirty="0">
                <a:solidFill>
                  <a:schemeClr val="tx1"/>
                </a:solidFill>
              </a:rPr>
              <a:t>People: </a:t>
            </a:r>
            <a:pPr indent="0" marL="0">
              <a:spcAft>
                <a:spcPts val="800"/>
              </a:spcAft>
              <a:buNone/>
            </a:pPr>
            <a:r>
              <a:rPr lang="en-US" sz="1600" dirty="0">
                <a:solidFill>
                  <a:schemeClr val="tx1"/>
                </a:solidFill>
              </a:rPr>
              <a:t>Track Builder, Murphy.</a:t>
            </a:r>
            <a:endParaRPr lang="en-US" sz="1600" dirty="0"/>
          </a:p>
          <a:p>
            <a:pPr marL="342900" indent="-342900">
              <a:spcAft>
                <a:spcPts val="800"/>
              </a:spcAft>
              <a:buSzPct val="100000"/>
              <a:buChar char="•"/>
            </a:pPr>
            <a:r>
              <a:rPr lang="en-US" sz="1600" b="1" dirty="0">
                <a:solidFill>
                  <a:schemeClr val="tx1"/>
                </a:solidFill>
              </a:rPr>
              <a:t>Systems: </a:t>
            </a:r>
            <a:pPr indent="0" marL="0">
              <a:spcAft>
                <a:spcPts val="800"/>
              </a:spcAft>
              <a:buNone/>
            </a:pPr>
            <a:r>
              <a:rPr lang="en-US" sz="1600" dirty="0">
                <a:solidFill>
                  <a:schemeClr val="tx1"/>
                </a:solidFill>
              </a:rPr>
              <a:t>Track controller, Train model, Train controller, CTC office.</a:t>
            </a:r>
            <a:endParaRPr lang="en-US" sz="1600" dirty="0"/>
          </a:p>
        </p:txBody>
      </p:sp>
      <p:sp>
        <p:nvSpPr>
          <p:cNvPr id="7" name="Text 4"/>
          <p:cNvSpPr txBox="1"/>
          <p:nvPr/>
        </p:nvSpPr>
        <p:spPr>
          <a:xfrm>
            <a:off x="6675120" y="3383280"/>
            <a:ext cx="5029200" cy="365760"/>
          </a:xfrm>
          <a:prstGeom prst="rect">
            <a:avLst/>
          </a:prstGeom>
          <a:noFill/>
          <a:ln/>
        </p:spPr>
        <p:txBody>
          <a:bodyPr wrap="square" lIns="0" tIns="0" rIns="0" bIns="0" rtlCol="0" anchor="ctr"/>
          <a:lstStyle/>
          <a:p>
            <a:pPr indent="0" marL="0">
              <a:buNone/>
            </a:pPr>
            <a:r>
              <a:rPr lang="en-US" sz="2000" b="1" dirty="0">
                <a:solidFill>
                  <a:schemeClr val="tx1"/>
                </a:solidFill>
              </a:rPr>
              <a:t>Core flows</a:t>
            </a:r>
            <a:endParaRPr lang="en-US" sz="2000" dirty="0"/>
          </a:p>
        </p:txBody>
      </p:sp>
      <p:sp>
        <p:nvSpPr>
          <p:cNvPr id="8" name="Text 5"/>
          <p:cNvSpPr txBox="1"/>
          <p:nvPr/>
        </p:nvSpPr>
        <p:spPr>
          <a:xfrm>
            <a:off x="6675120" y="3794760"/>
            <a:ext cx="5029200" cy="24688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Load and display a track layout</a:t>
            </a:r>
            <a:endParaRPr lang="en-US" sz="1500" dirty="0"/>
          </a:p>
          <a:p>
            <a:pPr marL="342900" indent="-342900">
              <a:spcAft>
                <a:spcPts val="800"/>
              </a:spcAft>
              <a:buSzPct val="100000"/>
              <a:buChar char="•"/>
            </a:pPr>
            <a:r>
              <a:rPr lang="en-US" sz="1500" dirty="0">
                <a:solidFill>
                  <a:schemeClr val="tx1"/>
                </a:solidFill>
              </a:rPr>
              <a:t>Track trains; report occupancy</a:t>
            </a:r>
            <a:endParaRPr lang="en-US" sz="1500" dirty="0"/>
          </a:p>
          <a:p>
            <a:pPr marL="342900" indent="-342900">
              <a:spcAft>
                <a:spcPts val="800"/>
              </a:spcAft>
              <a:buSzPct val="100000"/>
              <a:buChar char="•"/>
            </a:pPr>
            <a:r>
              <a:rPr lang="en-US" sz="1500" dirty="0">
                <a:solidFill>
                  <a:schemeClr val="tx1"/>
                </a:solidFill>
              </a:rPr>
              <a:t>Apply switches, signals, gates</a:t>
            </a:r>
            <a:endParaRPr lang="en-US" sz="1500" dirty="0"/>
          </a:p>
          <a:p>
            <a:pPr marL="342900" indent="-342900">
              <a:spcAft>
                <a:spcPts val="800"/>
              </a:spcAft>
              <a:buSzPct val="100000"/>
              <a:buChar char="•"/>
            </a:pPr>
            <a:r>
              <a:rPr lang="en-US" sz="1500" dirty="0">
                <a:solidFill>
                  <a:schemeClr val="tx1"/>
                </a:solidFill>
              </a:rPr>
              <a:t>Deliver speed, authority, beacon</a:t>
            </a:r>
            <a:endParaRPr lang="en-US" sz="1500" dirty="0"/>
          </a:p>
          <a:p>
            <a:pPr marL="342900" indent="-342900">
              <a:spcAft>
                <a:spcPts val="800"/>
              </a:spcAft>
              <a:buSzPct val="100000"/>
              <a:buChar char="•"/>
            </a:pPr>
            <a:r>
              <a:rPr lang="en-US" sz="1500" dirty="0">
                <a:solidFill>
                  <a:schemeClr val="tx1"/>
                </a:solidFill>
              </a:rPr>
              <a:t>Tickets and boarding</a:t>
            </a:r>
            <a:endParaRPr lang="en-US" sz="1500" dirty="0"/>
          </a:p>
          <a:p>
            <a:pPr marL="342900" indent="-342900">
              <a:spcAft>
                <a:spcPts val="800"/>
              </a:spcAft>
              <a:buSzPct val="100000"/>
              <a:buChar char="•"/>
            </a:pPr>
            <a:r>
              <a:rPr lang="en-US" sz="1500" dirty="0">
                <a:solidFill>
                  <a:schemeClr val="tx1"/>
                </a:solidFill>
              </a:rPr>
              <a:t>Failures and temperature</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User interface (for context)</a:t>
            </a:r>
            <a:endParaRPr lang="en-US" sz="3400" dirty="0"/>
          </a:p>
        </p:txBody>
      </p:sp>
      <p:sp>
        <p:nvSpPr>
          <p:cNvPr id="3" name="window frame"/>
          <p:cNvSpPr/>
          <p:nvPr/>
        </p:nvSpPr>
        <p:spPr>
          <a:xfrm>
            <a:off x="548640" y="1280160"/>
            <a:ext cx="11064240" cy="4937760"/>
          </a:xfrm>
          <a:prstGeom prst="roundRect">
            <a:avLst>
              <a:gd name="adj" fmla="val 1481"/>
            </a:avLst>
          </a:prstGeom>
          <a:solidFill>
            <a:srgbClr val="FFFFFF"/>
          </a:solidFill>
          <a:ln w="15875">
            <a:solidFill>
              <a:srgbClr val="8A97A6"/>
            </a:solidFill>
            <a:prstDash val="solid"/>
          </a:ln>
          <a:effectLst>
            <a:outerShdw sx="100000" sy="100000" kx="0" ky="0" algn="bl" rotWithShape="0" blurRad="101600" dist="25400" dir="5400000">
              <a:srgbClr val="000000">
                <a:alpha val="12000"/>
              </a:srgbClr>
            </a:outerShdw>
          </a:effectLst>
        </p:spPr>
      </p:sp>
      <p:sp>
        <p:nvSpPr>
          <p:cNvPr id="4" name="Header panel"/>
          <p:cNvSpPr/>
          <p:nvPr/>
        </p:nvSpPr>
        <p:spPr>
          <a:xfrm>
            <a:off x="731520" y="1463040"/>
            <a:ext cx="10698480" cy="822960"/>
          </a:xfrm>
          <a:prstGeom prst="rect">
            <a:avLst/>
          </a:prstGeom>
          <a:solidFill>
            <a:srgbClr val="EAF1F8"/>
          </a:solidFill>
          <a:ln w="9525">
            <a:solidFill>
              <a:srgbClr val="C9D0D9"/>
            </a:solidFill>
            <a:prstDash val="solid"/>
          </a:ln>
        </p:spPr>
      </p:sp>
      <p:sp>
        <p:nvSpPr>
          <p:cNvPr id="5" name="Text 3"/>
          <p:cNvSpPr txBox="1"/>
          <p:nvPr/>
        </p:nvSpPr>
        <p:spPr>
          <a:xfrm>
            <a:off x="868680" y="1536192"/>
            <a:ext cx="10424160" cy="365760"/>
          </a:xfrm>
          <a:prstGeom prst="rect">
            <a:avLst/>
          </a:prstGeom>
          <a:noFill/>
          <a:ln/>
        </p:spPr>
        <p:txBody>
          <a:bodyPr wrap="square" lIns="0" tIns="0" rIns="0" bIns="0" rtlCol="0" anchor="ctr"/>
          <a:lstStyle/>
          <a:p>
            <a:pPr indent="0" marL="0">
              <a:buNone/>
            </a:pPr>
            <a:r>
              <a:rPr lang="en-US" sz="1600" b="1" dirty="0">
                <a:solidFill>
                  <a:schemeClr val="tx1"/>
                </a:solidFill>
              </a:rPr>
              <a:t>Header</a:t>
            </a:r>
            <a:endParaRPr lang="en-US" sz="1600" dirty="0"/>
          </a:p>
        </p:txBody>
      </p:sp>
      <p:sp>
        <p:nvSpPr>
          <p:cNvPr id="6" name="Text 4"/>
          <p:cNvSpPr txBox="1"/>
          <p:nvPr/>
        </p:nvSpPr>
        <p:spPr>
          <a:xfrm>
            <a:off x="868680" y="1920240"/>
            <a:ext cx="10424160" cy="274320"/>
          </a:xfrm>
          <a:prstGeom prst="rect">
            <a:avLst/>
          </a:prstGeom>
          <a:noFill/>
          <a:ln/>
        </p:spPr>
        <p:txBody>
          <a:bodyPr wrap="square" lIns="0" tIns="0" rIns="0" bIns="0" rtlCol="0" anchor="t"/>
          <a:lstStyle/>
          <a:p>
            <a:pPr indent="0" marL="0">
              <a:buNone/>
            </a:pPr>
            <a:r>
              <a:rPr lang="en-US" sz="1300" dirty="0">
                <a:solidFill>
                  <a:schemeClr val="tx2"/>
                </a:solidFill>
              </a:rPr>
              <a:t>Running or Paused, elapsed time, ambient temperature (°F), line, filter, Load track...</a:t>
            </a:r>
            <a:endParaRPr lang="en-US" sz="1300" dirty="0"/>
          </a:p>
        </p:txBody>
      </p:sp>
      <p:sp>
        <p:nvSpPr>
          <p:cNvPr id="7" name="Block table panel"/>
          <p:cNvSpPr/>
          <p:nvPr/>
        </p:nvSpPr>
        <p:spPr>
          <a:xfrm>
            <a:off x="731520" y="2468880"/>
            <a:ext cx="6583680" cy="2194560"/>
          </a:xfrm>
          <a:prstGeom prst="rect">
            <a:avLst/>
          </a:prstGeom>
          <a:solidFill>
            <a:srgbClr val="F2F4F7"/>
          </a:solidFill>
          <a:ln w="9525">
            <a:solidFill>
              <a:srgbClr val="C9D0D9"/>
            </a:solidFill>
            <a:prstDash val="solid"/>
          </a:ln>
        </p:spPr>
      </p:sp>
      <p:sp>
        <p:nvSpPr>
          <p:cNvPr id="8" name="Text 6"/>
          <p:cNvSpPr txBox="1"/>
          <p:nvPr/>
        </p:nvSpPr>
        <p:spPr>
          <a:xfrm>
            <a:off x="868680" y="2542032"/>
            <a:ext cx="6309360" cy="365760"/>
          </a:xfrm>
          <a:prstGeom prst="rect">
            <a:avLst/>
          </a:prstGeom>
          <a:noFill/>
          <a:ln/>
        </p:spPr>
        <p:txBody>
          <a:bodyPr wrap="square" lIns="0" tIns="0" rIns="0" bIns="0" rtlCol="0" anchor="ctr"/>
          <a:lstStyle/>
          <a:p>
            <a:pPr indent="0" marL="0">
              <a:buNone/>
            </a:pPr>
            <a:r>
              <a:rPr lang="en-US" sz="1600" b="1" dirty="0">
                <a:solidFill>
                  <a:schemeClr val="tx1"/>
                </a:solidFill>
              </a:rPr>
              <a:t>Block table</a:t>
            </a:r>
            <a:endParaRPr lang="en-US" sz="1600" dirty="0"/>
          </a:p>
        </p:txBody>
      </p:sp>
      <p:sp>
        <p:nvSpPr>
          <p:cNvPr id="9" name="Text 7"/>
          <p:cNvSpPr txBox="1"/>
          <p:nvPr/>
        </p:nvSpPr>
        <p:spPr>
          <a:xfrm>
            <a:off x="868680" y="2926080"/>
            <a:ext cx="6309360" cy="1645920"/>
          </a:xfrm>
          <a:prstGeom prst="rect">
            <a:avLst/>
          </a:prstGeom>
          <a:noFill/>
          <a:ln/>
        </p:spPr>
        <p:txBody>
          <a:bodyPr wrap="square" lIns="0" tIns="0" rIns="0" bIns="0" rtlCol="0" anchor="t"/>
          <a:lstStyle/>
          <a:p>
            <a:pPr indent="0" marL="0">
              <a:buNone/>
            </a:pPr>
            <a:r>
              <a:rPr lang="en-US" sz="1300" dirty="0">
                <a:solidFill>
                  <a:schemeClr val="tx2"/>
                </a:solidFill>
              </a:rPr>
              <a:t>Block, direction, length, grade, limit, Cmd mph, Auth, station, beacon, heater, occupied, signal, failure.</a:t>
            </a:r>
            <a:endParaRPr lang="en-US" sz="1300" dirty="0"/>
          </a:p>
        </p:txBody>
      </p:sp>
      <p:sp>
        <p:nvSpPr>
          <p:cNvPr id="10" name="Selected block panel"/>
          <p:cNvSpPr/>
          <p:nvPr/>
        </p:nvSpPr>
        <p:spPr>
          <a:xfrm>
            <a:off x="7498080" y="2468880"/>
            <a:ext cx="3931920" cy="2194560"/>
          </a:xfrm>
          <a:prstGeom prst="rect">
            <a:avLst/>
          </a:prstGeom>
          <a:solidFill>
            <a:srgbClr val="FBECEA"/>
          </a:solidFill>
          <a:ln w="9525">
            <a:solidFill>
              <a:srgbClr val="C9D0D9"/>
            </a:solidFill>
            <a:prstDash val="solid"/>
          </a:ln>
        </p:spPr>
      </p:sp>
      <p:sp>
        <p:nvSpPr>
          <p:cNvPr id="11" name="Text 9"/>
          <p:cNvSpPr txBox="1"/>
          <p:nvPr/>
        </p:nvSpPr>
        <p:spPr>
          <a:xfrm>
            <a:off x="7635240" y="2542032"/>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Selected block</a:t>
            </a:r>
            <a:endParaRPr lang="en-US" sz="1600" dirty="0"/>
          </a:p>
        </p:txBody>
      </p:sp>
      <p:sp>
        <p:nvSpPr>
          <p:cNvPr id="12" name="Text 10"/>
          <p:cNvSpPr txBox="1"/>
          <p:nvPr/>
        </p:nvSpPr>
        <p:spPr>
          <a:xfrm>
            <a:off x="7635240" y="2926080"/>
            <a:ext cx="3657600" cy="1645920"/>
          </a:xfrm>
          <a:prstGeom prst="rect">
            <a:avLst/>
          </a:prstGeom>
          <a:noFill/>
          <a:ln/>
        </p:spPr>
        <p:txBody>
          <a:bodyPr wrap="square" lIns="0" tIns="0" rIns="0" bIns="0" rtlCol="0" anchor="t"/>
          <a:lstStyle/>
          <a:p>
            <a:pPr indent="0" marL="0">
              <a:buNone/>
            </a:pPr>
            <a:r>
              <a:rPr lang="en-US" sz="1300" dirty="0">
                <a:solidFill>
                  <a:schemeClr val="tx2"/>
                </a:solidFill>
              </a:rPr>
              <a:t>All properties of the block, and Murphy's failure selector.</a:t>
            </a:r>
            <a:endParaRPr lang="en-US" sz="1300" dirty="0"/>
          </a:p>
        </p:txBody>
      </p:sp>
      <p:sp>
        <p:nvSpPr>
          <p:cNvPr id="13" name="Switches and signals panel"/>
          <p:cNvSpPr/>
          <p:nvPr/>
        </p:nvSpPr>
        <p:spPr>
          <a:xfrm>
            <a:off x="731520" y="4846320"/>
            <a:ext cx="3474720" cy="1234440"/>
          </a:xfrm>
          <a:prstGeom prst="rect">
            <a:avLst/>
          </a:prstGeom>
          <a:solidFill>
            <a:srgbClr val="F2F4F7"/>
          </a:solidFill>
          <a:ln w="9525">
            <a:solidFill>
              <a:srgbClr val="C9D0D9"/>
            </a:solidFill>
            <a:prstDash val="solid"/>
          </a:ln>
        </p:spPr>
      </p:sp>
      <p:sp>
        <p:nvSpPr>
          <p:cNvPr id="14" name="Text 12"/>
          <p:cNvSpPr txBox="1"/>
          <p:nvPr/>
        </p:nvSpPr>
        <p:spPr>
          <a:xfrm>
            <a:off x="868680" y="4919472"/>
            <a:ext cx="3200400" cy="365760"/>
          </a:xfrm>
          <a:prstGeom prst="rect">
            <a:avLst/>
          </a:prstGeom>
          <a:noFill/>
          <a:ln/>
        </p:spPr>
        <p:txBody>
          <a:bodyPr wrap="square" lIns="0" tIns="0" rIns="0" bIns="0" rtlCol="0" anchor="ctr"/>
          <a:lstStyle/>
          <a:p>
            <a:pPr indent="0" marL="0">
              <a:buNone/>
            </a:pPr>
            <a:r>
              <a:rPr lang="en-US" sz="1600" b="1" dirty="0">
                <a:solidFill>
                  <a:schemeClr val="tx1"/>
                </a:solidFill>
              </a:rPr>
              <a:t>Switches and signals</a:t>
            </a:r>
            <a:endParaRPr lang="en-US" sz="1600" dirty="0"/>
          </a:p>
        </p:txBody>
      </p:sp>
      <p:sp>
        <p:nvSpPr>
          <p:cNvPr id="15" name="Text 13"/>
          <p:cNvSpPr txBox="1"/>
          <p:nvPr/>
        </p:nvSpPr>
        <p:spPr>
          <a:xfrm>
            <a:off x="868680" y="5303520"/>
            <a:ext cx="3200400" cy="685800"/>
          </a:xfrm>
          <a:prstGeom prst="rect">
            <a:avLst/>
          </a:prstGeom>
          <a:noFill/>
          <a:ln/>
        </p:spPr>
        <p:txBody>
          <a:bodyPr wrap="square" lIns="0" tIns="0" rIns="0" bIns="0" rtlCol="0" anchor="t"/>
          <a:lstStyle/>
          <a:p>
            <a:pPr indent="0" marL="0">
              <a:buNone/>
            </a:pPr>
            <a:r>
              <a:rPr lang="en-US" sz="1300" dirty="0">
                <a:solidFill>
                  <a:schemeClr val="tx2"/>
                </a:solidFill>
              </a:rPr>
              <a:t>Position and aspect.</a:t>
            </a:r>
            <a:endParaRPr lang="en-US" sz="1300" dirty="0"/>
          </a:p>
        </p:txBody>
      </p:sp>
      <p:sp>
        <p:nvSpPr>
          <p:cNvPr id="16" name="Sections panel"/>
          <p:cNvSpPr/>
          <p:nvPr/>
        </p:nvSpPr>
        <p:spPr>
          <a:xfrm>
            <a:off x="4389120" y="4846320"/>
            <a:ext cx="2926080" cy="1234440"/>
          </a:xfrm>
          <a:prstGeom prst="rect">
            <a:avLst/>
          </a:prstGeom>
          <a:solidFill>
            <a:srgbClr val="F2F4F7"/>
          </a:solidFill>
          <a:ln w="9525">
            <a:solidFill>
              <a:srgbClr val="C9D0D9"/>
            </a:solidFill>
            <a:prstDash val="solid"/>
          </a:ln>
        </p:spPr>
      </p:sp>
      <p:sp>
        <p:nvSpPr>
          <p:cNvPr id="17" name="Text 15"/>
          <p:cNvSpPr txBox="1"/>
          <p:nvPr/>
        </p:nvSpPr>
        <p:spPr>
          <a:xfrm>
            <a:off x="4526280" y="4919472"/>
            <a:ext cx="2651760" cy="365760"/>
          </a:xfrm>
          <a:prstGeom prst="rect">
            <a:avLst/>
          </a:prstGeom>
          <a:noFill/>
          <a:ln/>
        </p:spPr>
        <p:txBody>
          <a:bodyPr wrap="square" lIns="0" tIns="0" rIns="0" bIns="0" rtlCol="0" anchor="ctr"/>
          <a:lstStyle/>
          <a:p>
            <a:pPr indent="0" marL="0">
              <a:buNone/>
            </a:pPr>
            <a:r>
              <a:rPr lang="en-US" sz="1600" b="1" dirty="0">
                <a:solidFill>
                  <a:schemeClr val="tx1"/>
                </a:solidFill>
              </a:rPr>
              <a:t>Sections</a:t>
            </a:r>
            <a:endParaRPr lang="en-US" sz="1600" dirty="0"/>
          </a:p>
        </p:txBody>
      </p:sp>
      <p:sp>
        <p:nvSpPr>
          <p:cNvPr id="18" name="Text 16"/>
          <p:cNvSpPr txBox="1"/>
          <p:nvPr/>
        </p:nvSpPr>
        <p:spPr>
          <a:xfrm>
            <a:off x="4526280" y="5303520"/>
            <a:ext cx="2651760" cy="685800"/>
          </a:xfrm>
          <a:prstGeom prst="rect">
            <a:avLst/>
          </a:prstGeom>
          <a:noFill/>
          <a:ln/>
        </p:spPr>
        <p:txBody>
          <a:bodyPr wrap="square" lIns="0" tIns="0" rIns="0" bIns="0" rtlCol="0" anchor="t"/>
          <a:lstStyle/>
          <a:p>
            <a:pPr indent="0" marL="0">
              <a:buNone/>
            </a:pPr>
            <a:r>
              <a:rPr lang="en-US" sz="1300" dirty="0">
                <a:solidFill>
                  <a:schemeClr val="tx2"/>
                </a:solidFill>
              </a:rPr>
              <a:t>Heater and track temperature.</a:t>
            </a:r>
            <a:endParaRPr lang="en-US" sz="1300" dirty="0"/>
          </a:p>
        </p:txBody>
      </p:sp>
      <p:sp>
        <p:nvSpPr>
          <p:cNvPr id="19" name="Trains and stations panel"/>
          <p:cNvSpPr/>
          <p:nvPr/>
        </p:nvSpPr>
        <p:spPr>
          <a:xfrm>
            <a:off x="7498080" y="4846320"/>
            <a:ext cx="3931920" cy="1234440"/>
          </a:xfrm>
          <a:prstGeom prst="rect">
            <a:avLst/>
          </a:prstGeom>
          <a:solidFill>
            <a:srgbClr val="F2F4F7"/>
          </a:solidFill>
          <a:ln w="9525">
            <a:solidFill>
              <a:srgbClr val="C9D0D9"/>
            </a:solidFill>
            <a:prstDash val="solid"/>
          </a:ln>
        </p:spPr>
      </p:sp>
      <p:sp>
        <p:nvSpPr>
          <p:cNvPr id="20" name="Text 18"/>
          <p:cNvSpPr txBox="1"/>
          <p:nvPr/>
        </p:nvSpPr>
        <p:spPr>
          <a:xfrm>
            <a:off x="7635240" y="4919472"/>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Trains and stations</a:t>
            </a:r>
            <a:endParaRPr lang="en-US" sz="1600" dirty="0"/>
          </a:p>
        </p:txBody>
      </p:sp>
      <p:sp>
        <p:nvSpPr>
          <p:cNvPr id="21" name="Text 19"/>
          <p:cNvSpPr txBox="1"/>
          <p:nvPr/>
        </p:nvSpPr>
        <p:spPr>
          <a:xfrm>
            <a:off x="7635240" y="5303520"/>
            <a:ext cx="3657600" cy="685800"/>
          </a:xfrm>
          <a:prstGeom prst="rect">
            <a:avLst/>
          </a:prstGeom>
          <a:noFill/>
          <a:ln/>
        </p:spPr>
        <p:txBody>
          <a:bodyPr wrap="square" lIns="0" tIns="0" rIns="0" bIns="0" rtlCol="0" anchor="t"/>
          <a:lstStyle/>
          <a:p>
            <a:pPr indent="0" marL="0">
              <a:buNone/>
            </a:pPr>
            <a:r>
              <a:rPr lang="en-US" sz="1300" dirty="0">
                <a:solidFill>
                  <a:schemeClr val="tx2"/>
                </a:solidFill>
              </a:rPr>
              <a:t>Block, offset, speed; waiting passengers.</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Class diagram: module core</a:t>
            </a:r>
            <a:endParaRPr lang="en-US" sz="3400" dirty="0"/>
          </a:p>
        </p:txBody>
      </p:sp>
      <p:sp>
        <p:nvSpPr>
          <p:cNvPr id="3" name="Core class diagram frame"/>
          <p:cNvSpPr/>
          <p:nvPr/>
        </p:nvSpPr>
        <p:spPr>
          <a:xfrm>
            <a:off x="1110382" y="1161288"/>
            <a:ext cx="6740356" cy="5175504"/>
          </a:xfrm>
          <a:prstGeom prst="rect">
            <a:avLst/>
          </a:prstGeom>
          <a:solidFill>
            <a:srgbClr val="FFFFFF"/>
          </a:solidFill>
          <a:ln w="9525">
            <a:solidFill>
              <a:srgbClr val="D5DAE1"/>
            </a:solidFill>
            <a:prstDash val="solid"/>
          </a:ln>
        </p:spPr>
      </p:sp>
      <p:pic>
        <p:nvPicPr>
          <p:cNvPr id="4" name="Core class diagram" descr="Core class diagram">    </p:cNvPr>
          <p:cNvPicPr>
            <a:picLocks noChangeAspect="1"/>
          </p:cNvPicPr>
          <p:nvPr/>
        </p:nvPicPr>
        <p:blipFill>
          <a:blip r:embed="rId1"/>
          <a:stretch>
            <a:fillRect/>
          </a:stretch>
        </p:blipFill>
        <p:spPr>
          <a:xfrm>
            <a:off x="1183534" y="1234440"/>
            <a:ext cx="6594052" cy="5029200"/>
          </a:xfrm>
          <a:prstGeom prst="rect">
            <a:avLst/>
          </a:prstGeom>
        </p:spPr>
      </p:pic>
      <p:sp>
        <p:nvSpPr>
          <p:cNvPr id="5" name="Text 2"/>
          <p:cNvSpPr txBox="1"/>
          <p:nvPr/>
        </p:nvSpPr>
        <p:spPr>
          <a:xfrm>
            <a:off x="8778240" y="1371600"/>
            <a:ext cx="2926080" cy="4754880"/>
          </a:xfrm>
          <a:prstGeom prst="rect">
            <a:avLst/>
          </a:prstGeom>
          <a:noFill/>
          <a:ln/>
        </p:spPr>
        <p:txBody>
          <a:bodyPr wrap="square" lIns="635" tIns="635" rIns="635" bIns="635" rtlCol="0" anchor="t"/>
          <a:lstStyle/>
          <a:p>
            <a:pPr marL="342900" indent="-342900">
              <a:spcAft>
                <a:spcPts val="800"/>
              </a:spcAft>
              <a:buSzPct val="100000"/>
              <a:buChar char="•"/>
            </a:pPr>
            <a:r>
              <a:rPr lang="en-US" sz="1500" b="1" dirty="0">
                <a:solidFill>
                  <a:schemeClr val="tx1"/>
                </a:solidFill>
              </a:rPr>
              <a:t>TrackModel </a:t>
            </a:r>
            <a:pPr indent="0" marL="0">
              <a:spcAft>
                <a:spcPts val="800"/>
              </a:spcAft>
              <a:buNone/>
            </a:pPr>
            <a:r>
              <a:rPr lang="en-US" sz="1500" dirty="0">
                <a:solidFill>
                  <a:schemeClr val="tx1"/>
                </a:solidFill>
              </a:rPr>
              <a:t>holds the state and runs step(): validate, commands, temperatures, trains, tickets, outputs.</a:t>
            </a:r>
            <a:endParaRPr lang="en-US" sz="1500" dirty="0"/>
          </a:p>
          <a:p>
            <a:pPr marL="342900" indent="-342900">
              <a:spcAft>
                <a:spcPts val="800"/>
              </a:spcAft>
              <a:buSzPct val="100000"/>
              <a:buChar char="•"/>
            </a:pPr>
            <a:r>
              <a:rPr lang="en-US" sz="1500" b="1" dirty="0">
                <a:solidFill>
                  <a:schemeClr val="tx1"/>
                </a:solidFill>
              </a:rPr>
              <a:t>Layout </a:t>
            </a:r>
            <a:pPr indent="0" marL="0">
              <a:spcAft>
                <a:spcPts val="800"/>
              </a:spcAft>
              <a:buNone/>
            </a:pPr>
            <a:r>
              <a:rPr lang="en-US" sz="1500" dirty="0">
                <a:solidFill>
                  <a:schemeClr val="tx1"/>
                </a:solidFill>
              </a:rPr>
              <a:t>is the track graph; next_block follows the switches.</a:t>
            </a:r>
            <a:endParaRPr lang="en-US" sz="1500" dirty="0"/>
          </a:p>
          <a:p>
            <a:pPr marL="342900" indent="-342900">
              <a:spcAft>
                <a:spcPts val="800"/>
              </a:spcAft>
              <a:buSzPct val="100000"/>
              <a:buChar char="•"/>
            </a:pPr>
            <a:r>
              <a:rPr lang="en-US" sz="1500" b="1" dirty="0">
                <a:solidFill>
                  <a:schemeClr val="tx1"/>
                </a:solidFill>
              </a:rPr>
              <a:t>Block, Switch </a:t>
            </a:r>
            <a:pPr indent="0" marL="0">
              <a:spcAft>
                <a:spcPts val="800"/>
              </a:spcAft>
              <a:buNone/>
            </a:pPr>
            <a:r>
              <a:rPr lang="en-US" sz="1500" dirty="0">
                <a:solidFill>
                  <a:schemeClr val="tx1"/>
                </a:solidFill>
              </a:rPr>
              <a:t>are frozen records from the layout file.</a:t>
            </a:r>
            <a:endParaRPr lang="en-US" sz="1500" dirty="0"/>
          </a:p>
          <a:p>
            <a:pPr marL="342900" indent="-342900">
              <a:spcAft>
                <a:spcPts val="800"/>
              </a:spcAft>
              <a:buSzPct val="100000"/>
              <a:buChar char="•"/>
            </a:pPr>
            <a:r>
              <a:rPr lang="en-US" sz="1500" b="1" dirty="0">
                <a:solidFill>
                  <a:schemeClr val="tx1"/>
                </a:solidFill>
              </a:rPr>
              <a:t>Errors: </a:t>
            </a:r>
            <a:pPr indent="0" marL="0">
              <a:spcAft>
                <a:spcPts val="800"/>
              </a:spcAft>
              <a:buNone/>
            </a:pPr>
            <a:r>
              <a:rPr lang="en-US" sz="1500" dirty="0">
                <a:solidFill>
                  <a:schemeClr val="tx1"/>
                </a:solidFill>
              </a:rPr>
              <a:t>a tick is rejected whole.</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Class diagram: window and test link</a:t>
            </a:r>
            <a:endParaRPr lang="en-US" sz="3400" dirty="0"/>
          </a:p>
        </p:txBody>
      </p:sp>
      <p:sp>
        <p:nvSpPr>
          <p:cNvPr id="3" name="Window and test link class diagram frame"/>
          <p:cNvSpPr/>
          <p:nvPr/>
        </p:nvSpPr>
        <p:spPr>
          <a:xfrm>
            <a:off x="1028037" y="1161288"/>
            <a:ext cx="4710486" cy="5175504"/>
          </a:xfrm>
          <a:prstGeom prst="rect">
            <a:avLst/>
          </a:prstGeom>
          <a:solidFill>
            <a:srgbClr val="FFFFFF"/>
          </a:solidFill>
          <a:ln w="9525">
            <a:solidFill>
              <a:srgbClr val="D5DAE1"/>
            </a:solidFill>
            <a:prstDash val="solid"/>
          </a:ln>
        </p:spPr>
      </p:sp>
      <p:pic>
        <p:nvPicPr>
          <p:cNvPr id="4" name="Window and test link class diagram" descr="Window and test link class diagram">    </p:cNvPr>
          <p:cNvPicPr>
            <a:picLocks noChangeAspect="1"/>
          </p:cNvPicPr>
          <p:nvPr/>
        </p:nvPicPr>
        <p:blipFill>
          <a:blip r:embed="rId1"/>
          <a:stretch>
            <a:fillRect/>
          </a:stretch>
        </p:blipFill>
        <p:spPr>
          <a:xfrm>
            <a:off x="1101189" y="1234440"/>
            <a:ext cx="4564182" cy="5029200"/>
          </a:xfrm>
          <a:prstGeom prst="rect">
            <a:avLst/>
          </a:prstGeom>
        </p:spPr>
      </p:pic>
      <p:sp>
        <p:nvSpPr>
          <p:cNvPr id="5" name="Text 2"/>
          <p:cNvSpPr txBox="1"/>
          <p:nvPr/>
        </p:nvSpPr>
        <p:spPr>
          <a:xfrm>
            <a:off x="6675120" y="1371600"/>
            <a:ext cx="5029200" cy="4754880"/>
          </a:xfrm>
          <a:prstGeom prst="rect">
            <a:avLst/>
          </a:prstGeom>
          <a:noFill/>
          <a:ln/>
        </p:spPr>
        <p:txBody>
          <a:bodyPr wrap="square" lIns="635" tIns="635" rIns="635" bIns="635" rtlCol="0" anchor="t"/>
          <a:lstStyle/>
          <a:p>
            <a:pPr marL="342900" indent="-342900">
              <a:spcAft>
                <a:spcPts val="800"/>
              </a:spcAft>
              <a:buSzPct val="100000"/>
              <a:buChar char="•"/>
            </a:pPr>
            <a:r>
              <a:rPr lang="en-US" sz="1700" b="1" dirty="0">
                <a:solidFill>
                  <a:schemeClr val="tx1"/>
                </a:solidFill>
              </a:rPr>
              <a:t>TrackModelState </a:t>
            </a:r>
            <a:pPr indent="0" marL="0">
              <a:spcAft>
                <a:spcPts val="800"/>
              </a:spcAft>
              <a:buNone/>
            </a:pPr>
            <a:r>
              <a:rPr lang="en-US" sz="1700" dirty="0">
                <a:solidFill>
                  <a:schemeClr val="tx1"/>
                </a:solidFill>
              </a:rPr>
              <a:t>is the only object the QML talks to; it converts to display units.</a:t>
            </a:r>
            <a:endParaRPr lang="en-US" sz="1700" dirty="0"/>
          </a:p>
          <a:p>
            <a:pPr marL="342900" indent="-342900">
              <a:spcAft>
                <a:spcPts val="800"/>
              </a:spcAft>
              <a:buSzPct val="100000"/>
              <a:buChar char="•"/>
            </a:pPr>
            <a:r>
              <a:rPr lang="en-US" sz="1700" b="1" dirty="0">
                <a:solidFill>
                  <a:schemeClr val="tx1"/>
                </a:solidFill>
              </a:rPr>
              <a:t>LinkServer, LinkClient: </a:t>
            </a:r>
            <a:pPr indent="0" marL="0">
              <a:spcAft>
                <a:spcPts val="800"/>
              </a:spcAft>
              <a:buNone/>
            </a:pPr>
            <a:r>
              <a:rPr lang="en-US" sz="1700" dirty="0">
                <a:solidFill>
                  <a:schemeClr val="tx1"/>
                </a:solidFill>
              </a:rPr>
              <a:t>a local socket carrying JSON lines.</a:t>
            </a:r>
            <a:endParaRPr lang="en-US" sz="1700" dirty="0"/>
          </a:p>
          <a:p>
            <a:pPr marL="342900" indent="-342900">
              <a:spcAft>
                <a:spcPts val="800"/>
              </a:spcAft>
              <a:buSzPct val="100000"/>
              <a:buChar char="•"/>
            </a:pPr>
            <a:r>
              <a:rPr lang="en-US" sz="1700" b="1" dirty="0">
                <a:solidFill>
                  <a:schemeClr val="tx1"/>
                </a:solidFill>
              </a:rPr>
              <a:t>Test harness: </a:t>
            </a:r>
            <a:pPr indent="0" marL="0">
              <a:spcAft>
                <a:spcPts val="800"/>
              </a:spcAft>
              <a:buNone/>
            </a:pPr>
            <a:r>
              <a:rPr lang="en-US" sz="1700" dirty="0">
                <a:solidFill>
                  <a:schemeClr val="tx1"/>
                </a:solidFill>
              </a:rPr>
              <a:t>stands in for the other modules and is removed at integration.</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Sequence: dispatch a train</a:t>
            </a:r>
            <a:endParaRPr lang="en-US" sz="3400" dirty="0"/>
          </a:p>
        </p:txBody>
      </p:sp>
      <p:sp>
        <p:nvSpPr>
          <p:cNvPr id="3" name="System sequence diagram frame"/>
          <p:cNvSpPr/>
          <p:nvPr/>
        </p:nvSpPr>
        <p:spPr>
          <a:xfrm>
            <a:off x="475488" y="1207008"/>
            <a:ext cx="8375904" cy="4134242"/>
          </a:xfrm>
          <a:prstGeom prst="rect">
            <a:avLst/>
          </a:prstGeom>
          <a:solidFill>
            <a:srgbClr val="FFFFFF"/>
          </a:solidFill>
          <a:ln w="9525">
            <a:solidFill>
              <a:srgbClr val="D5DAE1"/>
            </a:solidFill>
            <a:prstDash val="solid"/>
          </a:ln>
        </p:spPr>
      </p:sp>
      <p:pic>
        <p:nvPicPr>
          <p:cNvPr id="4" name="System sequence diagram" descr="System sequence diagram">    </p:cNvPr>
          <p:cNvPicPr>
            <a:picLocks noChangeAspect="1"/>
          </p:cNvPicPr>
          <p:nvPr/>
        </p:nvPicPr>
        <p:blipFill>
          <a:blip r:embed="rId1"/>
          <a:stretch>
            <a:fillRect/>
          </a:stretch>
        </p:blipFill>
        <p:spPr>
          <a:xfrm>
            <a:off x="548640" y="1280160"/>
            <a:ext cx="8229600" cy="3987938"/>
          </a:xfrm>
          <a:prstGeom prst="rect">
            <a:avLst/>
          </a:prstGeom>
        </p:spPr>
      </p:pic>
      <p:sp>
        <p:nvSpPr>
          <p:cNvPr id="5" name="Text 2"/>
          <p:cNvSpPr txBox="1"/>
          <p:nvPr/>
        </p:nvSpPr>
        <p:spPr>
          <a:xfrm>
            <a:off x="9144000" y="1371600"/>
            <a:ext cx="2560320" cy="4572000"/>
          </a:xfrm>
          <a:prstGeom prst="rect">
            <a:avLst/>
          </a:prstGeom>
          <a:noFill/>
          <a:ln/>
        </p:spPr>
        <p:txBody>
          <a:bodyPr wrap="square" lIns="635" tIns="635" rIns="635" bIns="635" rtlCol="0" anchor="t"/>
          <a:lstStyle/>
          <a:p>
            <a:pPr marL="342900" indent="-342900">
              <a:spcAft>
                <a:spcPts val="800"/>
              </a:spcAft>
              <a:buSzPct val="100000"/>
              <a:buChar char="•"/>
            </a:pPr>
            <a:r>
              <a:rPr lang="en-US" sz="1500" b="1" dirty="0">
                <a:solidFill>
                  <a:schemeClr val="tx1"/>
                </a:solidFill>
              </a:rPr>
              <a:t>Per tick: </a:t>
            </a:r>
            <a:pPr indent="0" marL="0">
              <a:spcAft>
                <a:spcPts val="800"/>
              </a:spcAft>
              <a:buNone/>
            </a:pPr>
            <a:r>
              <a:rPr lang="en-US" sz="1500" dirty="0">
                <a:solidFill>
                  <a:schemeClr val="tx1"/>
                </a:solidFill>
              </a:rPr>
              <a:t>commands down, state up.</a:t>
            </a:r>
            <a:endParaRPr lang="en-US" sz="1500" dirty="0"/>
          </a:p>
          <a:p>
            <a:pPr marL="342900" indent="-342900">
              <a:spcAft>
                <a:spcPts val="800"/>
              </a:spcAft>
              <a:buSzPct val="100000"/>
              <a:buChar char="•"/>
            </a:pPr>
            <a:r>
              <a:rPr lang="en-US" sz="1500" b="1" dirty="0">
                <a:solidFill>
                  <a:schemeClr val="tx1"/>
                </a:solidFill>
              </a:rPr>
              <a:t>Direct: </a:t>
            </a:r>
            <a:pPr indent="0" marL="0">
              <a:spcAft>
                <a:spcPts val="800"/>
              </a:spcAft>
              <a:buNone/>
            </a:pPr>
            <a:r>
              <a:rPr lang="en-US" sz="1500" dirty="0">
                <a:solidFill>
                  <a:schemeClr val="tx1"/>
                </a:solidFill>
              </a:rPr>
              <a:t>light seen to the Train controller, tickets to the CTC.</a:t>
            </a:r>
            <a:endParaRPr lang="en-US" sz="1500" dirty="0"/>
          </a:p>
          <a:p>
            <a:pPr marL="342900" indent="-342900">
              <a:spcAft>
                <a:spcPts val="800"/>
              </a:spcAft>
              <a:buSzPct val="100000"/>
              <a:buChar char="•"/>
            </a:pPr>
            <a:r>
              <a:rPr lang="en-US" sz="1500" b="1" dirty="0">
                <a:solidFill>
                  <a:schemeClr val="tx1"/>
                </a:solidFill>
              </a:rPr>
              <a:t>Arrival: </a:t>
            </a:r>
            <a:pPr indent="0" marL="0">
              <a:spcAft>
                <a:spcPts val="800"/>
              </a:spcAft>
              <a:buNone/>
            </a:pPr>
            <a:r>
              <a:rPr lang="en-US" sz="1500" dirty="0">
                <a:solidFill>
                  <a:schemeClr val="tx1"/>
                </a:solidFill>
              </a:rPr>
              <a:t>stop with doors open, boarding.</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Sequence: one tick in the Track Model</a:t>
            </a:r>
            <a:endParaRPr lang="en-US" sz="3400" dirty="0"/>
          </a:p>
        </p:txBody>
      </p:sp>
      <p:sp>
        <p:nvSpPr>
          <p:cNvPr id="3" name="Tick sequence diagram frame"/>
          <p:cNvSpPr/>
          <p:nvPr/>
        </p:nvSpPr>
        <p:spPr>
          <a:xfrm>
            <a:off x="475488" y="1207008"/>
            <a:ext cx="6181344" cy="4146527"/>
          </a:xfrm>
          <a:prstGeom prst="rect">
            <a:avLst/>
          </a:prstGeom>
          <a:solidFill>
            <a:srgbClr val="FFFFFF"/>
          </a:solidFill>
          <a:ln w="9525">
            <a:solidFill>
              <a:srgbClr val="D5DAE1"/>
            </a:solidFill>
            <a:prstDash val="solid"/>
          </a:ln>
        </p:spPr>
      </p:sp>
      <p:pic>
        <p:nvPicPr>
          <p:cNvPr id="4" name="Tick sequence diagram" descr="Tick sequence diagram">    </p:cNvPr>
          <p:cNvPicPr>
            <a:picLocks noChangeAspect="1"/>
          </p:cNvPicPr>
          <p:nvPr/>
        </p:nvPicPr>
        <p:blipFill>
          <a:blip r:embed="rId1"/>
          <a:stretch>
            <a:fillRect/>
          </a:stretch>
        </p:blipFill>
        <p:spPr>
          <a:xfrm>
            <a:off x="548640" y="1280160"/>
            <a:ext cx="6035040" cy="4000223"/>
          </a:xfrm>
          <a:prstGeom prst="rect">
            <a:avLst/>
          </a:prstGeom>
        </p:spPr>
      </p:pic>
      <p:sp>
        <p:nvSpPr>
          <p:cNvPr id="5" name="Text 2"/>
          <p:cNvSpPr txBox="1"/>
          <p:nvPr/>
        </p:nvSpPr>
        <p:spPr>
          <a:xfrm>
            <a:off x="6949440" y="1371600"/>
            <a:ext cx="4754880" cy="4572000"/>
          </a:xfrm>
          <a:prstGeom prst="rect">
            <a:avLst/>
          </a:prstGeom>
          <a:noFill/>
          <a:ln/>
        </p:spPr>
        <p:txBody>
          <a:bodyPr wrap="square" lIns="635" tIns="635" rIns="635" bIns="635" rtlCol="0" anchor="t"/>
          <a:lstStyle/>
          <a:p>
            <a:pPr marL="342900" indent="-342900">
              <a:spcAft>
                <a:spcPts val="800"/>
              </a:spcAft>
              <a:buSzPct val="100000"/>
              <a:buChar char="•"/>
            </a:pPr>
            <a:r>
              <a:rPr lang="en-US" sz="1700" b="1" dirty="0">
                <a:solidFill>
                  <a:schemeClr val="tx1"/>
                </a:solidFill>
              </a:rPr>
              <a:t>Validate first: </a:t>
            </a:r>
            <a:pPr indent="0" marL="0">
              <a:spcAft>
                <a:spcPts val="800"/>
              </a:spcAft>
              <a:buNone/>
            </a:pPr>
            <a:r>
              <a:rPr lang="en-US" sz="1700" dirty="0">
                <a:solidFill>
                  <a:schemeClr val="tx1"/>
                </a:solidFill>
              </a:rPr>
              <a:t>a bad tick changes nothing.</a:t>
            </a:r>
            <a:endParaRPr lang="en-US" sz="1700" dirty="0"/>
          </a:p>
          <a:p>
            <a:pPr marL="342900" indent="-342900">
              <a:spcAft>
                <a:spcPts val="800"/>
              </a:spcAft>
              <a:buSzPct val="100000"/>
              <a:buChar char="•"/>
            </a:pPr>
            <a:r>
              <a:rPr lang="en-US" sz="1700" b="1" dirty="0">
                <a:solidFill>
                  <a:schemeClr val="tx1"/>
                </a:solidFill>
              </a:rPr>
              <a:t>Switches </a:t>
            </a:r>
            <a:pPr indent="0" marL="0">
              <a:spcAft>
                <a:spcPts val="800"/>
              </a:spcAft>
              <a:buNone/>
            </a:pPr>
            <a:r>
              <a:rPr lang="en-US" sz="1700" dirty="0">
                <a:solidFill>
                  <a:schemeClr val="tx1"/>
                </a:solidFill>
              </a:rPr>
              <a:t>move unless their block has lost power.</a:t>
            </a:r>
            <a:endParaRPr lang="en-US" sz="1700" dirty="0"/>
          </a:p>
          <a:p>
            <a:pPr marL="342900" indent="-342900">
              <a:spcAft>
                <a:spcPts val="800"/>
              </a:spcAft>
              <a:buSzPct val="100000"/>
              <a:buChar char="•"/>
            </a:pPr>
            <a:r>
              <a:rPr lang="en-US" sz="1700" b="1" dirty="0">
                <a:solidFill>
                  <a:schemeClr val="tx1"/>
                </a:solidFill>
              </a:rPr>
              <a:t>Trains </a:t>
            </a:r>
            <a:pPr indent="0" marL="0">
              <a:spcAft>
                <a:spcPts val="800"/>
              </a:spcAft>
              <a:buNone/>
            </a:pPr>
            <a:r>
              <a:rPr lang="en-US" sz="1700" dirty="0">
                <a:solidFill>
                  <a:schemeClr val="tx1"/>
                </a:solidFill>
              </a:rPr>
              <a:t>move across blocks through Layout.</a:t>
            </a:r>
            <a:endParaRPr lang="en-US" sz="1700" dirty="0"/>
          </a:p>
          <a:p>
            <a:pPr marL="342900" indent="-342900">
              <a:spcAft>
                <a:spcPts val="800"/>
              </a:spcAft>
              <a:buSzPct val="100000"/>
              <a:buChar char="•"/>
            </a:pPr>
            <a:r>
              <a:rPr lang="en-US" sz="1700" b="1" dirty="0">
                <a:solidFill>
                  <a:schemeClr val="tx1"/>
                </a:solidFill>
              </a:rPr>
              <a:t>Outputs: </a:t>
            </a:r>
            <a:pPr indent="0" marL="0">
              <a:spcAft>
                <a:spcPts val="800"/>
              </a:spcAft>
              <a:buNone/>
            </a:pPr>
            <a:r>
              <a:rPr lang="en-US" sz="1700" dirty="0">
                <a:solidFill>
                  <a:schemeClr val="tx1"/>
                </a:solidFill>
              </a:rPr>
              <a:t>read-back, tickets, feeds, signal seen.</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Sequence: a train crosses a block</a:t>
            </a:r>
            <a:endParaRPr lang="en-US" sz="3400" dirty="0"/>
          </a:p>
        </p:txBody>
      </p:sp>
      <p:sp>
        <p:nvSpPr>
          <p:cNvPr id="3" name="Block change sequence diagram frame"/>
          <p:cNvSpPr/>
          <p:nvPr/>
        </p:nvSpPr>
        <p:spPr>
          <a:xfrm>
            <a:off x="1311180" y="1207008"/>
            <a:ext cx="9539160" cy="4261104"/>
          </a:xfrm>
          <a:prstGeom prst="rect">
            <a:avLst/>
          </a:prstGeom>
          <a:solidFill>
            <a:srgbClr val="FFFFFF"/>
          </a:solidFill>
          <a:ln w="9525">
            <a:solidFill>
              <a:srgbClr val="D5DAE1"/>
            </a:solidFill>
            <a:prstDash val="solid"/>
          </a:ln>
        </p:spPr>
      </p:sp>
      <p:pic>
        <p:nvPicPr>
          <p:cNvPr id="4" name="Block change sequence diagram" descr="Block change sequence diagram">    </p:cNvPr>
          <p:cNvPicPr>
            <a:picLocks noChangeAspect="1"/>
          </p:cNvPicPr>
          <p:nvPr/>
        </p:nvPicPr>
        <p:blipFill>
          <a:blip r:embed="rId1"/>
          <a:stretch>
            <a:fillRect/>
          </a:stretch>
        </p:blipFill>
        <p:spPr>
          <a:xfrm>
            <a:off x="1384332" y="1280160"/>
            <a:ext cx="9392856" cy="4114800"/>
          </a:xfrm>
          <a:prstGeom prst="rect">
            <a:avLst/>
          </a:prstGeom>
        </p:spPr>
      </p:pic>
      <p:sp>
        <p:nvSpPr>
          <p:cNvPr id="5" name="Text 2"/>
          <p:cNvSpPr txBox="1"/>
          <p:nvPr/>
        </p:nvSpPr>
        <p:spPr>
          <a:xfrm>
            <a:off x="548640" y="5577840"/>
            <a:ext cx="11064240" cy="731520"/>
          </a:xfrm>
          <a:prstGeom prst="rect">
            <a:avLst/>
          </a:prstGeom>
          <a:noFill/>
          <a:ln/>
        </p:spPr>
        <p:txBody>
          <a:bodyPr wrap="square" lIns="0" tIns="0" rIns="0" bIns="0" rtlCol="0" anchor="ctr"/>
          <a:lstStyle/>
          <a:p>
            <a:pPr indent="0" marL="0">
              <a:buNone/>
            </a:pPr>
            <a:r>
              <a:rPr lang="en-US" sz="1700" dirty="0">
                <a:solidFill>
                  <a:schemeClr val="tx2"/>
                </a:solidFill>
              </a:rPr>
              <a:t>The Train Model restarts its offset at 0 in each block. The Track Model keeps the overshoot (the carry), so position stays exact, forward or rolling back.</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Sequence: Murphy injects a failure</a:t>
            </a:r>
            <a:endParaRPr lang="en-US" sz="3400" dirty="0"/>
          </a:p>
        </p:txBody>
      </p:sp>
      <p:sp>
        <p:nvSpPr>
          <p:cNvPr id="3" name="Failure sequence diagram frame"/>
          <p:cNvSpPr/>
          <p:nvPr/>
        </p:nvSpPr>
        <p:spPr>
          <a:xfrm>
            <a:off x="475488" y="1207008"/>
            <a:ext cx="11210544" cy="4145053"/>
          </a:xfrm>
          <a:prstGeom prst="rect">
            <a:avLst/>
          </a:prstGeom>
          <a:solidFill>
            <a:srgbClr val="FFFFFF"/>
          </a:solidFill>
          <a:ln w="9525">
            <a:solidFill>
              <a:srgbClr val="D5DAE1"/>
            </a:solidFill>
            <a:prstDash val="solid"/>
          </a:ln>
        </p:spPr>
      </p:sp>
      <p:pic>
        <p:nvPicPr>
          <p:cNvPr id="4" name="Failure sequence diagram" descr="Failure sequence diagram">    </p:cNvPr>
          <p:cNvPicPr>
            <a:picLocks noChangeAspect="1"/>
          </p:cNvPicPr>
          <p:nvPr/>
        </p:nvPicPr>
        <p:blipFill>
          <a:blip r:embed="rId1"/>
          <a:stretch>
            <a:fillRect/>
          </a:stretch>
        </p:blipFill>
        <p:spPr>
          <a:xfrm>
            <a:off x="548640" y="1280160"/>
            <a:ext cx="11064240" cy="3998749"/>
          </a:xfrm>
          <a:prstGeom prst="rect">
            <a:avLst/>
          </a:prstGeom>
        </p:spPr>
      </p:pic>
      <p:sp>
        <p:nvSpPr>
          <p:cNvPr id="5" name="Text 2"/>
          <p:cNvSpPr txBox="1"/>
          <p:nvPr/>
        </p:nvSpPr>
        <p:spPr>
          <a:xfrm>
            <a:off x="548640" y="5577840"/>
            <a:ext cx="11064240" cy="731520"/>
          </a:xfrm>
          <a:prstGeom prst="rect">
            <a:avLst/>
          </a:prstGeom>
          <a:noFill/>
          <a:ln/>
        </p:spPr>
        <p:txBody>
          <a:bodyPr wrap="square" lIns="0" tIns="0" rIns="0" bIns="0" rtlCol="0" anchor="ctr"/>
          <a:lstStyle/>
          <a:p>
            <a:pPr indent="0" marL="0">
              <a:buNone/>
            </a:pPr>
            <a:r>
              <a:rPr lang="en-US" sz="1700" dirty="0">
                <a:solidFill>
                  <a:schemeClr val="tx2"/>
                </a:solidFill>
              </a:rPr>
              <a:t>Every failure reads occupied and cuts the track circuit: the train gets speed 0 and authority 0. A power failure also holds the switch, shows red and drops the gates.</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Sequence: tickets and boarding</a:t>
            </a:r>
            <a:endParaRPr lang="en-US" sz="3400" dirty="0"/>
          </a:p>
        </p:txBody>
      </p:sp>
      <p:sp>
        <p:nvSpPr>
          <p:cNvPr id="3" name="Station sequence diagram frame"/>
          <p:cNvSpPr/>
          <p:nvPr/>
        </p:nvSpPr>
        <p:spPr>
          <a:xfrm>
            <a:off x="475488" y="1207008"/>
            <a:ext cx="11210544" cy="3576377"/>
          </a:xfrm>
          <a:prstGeom prst="rect">
            <a:avLst/>
          </a:prstGeom>
          <a:solidFill>
            <a:srgbClr val="FFFFFF"/>
          </a:solidFill>
          <a:ln w="9525">
            <a:solidFill>
              <a:srgbClr val="D5DAE1"/>
            </a:solidFill>
            <a:prstDash val="solid"/>
          </a:ln>
        </p:spPr>
      </p:sp>
      <p:pic>
        <p:nvPicPr>
          <p:cNvPr id="4" name="Station sequence diagram" descr="Station sequence diagram">    </p:cNvPr>
          <p:cNvPicPr>
            <a:picLocks noChangeAspect="1"/>
          </p:cNvPicPr>
          <p:nvPr/>
        </p:nvPicPr>
        <p:blipFill>
          <a:blip r:embed="rId1"/>
          <a:stretch>
            <a:fillRect/>
          </a:stretch>
        </p:blipFill>
        <p:spPr>
          <a:xfrm>
            <a:off x="548640" y="1280160"/>
            <a:ext cx="11064240" cy="3430073"/>
          </a:xfrm>
          <a:prstGeom prst="rect">
            <a:avLst/>
          </a:prstGeom>
        </p:spPr>
      </p:pic>
      <p:sp>
        <p:nvSpPr>
          <p:cNvPr id="5" name="station note 1"/>
          <p:cNvSpPr/>
          <p:nvPr/>
        </p:nvSpPr>
        <p:spPr>
          <a:xfrm>
            <a:off x="548640" y="4983480"/>
            <a:ext cx="3566160" cy="1280160"/>
          </a:xfrm>
          <a:prstGeom prst="roundRect">
            <a:avLst>
              <a:gd name="adj" fmla="val 5714"/>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731520" y="5029200"/>
            <a:ext cx="3200400" cy="1188720"/>
          </a:xfrm>
          <a:prstGeom prst="rect">
            <a:avLst/>
          </a:prstGeom>
          <a:noFill/>
          <a:ln/>
        </p:spPr>
        <p:txBody>
          <a:bodyPr wrap="square" lIns="0" tIns="0" rIns="0" bIns="0" rtlCol="0" anchor="ctr"/>
          <a:lstStyle/>
          <a:p>
            <a:pPr indent="0" marL="0">
              <a:buNone/>
            </a:pPr>
            <a:r>
              <a:rPr lang="en-US" sz="1500" b="1" dirty="0">
                <a:solidFill>
                  <a:schemeClr val="tx1"/>
                </a:solidFill>
              </a:rPr>
              <a:t>Tickets: </a:t>
            </a:r>
            <a:pPr indent="0" marL="0">
              <a:buNone/>
            </a:pPr>
            <a:r>
              <a:rPr lang="en-US" sz="1500" dirty="0">
                <a:solidFill>
                  <a:schemeClr val="tx1"/>
                </a:solidFill>
              </a:rPr>
              <a:t>Each station may sell one per tick; sales go to the CTC as events.</a:t>
            </a:r>
            <a:endParaRPr lang="en-US" sz="1500" dirty="0"/>
          </a:p>
        </p:txBody>
      </p:sp>
      <p:sp>
        <p:nvSpPr>
          <p:cNvPr id="7" name="station note 2"/>
          <p:cNvSpPr/>
          <p:nvPr/>
        </p:nvSpPr>
        <p:spPr>
          <a:xfrm>
            <a:off x="4297680" y="4983480"/>
            <a:ext cx="3566160" cy="1280160"/>
          </a:xfrm>
          <a:prstGeom prst="roundRect">
            <a:avLst>
              <a:gd name="adj" fmla="val 5714"/>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4480560" y="5029200"/>
            <a:ext cx="3200400" cy="1188720"/>
          </a:xfrm>
          <a:prstGeom prst="rect">
            <a:avLst/>
          </a:prstGeom>
          <a:noFill/>
          <a:ln/>
        </p:spPr>
        <p:txBody>
          <a:bodyPr wrap="square" lIns="0" tIns="0" rIns="0" bIns="0" rtlCol="0" anchor="ctr"/>
          <a:lstStyle/>
          <a:p>
            <a:pPr indent="0" marL="0">
              <a:buNone/>
            </a:pPr>
            <a:r>
              <a:rPr lang="en-US" sz="1500" b="1" dirty="0">
                <a:solidFill>
                  <a:schemeClr val="tx1"/>
                </a:solidFill>
              </a:rPr>
              <a:t>Boarding: </a:t>
            </a:r>
            <a:pPr indent="0" marL="0">
              <a:buNone/>
            </a:pPr>
            <a:r>
              <a:rPr lang="en-US" sz="1500" dirty="0">
                <a:solidFill>
                  <a:schemeClr val="tx1"/>
                </a:solidFill>
              </a:rPr>
              <a:t>Only when stopped in a station block with a door open.</a:t>
            </a:r>
            <a:endParaRPr lang="en-US" sz="1500" dirty="0"/>
          </a:p>
        </p:txBody>
      </p:sp>
      <p:sp>
        <p:nvSpPr>
          <p:cNvPr id="9" name="station note 3"/>
          <p:cNvSpPr/>
          <p:nvPr/>
        </p:nvSpPr>
        <p:spPr>
          <a:xfrm>
            <a:off x="8046720" y="4983480"/>
            <a:ext cx="3566160" cy="1280160"/>
          </a:xfrm>
          <a:prstGeom prst="roundRect">
            <a:avLst>
              <a:gd name="adj" fmla="val 5714"/>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8229600" y="5029200"/>
            <a:ext cx="3200400" cy="1188720"/>
          </a:xfrm>
          <a:prstGeom prst="rect">
            <a:avLst/>
          </a:prstGeom>
          <a:noFill/>
          <a:ln/>
        </p:spPr>
        <p:txBody>
          <a:bodyPr wrap="square" lIns="0" tIns="0" rIns="0" bIns="0" rtlCol="0" anchor="ctr"/>
          <a:lstStyle/>
          <a:p>
            <a:pPr indent="0" marL="0">
              <a:buNone/>
            </a:pPr>
            <a:r>
              <a:rPr lang="en-US" sz="1500" b="1" dirty="0">
                <a:solidFill>
                  <a:schemeClr val="tx1"/>
                </a:solidFill>
              </a:rPr>
              <a:t>No total: </a:t>
            </a:r>
            <a:pPr indent="0" marL="0">
              <a:buNone/>
            </a:pPr>
            <a:r>
              <a:rPr lang="en-US" sz="1500" dirty="0">
                <a:solidFill>
                  <a:schemeClr val="tx1"/>
                </a:solidFill>
              </a:rPr>
              <a:t>The Track Model keeps no running total.</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Block state machine</a:t>
            </a:r>
            <a:endParaRPr lang="en-US" sz="3400" dirty="0"/>
          </a:p>
        </p:txBody>
      </p:sp>
      <p:sp>
        <p:nvSpPr>
          <p:cNvPr id="3" name="Block state diagram frame"/>
          <p:cNvSpPr/>
          <p:nvPr/>
        </p:nvSpPr>
        <p:spPr>
          <a:xfrm>
            <a:off x="475488" y="1207008"/>
            <a:ext cx="7278624" cy="4965756"/>
          </a:xfrm>
          <a:prstGeom prst="rect">
            <a:avLst/>
          </a:prstGeom>
          <a:solidFill>
            <a:srgbClr val="FFFFFF"/>
          </a:solidFill>
          <a:ln w="9525">
            <a:solidFill>
              <a:srgbClr val="D5DAE1"/>
            </a:solidFill>
            <a:prstDash val="solid"/>
          </a:ln>
        </p:spPr>
      </p:sp>
      <p:pic>
        <p:nvPicPr>
          <p:cNvPr id="4" name="Block state diagram" descr="Block state diagram">    </p:cNvPr>
          <p:cNvPicPr>
            <a:picLocks noChangeAspect="1"/>
          </p:cNvPicPr>
          <p:nvPr/>
        </p:nvPicPr>
        <p:blipFill>
          <a:blip r:embed="rId1"/>
          <a:stretch>
            <a:fillRect/>
          </a:stretch>
        </p:blipFill>
        <p:spPr>
          <a:xfrm>
            <a:off x="548640" y="1280160"/>
            <a:ext cx="7132320" cy="4819452"/>
          </a:xfrm>
          <a:prstGeom prst="rect">
            <a:avLst/>
          </a:prstGeom>
        </p:spPr>
      </p:pic>
      <p:sp>
        <p:nvSpPr>
          <p:cNvPr id="5" name="Text 2"/>
          <p:cNvSpPr txBox="1"/>
          <p:nvPr/>
        </p:nvSpPr>
        <p:spPr>
          <a:xfrm>
            <a:off x="8138160" y="1371600"/>
            <a:ext cx="3566160" cy="4572000"/>
          </a:xfrm>
          <a:prstGeom prst="rect">
            <a:avLst/>
          </a:prstGeom>
          <a:noFill/>
          <a:ln/>
        </p:spPr>
        <p:txBody>
          <a:bodyPr wrap="square" lIns="635" tIns="635" rIns="635" bIns="635" rtlCol="0" anchor="t"/>
          <a:lstStyle/>
          <a:p>
            <a:pPr marL="342900" indent="-342900">
              <a:spcAft>
                <a:spcPts val="800"/>
              </a:spcAft>
              <a:buSzPct val="100000"/>
              <a:buChar char="•"/>
            </a:pPr>
            <a:r>
              <a:rPr lang="en-US" sz="1700" b="1" dirty="0">
                <a:solidFill>
                  <a:schemeClr val="tx1"/>
                </a:solidFill>
              </a:rPr>
              <a:t>Unoccupied / Occupied </a:t>
            </a:r>
            <a:pPr indent="0" marL="0">
              <a:spcAft>
                <a:spcPts val="800"/>
              </a:spcAft>
              <a:buNone/>
            </a:pPr>
            <a:r>
              <a:rPr lang="en-US" sz="1700" dirty="0">
                <a:solidFill>
                  <a:schemeClr val="tx1"/>
                </a:solidFill>
              </a:rPr>
              <a:t>follow the train.</a:t>
            </a:r>
            <a:endParaRPr lang="en-US" sz="1700" dirty="0"/>
          </a:p>
          <a:p>
            <a:pPr marL="342900" indent="-342900">
              <a:spcAft>
                <a:spcPts val="800"/>
              </a:spcAft>
              <a:buSzPct val="100000"/>
              <a:buChar char="•"/>
            </a:pPr>
            <a:r>
              <a:rPr lang="en-US" sz="1700" b="1" dirty="0">
                <a:solidFill>
                  <a:schemeClr val="tx1"/>
                </a:solidFill>
              </a:rPr>
              <a:t>Failed </a:t>
            </a:r>
            <a:pPr indent="0" marL="0">
              <a:spcAft>
                <a:spcPts val="800"/>
              </a:spcAft>
              <a:buNone/>
            </a:pPr>
            <a:r>
              <a:rPr lang="en-US" sz="1700" dirty="0">
                <a:solidFill>
                  <a:schemeClr val="tx1"/>
                </a:solidFill>
              </a:rPr>
              <a:t>overrides both and reads occupied.</a:t>
            </a:r>
            <a:endParaRPr lang="en-US" sz="1700" dirty="0"/>
          </a:p>
          <a:p>
            <a:pPr marL="342900" indent="-342900">
              <a:spcAft>
                <a:spcPts val="800"/>
              </a:spcAft>
              <a:buSzPct val="100000"/>
              <a:buChar char="•"/>
            </a:pPr>
            <a:r>
              <a:rPr lang="en-US" sz="1700" b="1" dirty="0">
                <a:solidFill>
                  <a:schemeClr val="tx1"/>
                </a:solidFill>
              </a:rPr>
              <a:t>Cleared </a:t>
            </a:r>
            <a:pPr indent="0" marL="0">
              <a:spcAft>
                <a:spcPts val="800"/>
              </a:spcAft>
              <a:buNone/>
            </a:pPr>
            <a:r>
              <a:rPr lang="en-US" sz="1700" dirty="0">
                <a:solidFill>
                  <a:schemeClr val="tx1"/>
                </a:solidFill>
              </a:rPr>
              <a:t>returns by train presence.</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Deployment</a:t>
            </a:r>
            <a:endParaRPr lang="en-US" sz="3400" dirty="0"/>
          </a:p>
        </p:txBody>
      </p:sp>
      <p:sp>
        <p:nvSpPr>
          <p:cNvPr id="3" name="Deployment diagram frame"/>
          <p:cNvSpPr/>
          <p:nvPr/>
        </p:nvSpPr>
        <p:spPr>
          <a:xfrm>
            <a:off x="475488" y="1207008"/>
            <a:ext cx="11210544" cy="2730108"/>
          </a:xfrm>
          <a:prstGeom prst="rect">
            <a:avLst/>
          </a:prstGeom>
          <a:solidFill>
            <a:srgbClr val="FFFFFF"/>
          </a:solidFill>
          <a:ln w="9525">
            <a:solidFill>
              <a:srgbClr val="D5DAE1"/>
            </a:solidFill>
            <a:prstDash val="solid"/>
          </a:ln>
        </p:spPr>
      </p:sp>
      <p:pic>
        <p:nvPicPr>
          <p:cNvPr id="4" name="Deployment diagram" descr="Deployment diagram">    </p:cNvPr>
          <p:cNvPicPr>
            <a:picLocks noChangeAspect="1"/>
          </p:cNvPicPr>
          <p:nvPr/>
        </p:nvPicPr>
        <p:blipFill>
          <a:blip r:embed="rId1"/>
          <a:stretch>
            <a:fillRect/>
          </a:stretch>
        </p:blipFill>
        <p:spPr>
          <a:xfrm>
            <a:off x="548640" y="1280160"/>
            <a:ext cx="11064240" cy="2583804"/>
          </a:xfrm>
          <a:prstGeom prst="rect">
            <a:avLst/>
          </a:prstGeom>
        </p:spPr>
      </p:pic>
      <p:sp>
        <p:nvSpPr>
          <p:cNvPr id="5" name="deploy note 1"/>
          <p:cNvSpPr/>
          <p:nvPr/>
        </p:nvSpPr>
        <p:spPr>
          <a:xfrm>
            <a:off x="548640" y="4846320"/>
            <a:ext cx="3566160" cy="1371600"/>
          </a:xfrm>
          <a:prstGeom prst="roundRect">
            <a:avLst>
              <a:gd name="adj" fmla="val 5333"/>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731520" y="4892040"/>
            <a:ext cx="3200400" cy="1280160"/>
          </a:xfrm>
          <a:prstGeom prst="rect">
            <a:avLst/>
          </a:prstGeom>
          <a:noFill/>
          <a:ln/>
        </p:spPr>
        <p:txBody>
          <a:bodyPr wrap="square" lIns="0" tIns="0" rIns="0" bIns="0" rtlCol="0" anchor="ctr"/>
          <a:lstStyle/>
          <a:p>
            <a:pPr indent="0" marL="0">
              <a:buNone/>
            </a:pPr>
            <a:r>
              <a:rPr lang="en-US" sz="1500" b="1" dirty="0">
                <a:solidFill>
                  <a:schemeClr val="tx1"/>
                </a:solidFill>
              </a:rPr>
              <a:t>Windows 11 PC: </a:t>
            </a:r>
            <a:pPr indent="0" marL="0">
              <a:buNone/>
            </a:pPr>
            <a:r>
              <a:rPr lang="en-US" sz="1500" dirty="0">
                <a:solidFill>
                  <a:schemeClr val="tx1"/>
                </a:solidFill>
              </a:rPr>
              <a:t>One executable. The harness starts a process per module.</a:t>
            </a:r>
            <a:endParaRPr lang="en-US" sz="1500" dirty="0"/>
          </a:p>
        </p:txBody>
      </p:sp>
      <p:sp>
        <p:nvSpPr>
          <p:cNvPr id="7" name="deploy note 2"/>
          <p:cNvSpPr/>
          <p:nvPr/>
        </p:nvSpPr>
        <p:spPr>
          <a:xfrm>
            <a:off x="4297680" y="4846320"/>
            <a:ext cx="3566160" cy="1371600"/>
          </a:xfrm>
          <a:prstGeom prst="roundRect">
            <a:avLst>
              <a:gd name="adj" fmla="val 5333"/>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4480560" y="4892040"/>
            <a:ext cx="3200400" cy="1280160"/>
          </a:xfrm>
          <a:prstGeom prst="rect">
            <a:avLst/>
          </a:prstGeom>
          <a:noFill/>
          <a:ln/>
        </p:spPr>
        <p:txBody>
          <a:bodyPr wrap="square" lIns="0" tIns="0" rIns="0" bIns="0" rtlCol="0" anchor="ctr"/>
          <a:lstStyle/>
          <a:p>
            <a:pPr indent="0" marL="0">
              <a:buNone/>
            </a:pPr>
            <a:r>
              <a:rPr lang="en-US" sz="1500" b="1" dirty="0">
                <a:solidFill>
                  <a:schemeClr val="tx1"/>
                </a:solidFill>
              </a:rPr>
              <a:t>Newline JSON: </a:t>
            </a:r>
            <a:pPr indent="0" marL="0">
              <a:buNone/>
            </a:pPr>
            <a:r>
              <a:rPr lang="en-US" sz="1500" dirty="0">
                <a:solidFill>
                  <a:schemeClr val="tx1"/>
                </a:solidFill>
              </a:rPr>
              <a:t>Messages carry a request ID and the tick number.</a:t>
            </a:r>
            <a:endParaRPr lang="en-US" sz="1500" dirty="0"/>
          </a:p>
        </p:txBody>
      </p:sp>
      <p:sp>
        <p:nvSpPr>
          <p:cNvPr id="9" name="deploy note 3"/>
          <p:cNvSpPr/>
          <p:nvPr/>
        </p:nvSpPr>
        <p:spPr>
          <a:xfrm>
            <a:off x="8046720" y="4846320"/>
            <a:ext cx="3566160" cy="1371600"/>
          </a:xfrm>
          <a:prstGeom prst="roundRect">
            <a:avLst>
              <a:gd name="adj" fmla="val 5333"/>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8229600" y="4892040"/>
            <a:ext cx="3200400" cy="1280160"/>
          </a:xfrm>
          <a:prstGeom prst="rect">
            <a:avLst/>
          </a:prstGeom>
          <a:noFill/>
          <a:ln/>
        </p:spPr>
        <p:txBody>
          <a:bodyPr wrap="square" lIns="0" tIns="0" rIns="0" bIns="0" rtlCol="0" anchor="ctr"/>
          <a:lstStyle/>
          <a:p>
            <a:pPr indent="0" marL="0">
              <a:buNone/>
            </a:pPr>
            <a:r>
              <a:rPr lang="en-US" sz="1500" b="1" dirty="0">
                <a:solidFill>
                  <a:schemeClr val="tx1"/>
                </a:solidFill>
              </a:rPr>
              <a:t>Raspberry Pis: </a:t>
            </a:r>
            <a:pPr indent="0" marL="0">
              <a:buNone/>
            </a:pPr>
            <a:r>
              <a:rPr lang="en-US" sz="1500" dirty="0">
                <a:solidFill>
                  <a:schemeClr val="tx1"/>
                </a:solidFill>
              </a:rPr>
              <a:t>Hardware variants over USB serial; their windows run on the PC.</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Decisions and open items</a:t>
            </a:r>
            <a:endParaRPr lang="en-US" sz="3400" dirty="0"/>
          </a:p>
        </p:txBody>
      </p:sp>
      <p:sp>
        <p:nvSpPr>
          <p:cNvPr id="3" name="decisions card"/>
          <p:cNvSpPr/>
          <p:nvPr/>
        </p:nvSpPr>
        <p:spPr>
          <a:xfrm>
            <a:off x="548640" y="1280160"/>
            <a:ext cx="5394960" cy="4937760"/>
          </a:xfrm>
          <a:prstGeom prst="roundRect">
            <a:avLst>
              <a:gd name="adj" fmla="val 1481"/>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417320"/>
            <a:ext cx="4846320" cy="457200"/>
          </a:xfrm>
          <a:prstGeom prst="rect">
            <a:avLst/>
          </a:prstGeom>
          <a:noFill/>
          <a:ln/>
        </p:spPr>
        <p:txBody>
          <a:bodyPr wrap="square" lIns="0" tIns="0" rIns="0" bIns="0" rtlCol="0" anchor="ctr"/>
          <a:lstStyle/>
          <a:p>
            <a:pPr indent="0" marL="0">
              <a:buNone/>
            </a:pPr>
            <a:r>
              <a:rPr lang="en-US" sz="2200" b="1" dirty="0">
                <a:solidFill>
                  <a:schemeClr val="tx1"/>
                </a:solidFill>
              </a:rPr>
              <a:t>Decisions on record</a:t>
            </a:r>
            <a:endParaRPr lang="en-US" sz="2200" dirty="0"/>
          </a:p>
        </p:txBody>
      </p:sp>
      <p:sp>
        <p:nvSpPr>
          <p:cNvPr id="5" name="Text 3"/>
          <p:cNvSpPr txBox="1"/>
          <p:nvPr/>
        </p:nvSpPr>
        <p:spPr>
          <a:xfrm>
            <a:off x="822960" y="2011680"/>
            <a:ext cx="4846320" cy="402336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D005: central harness, pure edge functions</a:t>
            </a:r>
            <a:endParaRPr lang="en-US" sz="1700" dirty="0"/>
          </a:p>
          <a:p>
            <a:pPr marL="342900" indent="-342900">
              <a:spcAft>
                <a:spcPts val="800"/>
              </a:spcAft>
              <a:buSzPct val="100000"/>
              <a:buChar char="•"/>
            </a:pPr>
            <a:r>
              <a:rPr lang="en-US" sz="1700" dirty="0">
                <a:solidFill>
                  <a:schemeClr val="tx1"/>
                </a:solidFill>
              </a:rPr>
              <a:t>D002, D013: SI units, authority in blocks</a:t>
            </a:r>
            <a:endParaRPr lang="en-US" sz="1700" dirty="0"/>
          </a:p>
          <a:p>
            <a:pPr marL="342900" indent="-342900">
              <a:spcAft>
                <a:spcPts val="800"/>
              </a:spcAft>
              <a:buSzPct val="100000"/>
              <a:buChar char="•"/>
            </a:pPr>
            <a:r>
              <a:rPr lang="en-US" sz="1700" dirty="0">
                <a:solidFill>
                  <a:schemeClr val="tx1"/>
                </a:solidFill>
              </a:rPr>
              <a:t>D006, D017: fixed 0.1 s tick, one shared clock</a:t>
            </a:r>
            <a:endParaRPr lang="en-US" sz="1700" dirty="0"/>
          </a:p>
          <a:p>
            <a:pPr marL="342900" indent="-342900">
              <a:spcAft>
                <a:spcPts val="800"/>
              </a:spcAft>
              <a:buSzPct val="100000"/>
              <a:buChar char="•"/>
            </a:pPr>
            <a:r>
              <a:rPr lang="en-US" sz="1700" dirty="0">
                <a:solidFill>
                  <a:schemeClr val="tx1"/>
                </a:solidFill>
              </a:rPr>
              <a:t>D023: Blue Line out of scope</a:t>
            </a:r>
            <a:endParaRPr lang="en-US" sz="1700" dirty="0"/>
          </a:p>
          <a:p>
            <a:pPr marL="342900" indent="-342900">
              <a:spcAft>
                <a:spcPts val="800"/>
              </a:spcAft>
              <a:buSzPct val="100000"/>
              <a:buChar char="•"/>
            </a:pPr>
            <a:r>
              <a:rPr lang="en-US" sz="1700" dirty="0">
                <a:solidFill>
                  <a:schemeClr val="tx1"/>
                </a:solidFill>
              </a:rPr>
              <a:t>D026: Track Model switches the heaters</a:t>
            </a:r>
            <a:endParaRPr lang="en-US" sz="1700" dirty="0"/>
          </a:p>
        </p:txBody>
      </p:sp>
      <p:sp>
        <p:nvSpPr>
          <p:cNvPr id="6" name="open items card"/>
          <p:cNvSpPr/>
          <p:nvPr/>
        </p:nvSpPr>
        <p:spPr>
          <a:xfrm>
            <a:off x="6217920" y="1280160"/>
            <a:ext cx="5394960" cy="4937760"/>
          </a:xfrm>
          <a:prstGeom prst="roundRect">
            <a:avLst>
              <a:gd name="adj" fmla="val 1481"/>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492240" y="1417320"/>
            <a:ext cx="4846320" cy="457200"/>
          </a:xfrm>
          <a:prstGeom prst="rect">
            <a:avLst/>
          </a:prstGeom>
          <a:noFill/>
          <a:ln/>
        </p:spPr>
        <p:txBody>
          <a:bodyPr wrap="square" lIns="0" tIns="0" rIns="0" bIns="0" rtlCol="0" anchor="ctr"/>
          <a:lstStyle/>
          <a:p>
            <a:pPr indent="0" marL="0">
              <a:buNone/>
            </a:pPr>
            <a:r>
              <a:rPr lang="en-US" sz="2200" b="1" dirty="0">
                <a:solidFill>
                  <a:schemeClr val="tx1"/>
                </a:solidFill>
              </a:rPr>
              <a:t>Still open</a:t>
            </a:r>
            <a:endParaRPr lang="en-US" sz="2200" dirty="0"/>
          </a:p>
        </p:txBody>
      </p:sp>
      <p:sp>
        <p:nvSpPr>
          <p:cNvPr id="8" name="Text 6"/>
          <p:cNvSpPr txBox="1"/>
          <p:nvPr/>
        </p:nvSpPr>
        <p:spPr>
          <a:xfrm>
            <a:off x="6492240" y="2011680"/>
            <a:ext cx="4846320" cy="402336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Heater switching rule (D026)</a:t>
            </a:r>
            <a:endParaRPr lang="en-US" sz="1700" dirty="0"/>
          </a:p>
          <a:p>
            <a:pPr marL="342900" indent="-342900">
              <a:spcAft>
                <a:spcPts val="800"/>
              </a:spcAft>
              <a:buSzPct val="100000"/>
              <a:buChar char="•"/>
            </a:pPr>
            <a:r>
              <a:rPr lang="en-US" sz="1700" dirty="0">
                <a:solidFill>
                  <a:schemeClr val="tx1"/>
                </a:solidFill>
              </a:rPr>
              <a:t>Signal light seen: agree with the Train controller</a:t>
            </a:r>
            <a:endParaRPr lang="en-US" sz="1700" dirty="0"/>
          </a:p>
          <a:p>
            <a:pPr marL="342900" indent="-342900">
              <a:spcAft>
                <a:spcPts val="800"/>
              </a:spcAft>
              <a:buSzPct val="100000"/>
              <a:buChar char="•"/>
            </a:pPr>
            <a:r>
              <a:rPr lang="en-US" sz="1700" dirty="0">
                <a:solidFill>
                  <a:schemeClr val="tx1"/>
                </a:solidFill>
              </a:rPr>
              <a:t>Platform side LR: the Train model accepts L or R</a:t>
            </a:r>
            <a:endParaRPr lang="en-US" sz="1700" dirty="0"/>
          </a:p>
          <a:p>
            <a:pPr marL="342900" indent="-342900">
              <a:spcAft>
                <a:spcPts val="800"/>
              </a:spcAft>
              <a:buSzPct val="100000"/>
              <a:buChar char="•"/>
            </a:pPr>
            <a:r>
              <a:rPr lang="en-US" sz="1700" dirty="0">
                <a:solidFill>
                  <a:schemeClr val="tx1"/>
                </a:solidFill>
              </a:rPr>
              <a:t>Disembarking is not an input yet</a:t>
            </a:r>
            <a:endParaRPr lang="en-US" sz="1700" dirty="0"/>
          </a:p>
          <a:p>
            <a:pPr marL="342900" indent="-342900">
              <a:spcAft>
                <a:spcPts val="800"/>
              </a:spcAft>
              <a:buSzPct val="100000"/>
              <a:buChar char="•"/>
            </a:pPr>
            <a:r>
              <a:rPr lang="en-US" sz="1700" dirty="0">
                <a:solidFill>
                  <a:schemeClr val="tx1"/>
                </a:solidFill>
              </a:rPr>
              <a:t>Is the track signal cleared after delivery?</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What I learned from colleagues</a:t>
            </a:r>
            <a:endParaRPr lang="en-US" sz="3400" dirty="0"/>
          </a:p>
        </p:txBody>
      </p:sp>
      <p:sp>
        <p:nvSpPr>
          <p:cNvPr id="3" name="observation card 1"/>
          <p:cNvSpPr/>
          <p:nvPr/>
        </p:nvSpPr>
        <p:spPr>
          <a:xfrm>
            <a:off x="548640" y="1463040"/>
            <a:ext cx="3566160" cy="4206240"/>
          </a:xfrm>
          <a:prstGeom prst="roundRect">
            <a:avLst>
              <a:gd name="adj" fmla="val 2051"/>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77240" y="1645920"/>
            <a:ext cx="3108960" cy="457200"/>
          </a:xfrm>
          <a:prstGeom prst="rect">
            <a:avLst/>
          </a:prstGeom>
          <a:noFill/>
          <a:ln/>
        </p:spPr>
        <p:txBody>
          <a:bodyPr wrap="square" lIns="0" tIns="0" rIns="0" bIns="0" rtlCol="0" anchor="ctr"/>
          <a:lstStyle/>
          <a:p>
            <a:pPr indent="0" marL="0">
              <a:buNone/>
            </a:pPr>
            <a:r>
              <a:rPr lang="en-US" sz="2000" b="1" dirty="0">
                <a:solidFill>
                  <a:schemeClr val="tx1"/>
                </a:solidFill>
              </a:rPr>
              <a:t>From CTC office</a:t>
            </a:r>
            <a:endParaRPr lang="en-US" sz="2000" dirty="0"/>
          </a:p>
        </p:txBody>
      </p:sp>
      <p:sp>
        <p:nvSpPr>
          <p:cNvPr id="5" name="Text 3"/>
          <p:cNvSpPr txBox="1"/>
          <p:nvPr/>
        </p:nvSpPr>
        <p:spPr>
          <a:xfrm>
            <a:off x="777240" y="2286000"/>
            <a:ext cx="3108960" cy="3108960"/>
          </a:xfrm>
          <a:prstGeom prst="rect">
            <a:avLst/>
          </a:prstGeom>
          <a:noFill/>
          <a:ln/>
        </p:spPr>
        <p:txBody>
          <a:bodyPr wrap="square" lIns="0" tIns="0" rIns="0" bIns="0" rtlCol="0" anchor="t"/>
          <a:lstStyle/>
          <a:p>
            <a:pPr indent="0" marL="0">
              <a:buNone/>
            </a:pPr>
            <a:r>
              <a:rPr lang="en-US" sz="1600" i="1" dirty="0">
                <a:solidFill>
                  <a:schemeClr val="tx2"/>
                </a:solidFill>
              </a:rPr>
              <a:t>[Fill in during the review: one thing you learned and what changes in your design.]</a:t>
            </a:r>
            <a:endParaRPr lang="en-US" sz="1600" dirty="0"/>
          </a:p>
        </p:txBody>
      </p:sp>
      <p:sp>
        <p:nvSpPr>
          <p:cNvPr id="6" name="observation card 2"/>
          <p:cNvSpPr/>
          <p:nvPr/>
        </p:nvSpPr>
        <p:spPr>
          <a:xfrm>
            <a:off x="4297680" y="1463040"/>
            <a:ext cx="3566160" cy="4206240"/>
          </a:xfrm>
          <a:prstGeom prst="roundRect">
            <a:avLst>
              <a:gd name="adj" fmla="val 2051"/>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4526280" y="1645920"/>
            <a:ext cx="3108960" cy="457200"/>
          </a:xfrm>
          <a:prstGeom prst="rect">
            <a:avLst/>
          </a:prstGeom>
          <a:noFill/>
          <a:ln/>
        </p:spPr>
        <p:txBody>
          <a:bodyPr wrap="square" lIns="0" tIns="0" rIns="0" bIns="0" rtlCol="0" anchor="ctr"/>
          <a:lstStyle/>
          <a:p>
            <a:pPr indent="0" marL="0">
              <a:buNone/>
            </a:pPr>
            <a:r>
              <a:rPr lang="en-US" sz="2000" b="1" dirty="0">
                <a:solidFill>
                  <a:schemeClr val="tx1"/>
                </a:solidFill>
              </a:rPr>
              <a:t>From Track controller</a:t>
            </a:r>
            <a:endParaRPr lang="en-US" sz="2000" dirty="0"/>
          </a:p>
        </p:txBody>
      </p:sp>
      <p:sp>
        <p:nvSpPr>
          <p:cNvPr id="8" name="Text 6"/>
          <p:cNvSpPr txBox="1"/>
          <p:nvPr/>
        </p:nvSpPr>
        <p:spPr>
          <a:xfrm>
            <a:off x="4526280" y="2286000"/>
            <a:ext cx="3108960" cy="3108960"/>
          </a:xfrm>
          <a:prstGeom prst="rect">
            <a:avLst/>
          </a:prstGeom>
          <a:noFill/>
          <a:ln/>
        </p:spPr>
        <p:txBody>
          <a:bodyPr wrap="square" lIns="0" tIns="0" rIns="0" bIns="0" rtlCol="0" anchor="t"/>
          <a:lstStyle/>
          <a:p>
            <a:pPr indent="0" marL="0">
              <a:buNone/>
            </a:pPr>
            <a:r>
              <a:rPr lang="en-US" sz="1600" i="1" dirty="0">
                <a:solidFill>
                  <a:schemeClr val="tx2"/>
                </a:solidFill>
              </a:rPr>
              <a:t>[Fill in during the review: one thing you learned and what changes in your design.]</a:t>
            </a:r>
            <a:endParaRPr lang="en-US" sz="1600" dirty="0"/>
          </a:p>
        </p:txBody>
      </p:sp>
      <p:sp>
        <p:nvSpPr>
          <p:cNvPr id="9" name="observation card 3"/>
          <p:cNvSpPr/>
          <p:nvPr/>
        </p:nvSpPr>
        <p:spPr>
          <a:xfrm>
            <a:off x="8046720" y="1463040"/>
            <a:ext cx="3566160" cy="4206240"/>
          </a:xfrm>
          <a:prstGeom prst="roundRect">
            <a:avLst>
              <a:gd name="adj" fmla="val 2051"/>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8275320" y="1645920"/>
            <a:ext cx="3108960" cy="457200"/>
          </a:xfrm>
          <a:prstGeom prst="rect">
            <a:avLst/>
          </a:prstGeom>
          <a:noFill/>
          <a:ln/>
        </p:spPr>
        <p:txBody>
          <a:bodyPr wrap="square" lIns="0" tIns="0" rIns="0" bIns="0" rtlCol="0" anchor="ctr"/>
          <a:lstStyle/>
          <a:p>
            <a:pPr indent="0" marL="0">
              <a:buNone/>
            </a:pPr>
            <a:r>
              <a:rPr lang="en-US" sz="2000" b="1" dirty="0">
                <a:solidFill>
                  <a:schemeClr val="tx1"/>
                </a:solidFill>
              </a:rPr>
              <a:t>From Train model and controller</a:t>
            </a:r>
            <a:endParaRPr lang="en-US" sz="2000" dirty="0"/>
          </a:p>
        </p:txBody>
      </p:sp>
      <p:sp>
        <p:nvSpPr>
          <p:cNvPr id="11" name="Text 9"/>
          <p:cNvSpPr txBox="1"/>
          <p:nvPr/>
        </p:nvSpPr>
        <p:spPr>
          <a:xfrm>
            <a:off x="8275320" y="2286000"/>
            <a:ext cx="3108960" cy="3108960"/>
          </a:xfrm>
          <a:prstGeom prst="rect">
            <a:avLst/>
          </a:prstGeom>
          <a:noFill/>
          <a:ln/>
        </p:spPr>
        <p:txBody>
          <a:bodyPr wrap="square" lIns="0" tIns="0" rIns="0" bIns="0" rtlCol="0" anchor="t"/>
          <a:lstStyle/>
          <a:p>
            <a:pPr indent="0" marL="0">
              <a:buNone/>
            </a:pPr>
            <a:r>
              <a:rPr lang="en-US" sz="1600" i="1" dirty="0">
                <a:solidFill>
                  <a:schemeClr val="tx2"/>
                </a:solidFill>
              </a:rPr>
              <a:t>[Fill in during the review: one thing you learned and what changes in your design.]</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Next: integration and questions</a:t>
            </a:r>
            <a:endParaRPr lang="en-US" sz="3400" dirty="0"/>
          </a:p>
        </p:txBody>
      </p:sp>
      <p:sp>
        <p:nvSpPr>
          <p:cNvPr id="3" name="next step 1"/>
          <p:cNvSpPr/>
          <p:nvPr/>
        </p:nvSpPr>
        <p:spPr>
          <a:xfrm>
            <a:off x="548640" y="1371600"/>
            <a:ext cx="5440680" cy="2011680"/>
          </a:xfrm>
          <a:prstGeom prst="roundRect">
            <a:avLst>
              <a:gd name="adj" fmla="val 3636"/>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4" name="number 1"/>
          <p:cNvSpPr/>
          <p:nvPr/>
        </p:nvSpPr>
        <p:spPr>
          <a:xfrm>
            <a:off x="777240" y="160020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417320" y="1600200"/>
            <a:ext cx="4389120" cy="457200"/>
          </a:xfrm>
          <a:prstGeom prst="rect">
            <a:avLst/>
          </a:prstGeom>
          <a:noFill/>
          <a:ln/>
        </p:spPr>
        <p:txBody>
          <a:bodyPr wrap="square" lIns="0" tIns="0" rIns="0" bIns="0" rtlCol="0" anchor="ctr"/>
          <a:lstStyle/>
          <a:p>
            <a:pPr indent="0" marL="0">
              <a:buNone/>
            </a:pPr>
            <a:r>
              <a:rPr lang="en-US" sz="2200" b="1" dirty="0">
                <a:solidFill>
                  <a:schemeClr val="tx1"/>
                </a:solidFill>
              </a:rPr>
              <a:t>Integrate</a:t>
            </a:r>
            <a:endParaRPr lang="en-US" sz="2200" dirty="0"/>
          </a:p>
        </p:txBody>
      </p:sp>
      <p:sp>
        <p:nvSpPr>
          <p:cNvPr id="7" name="Text 5"/>
          <p:cNvSpPr txBox="1"/>
          <p:nvPr/>
        </p:nvSpPr>
        <p:spPr>
          <a:xfrm>
            <a:off x="1417320" y="2148840"/>
            <a:ext cx="4389120" cy="1097280"/>
          </a:xfrm>
          <a:prstGeom prst="rect">
            <a:avLst/>
          </a:prstGeom>
          <a:noFill/>
          <a:ln/>
        </p:spPr>
        <p:txBody>
          <a:bodyPr wrap="square" lIns="0" tIns="0" rIns="0" bIns="0" rtlCol="0" anchor="t"/>
          <a:lstStyle/>
          <a:p>
            <a:pPr indent="0" marL="0">
              <a:buNone/>
            </a:pPr>
            <a:r>
              <a:rPr lang="en-US" sz="1600" dirty="0">
                <a:solidFill>
                  <a:schemeClr val="tx2"/>
                </a:solidFill>
              </a:rPr>
              <a:t>Run through the harness; the test UI is removed</a:t>
            </a:r>
            <a:endParaRPr lang="en-US" sz="1600" dirty="0"/>
          </a:p>
        </p:txBody>
      </p:sp>
      <p:sp>
        <p:nvSpPr>
          <p:cNvPr id="8" name="next step 2"/>
          <p:cNvSpPr/>
          <p:nvPr/>
        </p:nvSpPr>
        <p:spPr>
          <a:xfrm>
            <a:off x="6172200" y="1371600"/>
            <a:ext cx="5440680" cy="2011680"/>
          </a:xfrm>
          <a:prstGeom prst="roundRect">
            <a:avLst>
              <a:gd name="adj" fmla="val 3636"/>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9" name="number 2"/>
          <p:cNvSpPr/>
          <p:nvPr/>
        </p:nvSpPr>
        <p:spPr>
          <a:xfrm>
            <a:off x="6400800" y="160020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7040880" y="1600200"/>
            <a:ext cx="4389120" cy="457200"/>
          </a:xfrm>
          <a:prstGeom prst="rect">
            <a:avLst/>
          </a:prstGeom>
          <a:noFill/>
          <a:ln/>
        </p:spPr>
        <p:txBody>
          <a:bodyPr wrap="square" lIns="0" tIns="0" rIns="0" bIns="0" rtlCol="0" anchor="ctr"/>
          <a:lstStyle/>
          <a:p>
            <a:pPr indent="0" marL="0">
              <a:buNone/>
            </a:pPr>
            <a:r>
              <a:rPr lang="en-US" sz="2200" b="1" dirty="0">
                <a:solidFill>
                  <a:schemeClr val="tx1"/>
                </a:solidFill>
              </a:rPr>
              <a:t>Heaters</a:t>
            </a:r>
            <a:endParaRPr lang="en-US" sz="2200" dirty="0"/>
          </a:p>
        </p:txBody>
      </p:sp>
      <p:sp>
        <p:nvSpPr>
          <p:cNvPr id="12" name="Text 10"/>
          <p:cNvSpPr txBox="1"/>
          <p:nvPr/>
        </p:nvSpPr>
        <p:spPr>
          <a:xfrm>
            <a:off x="7040880" y="2148840"/>
            <a:ext cx="4389120" cy="1097280"/>
          </a:xfrm>
          <a:prstGeom prst="rect">
            <a:avLst/>
          </a:prstGeom>
          <a:noFill/>
          <a:ln/>
        </p:spPr>
        <p:txBody>
          <a:bodyPr wrap="square" lIns="0" tIns="0" rIns="0" bIns="0" rtlCol="0" anchor="t"/>
          <a:lstStyle/>
          <a:p>
            <a:pPr indent="0" marL="0">
              <a:buNone/>
            </a:pPr>
            <a:r>
              <a:rPr lang="en-US" sz="1600" dirty="0">
                <a:solidFill>
                  <a:schemeClr val="tx2"/>
                </a:solidFill>
              </a:rPr>
              <a:t>Switch them in the Track Model per D026</a:t>
            </a:r>
            <a:endParaRPr lang="en-US" sz="1600" dirty="0"/>
          </a:p>
        </p:txBody>
      </p:sp>
      <p:sp>
        <p:nvSpPr>
          <p:cNvPr id="13" name="next step 3"/>
          <p:cNvSpPr/>
          <p:nvPr/>
        </p:nvSpPr>
        <p:spPr>
          <a:xfrm>
            <a:off x="548640" y="3566160"/>
            <a:ext cx="5440680" cy="2011680"/>
          </a:xfrm>
          <a:prstGeom prst="roundRect">
            <a:avLst>
              <a:gd name="adj" fmla="val 3636"/>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4" name="number 3"/>
          <p:cNvSpPr/>
          <p:nvPr/>
        </p:nvSpPr>
        <p:spPr>
          <a:xfrm>
            <a:off x="777240" y="379476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77240" y="37947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1417320" y="3794760"/>
            <a:ext cx="4389120" cy="457200"/>
          </a:xfrm>
          <a:prstGeom prst="rect">
            <a:avLst/>
          </a:prstGeom>
          <a:noFill/>
          <a:ln/>
        </p:spPr>
        <p:txBody>
          <a:bodyPr wrap="square" lIns="0" tIns="0" rIns="0" bIns="0" rtlCol="0" anchor="ctr"/>
          <a:lstStyle/>
          <a:p>
            <a:pPr indent="0" marL="0">
              <a:buNone/>
            </a:pPr>
            <a:r>
              <a:rPr lang="en-US" sz="2200" b="1" dirty="0">
                <a:solidFill>
                  <a:schemeClr val="tx1"/>
                </a:solidFill>
              </a:rPr>
              <a:t>Agree interfaces</a:t>
            </a:r>
            <a:endParaRPr lang="en-US" sz="2200" dirty="0"/>
          </a:p>
        </p:txBody>
      </p:sp>
      <p:sp>
        <p:nvSpPr>
          <p:cNvPr id="17" name="Text 15"/>
          <p:cNvSpPr txBox="1"/>
          <p:nvPr/>
        </p:nvSpPr>
        <p:spPr>
          <a:xfrm>
            <a:off x="1417320" y="4343400"/>
            <a:ext cx="4389120" cy="1097280"/>
          </a:xfrm>
          <a:prstGeom prst="rect">
            <a:avLst/>
          </a:prstGeom>
          <a:noFill/>
          <a:ln/>
        </p:spPr>
        <p:txBody>
          <a:bodyPr wrap="square" lIns="0" tIns="0" rIns="0" bIns="0" rtlCol="0" anchor="t"/>
          <a:lstStyle/>
          <a:p>
            <a:pPr indent="0" marL="0">
              <a:buNone/>
            </a:pPr>
            <a:r>
              <a:rPr lang="en-US" sz="1600" dirty="0">
                <a:solidFill>
                  <a:schemeClr val="tx2"/>
                </a:solidFill>
              </a:rPr>
              <a:t>Signal light seen, platform side, disembarking</a:t>
            </a:r>
            <a:endParaRPr lang="en-US" sz="1600" dirty="0"/>
          </a:p>
        </p:txBody>
      </p:sp>
      <p:sp>
        <p:nvSpPr>
          <p:cNvPr id="18" name="next step 4"/>
          <p:cNvSpPr/>
          <p:nvPr/>
        </p:nvSpPr>
        <p:spPr>
          <a:xfrm>
            <a:off x="6172200" y="3566160"/>
            <a:ext cx="5440680" cy="2011680"/>
          </a:xfrm>
          <a:prstGeom prst="roundRect">
            <a:avLst>
              <a:gd name="adj" fmla="val 3636"/>
            </a:avLst>
          </a:prstGeom>
          <a:solidFill>
            <a:schemeClr val="bg2"/>
          </a:solidFill>
          <a:ln w="9525">
            <a:solidFill>
              <a:srgbClr val="E1E5EA"/>
            </a:solidFill>
            <a:prstDash val="solid"/>
          </a:ln>
          <a:effectLst>
            <a:outerShdw sx="100000" sy="100000" kx="0" ky="0" algn="bl" rotWithShape="0" blurRad="101600" dist="25400" dir="5400000">
              <a:srgbClr val="000000">
                <a:alpha val="12000"/>
              </a:srgbClr>
            </a:outerShdw>
          </a:effectLst>
        </p:spPr>
      </p:sp>
      <p:sp>
        <p:nvSpPr>
          <p:cNvPr id="19" name="number 4"/>
          <p:cNvSpPr/>
          <p:nvPr/>
        </p:nvSpPr>
        <p:spPr>
          <a:xfrm>
            <a:off x="6400800" y="379476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37947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9"/>
          <p:cNvSpPr txBox="1"/>
          <p:nvPr/>
        </p:nvSpPr>
        <p:spPr>
          <a:xfrm>
            <a:off x="7040880" y="3794760"/>
            <a:ext cx="4389120" cy="457200"/>
          </a:xfrm>
          <a:prstGeom prst="rect">
            <a:avLst/>
          </a:prstGeom>
          <a:noFill/>
          <a:ln/>
        </p:spPr>
        <p:txBody>
          <a:bodyPr wrap="square" lIns="0" tIns="0" rIns="0" bIns="0" rtlCol="0" anchor="ctr"/>
          <a:lstStyle/>
          <a:p>
            <a:pPr indent="0" marL="0">
              <a:buNone/>
            </a:pPr>
            <a:r>
              <a:rPr lang="en-US" sz="2200" b="1" dirty="0">
                <a:solidFill>
                  <a:schemeClr val="tx1"/>
                </a:solidFill>
              </a:rPr>
              <a:t>Dispatch a train</a:t>
            </a:r>
            <a:endParaRPr lang="en-US" sz="2200" dirty="0"/>
          </a:p>
        </p:txBody>
      </p:sp>
      <p:sp>
        <p:nvSpPr>
          <p:cNvPr id="22" name="Text 20"/>
          <p:cNvSpPr txBox="1"/>
          <p:nvPr/>
        </p:nvSpPr>
        <p:spPr>
          <a:xfrm>
            <a:off x="7040880" y="4343400"/>
            <a:ext cx="4389120" cy="1097280"/>
          </a:xfrm>
          <a:prstGeom prst="rect">
            <a:avLst/>
          </a:prstGeom>
          <a:noFill/>
          <a:ln/>
        </p:spPr>
        <p:txBody>
          <a:bodyPr wrap="square" lIns="0" tIns="0" rIns="0" bIns="0" rtlCol="0" anchor="t"/>
          <a:lstStyle/>
          <a:p>
            <a:pPr indent="0" marL="0">
              <a:buNone/>
            </a:pPr>
            <a:r>
              <a:rPr lang="en-US" sz="1600" dirty="0">
                <a:solidFill>
                  <a:schemeClr val="tx2"/>
                </a:solidFill>
              </a:rPr>
              <a:t>Yard to a station for Iteration 3</a:t>
            </a:r>
            <a:endParaRPr lang="en-US" sz="1600" dirty="0"/>
          </a:p>
        </p:txBody>
      </p:sp>
      <p:sp>
        <p:nvSpPr>
          <p:cNvPr id="23" name="Text 21"/>
          <p:cNvSpPr txBox="1"/>
          <p:nvPr/>
        </p:nvSpPr>
        <p:spPr>
          <a:xfrm>
            <a:off x="548640" y="5806440"/>
            <a:ext cx="5486400" cy="457200"/>
          </a:xfrm>
          <a:prstGeom prst="rect">
            <a:avLst/>
          </a:prstGeom>
          <a:noFill/>
          <a:ln/>
        </p:spPr>
        <p:txBody>
          <a:bodyPr wrap="square" lIns="0" tIns="0" rIns="0" bIns="0" rtlCol="0" anchor="ctr"/>
          <a:lstStyle/>
          <a:p>
            <a:pPr indent="0" marL="0">
              <a:buNone/>
            </a:pPr>
            <a:r>
              <a:rPr lang="en-US" sz="2200" b="1" dirty="0">
                <a:solidFill>
                  <a:schemeClr val="accent4"/>
                </a:solidFill>
              </a:rPr>
              <a:t>Questions?</a:t>
            </a:r>
            <a:endParaRPr lang="en-US" sz="2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Track Model Review">
  <a:themeElements>
    <a:clrScheme name="Track Model Review">
      <a:dk1>
        <a:srgbClr val="1B2A3A"/>
      </a:dk1>
      <a:lt1>
        <a:srgbClr val="FFFFFF"/>
      </a:lt1>
      <a:dk2>
        <a:srgbClr val="3A4B5C"/>
      </a:dk2>
      <a:lt2>
        <a:srgbClr val="F2F4F7"/>
      </a:lt2>
      <a:accent1>
        <a:srgbClr val="F2A900"/>
      </a:accent1>
      <a:accent2>
        <a:srgbClr val="2E7D6B"/>
      </a:accent2>
      <a:accent3>
        <a:srgbClr val="C0392B"/>
      </a:accent3>
      <a:accent4>
        <a:srgbClr val="2F6DB5"/>
      </a:accent4>
      <a:accent5>
        <a:srgbClr val="8A97A6"/>
      </a:accent5>
      <a:accent6>
        <a:srgbClr val="5B3F8C"/>
      </a:accent6>
      <a:hlink>
        <a:srgbClr val="2F6DB5"/>
      </a:hlink>
      <a:folHlink>
        <a:srgbClr val="5B3F8C"/>
      </a:folHlink>
    </a:clrScheme>
    <a:fontScheme name="Track Model Revie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 Model - Design Review</dc:title>
  <dc:subject>PptxGenJS Presentation</dc:subject>
  <dc:creator>PptxGenJS</dc:creator>
  <cp:lastModifiedBy>PptxGenJS</cp:lastModifiedBy>
  <cp:revision>1</cp:revision>
  <dcterms:created xsi:type="dcterms:W3CDTF">2026-10-22T15:31:33Z</dcterms:created>
  <dcterms:modified xsi:type="dcterms:W3CDTF">2026-10-22T15:31:33Z</dcterms:modified>
</cp:coreProperties>
</file>