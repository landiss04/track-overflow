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Ivan. Five modules; the Track Controller and Train Controller each have a SW variant (Green Line) and a HW variant on a Raspberry Pi (Red Line). Commands go down from the CTC Office through the waysides and the track to the train; status comes back up. The Track Model also sends the signal ahead to the Train Controller and ticket sales to the CTC Office. In the running system every arrow passes through the central harness (D005).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system architecture,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system architecture,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system architecture,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system architecture,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One executable: with no arguments it is the central harness; with --module it is one module process. The harness supervises the seven module processes, paces the ticks, maps every edge (SystemEdges) and keeps the roster of trains. Each module process holds its module and a ModuleLink to the harness: newline JSON over a local socket.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the harness above, the module processes below.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the harness above, the module processes below.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Each module owns its boundary types and its Protocol; each variant implements it. The HW hosts hold a remote proxy that relays the harness's steps over USB to the module's core on the Pi, behind PiLinkServer. No module imports another's types: the harness's edge functions translate.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module contracts and their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module contracts and their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Ticks k to k+5. Every module steps on the outputs of the tick before, so the CTC Office's suggestion reaches the wayside on the next tick, the track circuit on the one after, and the train controller a few ticks after the decision. The harness waits for every reply before the next tick (D017).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the first ticks, then the last.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the first ticks, then the last.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One Windows 11 PC runs the executable as the harness and once per module. Data files: the line layouts, the schedule, the wayside databases and PLC programs, the event log. Two Raspberry Pi 5 boards, one per HW variant, each linked to its host process by one USB cable as a USB serial device, found by its product name (D027).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deployment,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deployment,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deployment,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deployment, in reading order.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24 use cases.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24 use cases.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24 use cases.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24 use cases.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Runs, pauses and speeds up the one shared clock, for every module.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Chooses Automatic, Manual or Maintenance mode.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Orders a train to a station of its line, with an optional arrival time.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Sends a train straight to any block of its line.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Changes where the selected train is going, or withdraws its order.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Sends a manual train on the track back to the yard, where it is retired (D022).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Loads the schedule that automatic mode runs.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Shows how far each run has got, and holds or releases them all.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Takes a block out of service for maintenance, and back.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Commands a switch, in maintenance mode.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Shows both lines and what is on them.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Lists every train the CTC Office follows or has an order for.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Shows one train in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Shows passenger throughput per line, from ticket sales.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Tells the dispatcher what needs their attention.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Once per tick, takes that tick's inputs, moves every train and run on, and returns the outputs.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Takes what every wayside reports.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Works out where each of its trains is, and which occupied blocks are failures, from occupancy alone.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In automatic mode, gives the orders that carry the loaded schedule out (D020).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Lets trains out of the yard and takes them back (D022).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Suggests each train's speed and authority, for the block it is in and the next block on its route.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Tells the waysides which blocks are closed and, in maintenance mode, where to set switches.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Takes the tickets sold at each station.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description; skip if short on time. Keeps a line still while any wayside on it is not ready (no PLC program loaded). The waysides are vital, so nothing is sent to a line until every wayside on it runs its program.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The module's parts and how they depend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 StubCtcOffice implements CtcOffice. It holds the orders, closures, switch commands and granted blocks, and owns one TrackGraph per line, the TrainTracker and, once a schedule is loaded, the AutoDispatcher. - _Layout checks every reference and input against the layout files. - Every refusal is a CtcError: InvalidInputError (bad value), InvalidTimeStepError, MaintenanceModeRequiredError, UnsafeActionError (a safety rule). - TrainTracker keeps one Tracked per train: its blocks, how far it may have got, the fastest it may be going and the block it came from. Each step it reads the last step's Plan per train and the trains released (Waiting).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 plan_run turns each ScheduledTrain into a RunPlan: its stops in track order with due times, the path out and back, and where on it each stop is. - AutoDispatcher keeps a Progress per run and the two-way zones per line. Each step it reads a World and gives Order and Cancel actions, which the model carries out with the dispatcher's own safety checks. - TrackGraph is built from a Line's blocks; authority() counts an AuthorityLimit along a route.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All are frozen dataclasses in ctc/interface.py, owned by the CTC Office (D005); other modules' types never appear in them, and common/interfaces.py is not used (D008). CtcSnapshot is for the CTC window only and crosses no module boundary.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 CtcOfficeProcess answers the harness through ModuleLink and steps the module through CtcHost. - CtcHost is the only object QML talks to: it reads snapshots into rows, and its slots return an empty string or the refusal's text. - HarnessClockBridge gives QML the same clock face as the standalone clock, but shows the harness's time, and hands Run, Pause and 1x / 10x to the module and the harness.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Landis. - CtcOfficeProcess answers the harness through ModuleLink and steps the module through CtcHost. - CtcHost is the only object QML talks to: it reads snapshots into rows, and its slots return an empty string or the refusal's text. - HarnessClockBridge gives QML the same clock face as the standalone clock, but shows the harness's time, and hands Run, Pause and 1x / 10x to the module and the harness.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Landis. - CtcOfficeProcess answers the harness through ModuleLink and steps the module through CtcHost. - CtcHost is the only object QML talks to: it reads snapshots into rows, and its slots return an empty string or the refusal's text. - HarnessClockBridge gives QML the same clock face as the standalone clock, but shows the harness's time, and hands Run, Pause and 1x / 10x to the module and the harness.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Control the simulation clock. Runs, pauses and speeds up the one shared clock, for every module.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Control the simulation clock. Runs, pauses and speeds up the one shared clock, for every module.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Change operating mode. Chooses Automatic, Manual or Maintenance mode.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Dispatch a train to a station. Orders a train to a station of its line, with an optional arrival time.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Dispatch a train to a station. Orders a train to a station of its line, with an optional arrival time.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Dispatch a train to a block. Sends a train straight to any block of its line.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Reroute or cancel a train's order. Changes where the selected train is going, or withdraws its order.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Return a train to the yard. Sends a manual train on the track back to the yard, where it is retired (D022).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Load a schedule. Loads the schedule that automatic mode runs.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Load a schedule. Loads the schedule that automatic mode runs.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Monitor and pause automatic dispatch. Shows how far each run has got, and holds or releases them all.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Close or reopen a block. Takes a block out of service for maintenance, and back.</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Set a switch position. Commands a switch, in maintenance mode.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Monitor the track map. Shows both lines and what is on them.</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Monitor train occupancy. Lists every train the CTC Office follows or has an order for.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View the selected train. Shows one train in detail.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View throughput metrics. Shows passenger throughput per line, from ticket sales.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Handle notices and reversal alerts. Tells the dispatcher what needs their attention.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Run one step. Once per tick, takes that tick's inputs, moves every train and run on, and returns the outputs.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Run one step. Once per tick, takes that tick's inputs, moves every train and run on, and returns the outputs.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Receive Track Controller reports. Takes what every wayside reports.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Follow trains from occupancy. Works out where each of its trains is, and which occupied blocks are failures, from occupancy alone.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Follow trains from occupancy. Works out where each of its trains is, and which occupied blocks are failures, from occupancy alone.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Run the schedule. In automatic mode, gives the orders that carry the loaded schedule out (D020).</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Run the schedule. In automatic mode, gives the orders that carry the loaded schedule out (D020).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Release and retire trains. Lets trains out of the yard and takes them back (D022).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Release and retire trains. Lets trains out of the yard and takes them back (D022).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Send speed and authority suggestions. Suggests each train's speed and authority, for the block it is in and the next block on its route.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Send closures and switch commands. Tells the waysides which blocks are closed and, in maintenance mode, where to set switches.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Receive ticket sales. Takes the tickets sold at each station.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Landis. Use case: Hold a line that is not ready. Keeps a line still while any wayside on it is not ready (no PLC program loaded). The waysides are vital, so nothing is sent to a line until every wayside on it runs its program.</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18 use cases.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18 use cases.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18 use cases.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Loads one line of the course layout and divides it among that line's waysides.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Chooses which wayside of a loaded line the window shows.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Reads a PLC program file into the editor of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Writes or edits a PLC program in the editor.</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Compiles the editor's program and runs one scan of it in a sandbox, so that its effect can be checked before it is committed.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Installs the program that was just run on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Shows the live state of the selected wayside, in imperial units.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In maintenance mode, sets one of the wayside's switches by hand.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Once per tick, every wayside of a ready line runs its program and the attached vital code against that tick's inputs, and drives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Takes the CTC Office's suggested speed and authority for each block.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Takes the blocks the dispatcher has closed and, in maintenance mode, the switch positions the dispatcher commands.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Takes occupancy and the actual state of the waysides' equipment.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Drives each switch machine from OUT_SW_s.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Lights each signal from the program's four aspect outputs.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Activates each crossing from OUT_XING_c.</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Sends each block that has a suggestion its commanded speed and authority.</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Tells the CTC Office what each wayside sees, every tick.</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description; skip if short on time. A line where any wayside has no program runs nothing and transmits nothing.</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The module's parts and how they depend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The module's parts and how they depend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The module's parts and how they depend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 SwTrackController holds one _Wayside per wayside of every loaded line, and scans each once per step. While any wayside of a line has no program, every wayside of that line idles. - TrackController is one wayside. - It owns its territory (ControllerConfig, Blocks), its ControllerInputs, the user's Program, and the compiled vital Program. - scan decodes the inputs, runs both programs and encodes the OUT_ bits into ControllerOutputs. - run_program does the same on a copy of the inputs (UC-05). - commit installs a program as a new Iteration, keeping the last five. - Program is immutable: a compiled program never changes while it is scanned. diagnostics lists any problems; any diagnostic blocks a commit.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 SwTrackController holds one _Wayside per wayside of every loaded line, and scans each once per step. While any wayside of a line has no program, every wayside of that line idles. - TrackController is one wayside. - It owns its territory (ControllerConfig, Blocks), its ControllerInputs, the user's Program, and the compiled vital Program. - scan decodes the inputs, runs both programs and encodes the OUT_ bits into ControllerOutputs. - run_program does the same on a copy of the inputs (UC-05). - commit installs a program as a new Iteration, keeping the last five. - Program is immutable: a compiled program never changes while it is scanned. diagnostics lists any problems; any diagnostic blocks a commit.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 SwTrackController holds one _Wayside per wayside of every loaded line, and scans each once per step. While any wayside of a line has no program, every wayside of that line idles. - TrackController is one wayside. - It owns its territory (ControllerConfig, Blocks), its ControllerInputs, the user's Program, and the compiled vital Program. - scan decodes the inputs, runs both programs and encodes the OUT_ bits into ControllerOutputs. - run_program does the same on a copy of the inputs (UC-05). - commit installs a program as a new Iteration, keeping the last five. - Program is immutable: a compiled program never changes while it is scanned. diagnostics lists any problems; any diagnostic blocks a commit.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 layout.parse_layout reads the course layout into a ParsedLayout. - build_line divides its blocks among the fixed number of waysides (WAYSIDE_COUNTS) into ControllerConfigs, so that every switch lies inside one wayside. - Switch, WaysideSignal and Crossing name their PLC outputs (SW_s, SIG_s_*, XING_c).</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 All the boundary types are frozen dataclasses. - Every block is named by BlockKey(line, block_id). A switch, its signal and a crossing are named by the block they sit on. - Speeds are whole m/s; authorities are block counts (D013). - TrackControllerOutputs.ready is derived from the per-wayside CtcReports.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 All the boundary types are frozen dataclasses. - Every block is named by BlockKey(line, block_id). A switch, its signal and a crossing are named by the block they sit on. - Speeds are whole m/s; authorities are block counts (D013). - TrackControllerOutputs.ready is derived from the per-wayside CtcReports.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 All the boundary types are frozen dataclasses. - Every block is named by BlockKey(line, block_id). A switch, its signal and a crossing are named by the block they sit on. - Speeds are whole m/s; authorities are block counts (D013). - TrackControllerOutputs.ready is derived from the per-wayside CtcReports.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 TrackControllerState is the only object QML talks to. It owns the SwTrackController, holds the editor buffer and its last clean run, and pushes rows into BlockListModel, which updates in place. - StimulusServer accepts one test client at a time on a named pipe. It runs step, user (a window action), clock and hello messages against TrackControllerState. - TestClientState runs in the test UI process. - Its StandInWorld plays the CTC Office and the Track Model, moving simple Trains block by block. - Its ClockDriver plays the shared clock.</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 TrackControllerState is the only object QML talks to. It owns the SwTrackController, holds the editor buffer and its last clean run, and pushes rows into BlockListModel, which updates in place. - StimulusServer accepts one test client at a time on a named pipe. It runs step, user (a window action), clock and hello messages against TrackControllerState. - TestClientState runs in the test UI process. - Its StandInWorld plays the CTC Office and the Track Model, moving simple Trains block by block. - Its ClockDriver plays the shared clock.</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Harry Tye. - TrackControllerState is the only object QML talks to. It owns the SwTrackController, holds the editor buffer and its last clean run, and pushes rows into BlockListModel, which updates in place. - StimulusServer accepts one test client at a time on a named pipe. It runs step, user (a window action), clock and hello messages against TrackControllerState. - TestClientState runs in the test UI process. - Its StandInWorld plays the CTC Office and the Track Model, moving simple Trains block by block. - Its ClockDriver plays the shared clock.</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Load track layout. Loads one line of the course layout and divides it among that line's waysides.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Load track layout. Loads one line of the course layout and divides it among that line's waysides.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Select wayside. Chooses which wayside of a loaded line the window shows.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Select wayside. Chooses which wayside of a loaded line the window shows.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Load PLC program. Reads a PLC program file into the editor of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Write PLC program. Writes or edits a PLC program in the editor.</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Run PLC program. Compiles the editor's program and runs one scan of it in a sandbox, so that its effect can be checked before it is committed.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Run PLC program. Compiles the editor's program and runs one scan of it in a sandbox, so that its effect can be checked before it is committed.</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Commit PLC program. Installs the program that was just run on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Commit PLC program. Installs the program that was just run on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Monitor wayside state. Shows the live state of the selected wayside, in imperial units.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Hand-set switch. In maintenance mode, sets one of the wayside's switches by hand.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Hand-set switch. In maintenance mode, sets one of the wayside's switches by hand.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Run scan cycle. Once per tick, every wayside of a ready line runs its program and the attached vital code against that tick's inputs, and drives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Run scan cycle. Once per tick, every wayside of a ready line runs its program and the attached vital code against that tick's inputs, and drives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Receive speed and authority suggestions. Takes the CTC Office's suggested speed and authority for each block.</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Receive closures and switch commands. Takes the blocks the dispatcher has closed and, in maintenance mode, the switch positions the dispatcher commands.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Receive track state. Takes occupancy and the actual state of the waysides' equipment.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Command switches. Drives each switch machine from OUT_SW_s.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Set signal aspects. Lights each signal from the program's four aspect outputs.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Control railway crossings. Activates each crossing from OUT_XING_c.</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Send speed and authority on track circuits. Sends each block that has a suggestion its commanded speed and authority.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Send speed and authority on track circuits. Sends each block that has a suggestion its commanded speed and authority.</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Report occupancy, read-back and readiness. Tells the CTC Office what each wayside sees, every tick.</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Harry Tye. Use case: Transmit nothing while not ready. A line where any wayside has no program runs nothing and transmits nothing.</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16 use cases.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Adds one wayside to the Track Controller, or replaces the wayside with the same ID.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Installs a PLC program on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Chooses which loaded wayside the window shows.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Shows the live state of the selected wayside, in imperial units.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Shows the running program and the health of its two channels.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Shows exactly what the selected wayside last sent the CTC Office.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Once per tick, every wayside of the line runs its PLC program against that tick's inputs and drives the result onto the track.</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Takes the CTC Office's suggested speed and authority for each block.</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Takes the blocks the dispatcher has closed and, in maintenance mode, the switch positions the dispatcher commands.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Takes occupancy and the actual state of the wayside's equipment.</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Drives each switch machine from the program's SW_s output.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Lights each signal from the program's four aspect outputs.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Activates each crossing from the program's XING_c output.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Sends each block that has a suggestion its commanded speed and authority.</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Tells the CTC Office what each wayside sees, every tick.</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description; skip if short on time. Puts a wayside's outputs in their safe state whenever no trustworthy program runs.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The module's parts and how they depend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 HwTrackController holds one Wayside per loaded database, all on one line, and scans each once per step. While any wayside is not ready, every wayside holds fail-safe. - Wayside owns its territory, the user's Program, and (planned) the generated vital Program. scan builds the input image, runs the programs on both channels, compares them, drives the outputs and builds the CtcReport. - Program is immutable: a compiled program never changes while it is scanned. Each Statement carries a tree (channel A) and postfix code (channel B). - On the Pi, PiLinkServer (common/hw_link/agent.py) reads requests from the USB gadget serial port, journals them, and passes them to TrackCore, which steps the controller, runs the allowlisted window actions (load_territory, load_program, reset) and packs snapshots for the window.</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 HwTrackController holds one Wayside per loaded database, all on one line, and scans each once per step. While any wayside is not ready, every wayside holds fail-safe. - Wayside owns its territory, the user's Program, and (planned) the generated vital Program. scan builds the input image, runs the programs on both channels, compares them, drives the outputs and builds the CtcReport. - Program is immutable: a compiled program never changes while it is scanned. Each Statement carries a tree (channel A) and postfix code (channel B). - On the Pi, PiLinkServer (common/hw_link/agent.py) reads requests from the USB gadget serial port, journals them, and passes them to TrackCore, which steps the controller, runs the allowlisted window actions (load_territory, load_program, reset) and packs snapshots for the window.</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All are frozen dataclasses. The CTC Office names a block by BlockRef (line and number, Red:15); the Track Model by BlockKey (line, section, number). A switch, its signal and a crossing are named by the block they are listed on. Speeds are whole m/s; authorities are block counts (D013).</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All are frozen dataclasses. The CTC Office names a block by BlockRef (line and number, Red:15); the Track Model by BlockKey (line, section, number). A switch, its signal and a crossing are named by the block they are listed on. Speeds are whole m/s; authorities are block counts (D013).</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All are frozen dataclasses. The CTC Office names a block by BlockRef (line and number, Red:15); the Track Model by BlockKey (line, section, number). A switch, its signal and a crossing are named by the block they are listed on. Speeds are whole m/s; authorities are block counts (D013).</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 TrackControllerState is the only object QML talks to. It reads a snapshot, turns it into rows through views, and pushes them into five RowsModels that update in place. - RemoteTrackController (common/hw_link/remote_track.py) implements the same Protocol as HwTrackController, so the window is unchanged. It caches the snapshot the Pi pushes and turns each window action into one request through HardwareRelay; errors come back typed. - ModuleLink answers the harness: each STEP goes to HardwareRelay.submit_step, and the Pi's reply comes back as OUTPUTS or REJECTED. HardwareRelay keeps requests in order, holds replies while the USB link is lost, and SerialTransport finds the Pi by its USB identity.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 TrackControllerState is the only object QML talks to. It reads a snapshot, turns it into rows through views, and pushes them into five RowsModels that update in place. - RemoteTrackController (common/hw_link/remote_track.py) implements the same Protocol as HwTrackController, so the window is unchanged. It caches the snapshot the Pi pushes and turns each window action into one request through HardwareRelay; errors come back typed. - ModuleLink answers the harness: each STEP goes to HardwareRelay.submit_step, and the Pi's reply comes back as OUTPUTS or REJECTED. HardwareRelay keeps requests in order, holds replies while the USB link is lost, and SerialTransport finds the Pi by its USB identity.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Load wayside database. Adds one wayside to the Track Controller, or replaces the wayside with the same ID.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Load wayside database. Adds one wayside to the Track Controller, or replaces the wayside with the same ID.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Load PLC program. Installs a PLC program on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Load PLC program. Installs a PLC program on the selected wayside.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Select wayside. Chooses which loaded wayside the window shows.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Monitor wayside state. Shows the live state of the selected wayside, in imperial units.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View PLC program details. Shows the running program and the health of its two channels.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View last report to the CTC Office. Shows exactly what the selected wayside last sent the CTC Office.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Run scan cycle. Once per tick, every wayside of the line runs its PLC program against that tick's inputs and drives the result onto the track.</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Run scan cycle. Once per tick, every wayside of the line runs its PLC program against that tick's inputs and drives the result onto the track.</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Receive speed and authority suggestions. Takes the CTC Office's suggested speed and authority for each block.</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Receive closures and maintenance switch commands. Takes the blocks the dispatcher has closed and, in maintenance mode, the switch positions the dispatcher commands.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Receive track state. Takes occupancy and the actual state of the wayside's equipment.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Command switches. Drives each switch machine from the program's SW_s output.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Set signal aspects. Lights each signal from the program's four aspect outputs.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Control railway crossings. Activates each crossing from the program's XING_c output.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Send speed and authority on track circuits. Sends each block that has a suggestion its commanded speed and authority.</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Report occupancy, state and readiness. Tells the CTC Office what each wayside sees, every tick.</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Braden Bosilovich. Use case: Hold fail-safe outputs. Puts a wayside's outputs in their safe state whenever no trustworthy program runs.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14 use cases.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The builder chooses a layout JSON file with Load track... (2) The module reads each block and its infrastructure, converts grade and speed to backend units, finds switches, signals and beacons and builds the track graph. (3) The file replaces the loaded line of the same name or adds a new line, and the module restarts. At startup the module loads each *_line.json file beside it.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The user selects a block. (2) The window shows its length, grade, speed limit, elevation, commanded speed, authority, station, platform, direction of travel, beacon, heater, track temperature, underground flag, crossing, signal, switch and occupancy, in imperial units.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Each tick the Train Model reports each train's block and offset. (2) The Track Model adds the offset to the distance it kept from earlier blocks and moves the train to the next block when that passes the block length, or back when it goes below 0, following the switches as set. (3) A block is occupied when a train is in it or its track circuit has failed.</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Every tick the Track Model builds the actual state of every device: block occupancy, switch positions, crossing gates, signal aspects, failure status, heater states and track temperature. (2) It returns it for the Track controller. The CTC office reads it through the Track controller.</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The Track controller commands a switch position. (2) The switch moves to it unless its block has lost power. (3) The actual position is reported.</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The Track controller commands signal aspects and crossing gates. (2) A light shows its commanded aspect, or RED without power. A gate is down when commanded, or without power.</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The Track controller sends a speed (whole m/s) and an authority (blocks) for each block. (2) The Track Model stores them as the signal of that block's track circuit. (3) Each train receives the signal of the block it is in. A failed circuit, or a block never commanded, carries speed 0 and authority 0.</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Beacons stand on the blocks next to a station block. (2) When a train is in a beacon block, its feed carries the station name, platform side and underground flag.</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A signal stands on the block before each switch. (2) On the tick a train enters such a block, the Track Model reports the light's colour for that train; on every other tick it reports none. (3) The harness sends it to the Train controller, which keeps it.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Each station may sell one ticket per tick, at a configured probability, and keeps a queue of waiting passengers. (2) A train that is stopped in a station block with a door open takes min(waiting, capacity) passengers. (3) The count is returned in the train feed.</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Every tick the Track Model reports the tickets sold on that tick, by station. (2) It keeps no running total and sends none. (3) The harness sends the sales to the CTC office as (count, station) pairs.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Murphy enters a temperature in °F in the Track Model window. (2) It replaces the temperature the harness or test UI sends, until the module restarts.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The Track Model switches each section's heaters itself (D026). (2) Each section's track temperature eases toward ambient, or toward ambient plus 10 °C while its heaters run. (3) A power failure in any block of the section stops its heaters.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description; skip if short on time. (1) Murphy selects a block and a failure: broken rail, track circuit or power. (2) The block reads occupied and its track circuit carries nothing, so a train in it gets speed 0 and authority 0. (3) A power failure also holds the block's switch, shows its light RED, drops its crossing gates and stops its section's heaters.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The module's parts and how they depend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Boundary types of the Track Model (`track_model/interface.py`).</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Class diagram 1: module core.</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Class diagram 2: window and test link.</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The `TrackModel` Protocol and the harness edge functions.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Block state machine.</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Load Track Layout. (1) The builder chooses a layout JSON file with Load track... (2) The module reads each block and its infrastructure, converts grade and speed to backend units, finds switches, signals and beacons and builds the track graph. (3) The file replaces the loaded line of the same name or adds a new line, and the module restarts. At startup the module loads each *_line.json file beside it.</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Display Track Properties. (1) The user selects a block. (2) The window shows its length, grade, speed limit, elevation, commanded speed, authority, station, platform, direction of travel, beacon, heater, track temperature, underground flag, crossing, signal, switch and occupancy, in imperial units.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Track Train Position and Occupancy. (1) Each tick the Train Model reports each train's block and offset. (2) The Track Model adds the offset to the distance it kept from earlier blocks and moves the train to the next block when that passes the block length, or back when it goes below 0, following the switches as set. (3) A block is occupied when a train is in it or its track circuit has failed.</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Report State to Track Controller. (1) Every tick the Track Model builds the actual state of every device: block occupancy, switch positions, crossing gates, signal aspects, failure status, heater states and track temperature. (2) It returns it for the Track controller. The CTC office reads it through the Track controller.</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Apply Switch Position. (1) The Track controller commands a switch position. (2) The switch moves to it unless its block has lost power. (3) The actual position is reported.</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Apply Signal Lights and Crossing Gates. (1) The Track controller commands signal aspects and crossing gates. (2) A light shows its commanded aspect, or RED without power. A gate is down when commanded, or without power.</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Deliver Track Circuit Signal. (1) The Track controller sends a speed (whole m/s) and an authority (blocks) for each block. (2) The Track Model stores them as the signal of that block's track circuit. (3) Each train receives the signal of the block it is in. A failed circuit, or a block never commanded, carries speed 0 and authority 0.</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Send Beacon Data. (1) Beacons stand on the blocks next to a station block. (2) When a train is in a beacon block, its feed carries the station name, platform side and underground flag.</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Send Signal Light to Train Controller. (1) A signal stands on the block before each switch. (2) On the tick a train enters such a block, the Track Model reports the light's colour for that train; on every other tick it reports none. (3) The harness sends it to the Train controller, which keeps it.</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Sell Tickets and Board Passengers. (1) Each station may sell one ticket per tick, at a configured probability, and keeps a queue of waiting passengers. (2) A train that is stopped in a station block with a door open takes min(waiting, capacity) passengers. (3) The count is returned in the train feed.</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Report Ticket Sales. (1) Every tick the Track Model reports the tickets sold on that tick, by station. (2) It keeps no running total and sends none. (3) The harness sends the sales to the CTC office as (count, station) pairs.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Set Ambient Temperature. (1) Murphy enters a temperature in °F in the Track Model window. (2) It replaces the temperature the harness or test UI sends, until the module restarts.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Switch Track Heaters. (1) The Track Model switches each section's heaters itself (D026). (2) Each section's track temperature eases toward ambient, or toward ambient plus 10 °C while its heaters run. (3) A power failure in any block of the section stops its heaters.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 Use case: Inject or Clear Failure. (1) Murphy selects a block and a failure: broken rail, track circuit or power. (2) The block reads occupied and its track circuit carries nothing, so a train in it gets speed 0 and authority 0. (3) A power failure also holds the block's switch, shows its light RED, drops its crossing gates and stops its section's heaters.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Deni Ephraim.</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7 use cases.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7 use cases.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description; skip if short on time.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description; skip if short on time. Select a fleet entry; bind to its state; display dimensions, operating mass, acceleration, speed, crew/passenger counts, power command, doors, brakes, lights, cabin temperature, position, and station data. Convert values only for display.</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description; skip if short on time. Apply door and light states; move cabin temperature toward the target; report resulting states; show each new announcement in a passenger popup.</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description; skip if short on time. Use grade in the force balance; detect a block transition from polarity; pass commanded speed, authority, speed limit, and the current beacon to controller outputs; publish block, offset, and transition flag to the Track Model.</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description; skip if short on time. Draw the disembark count once for the stop; subtract those passengers; add the received boarding count up to remaining capacity; recompute operating mass; return remaining capacity and update the window count.</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description; skip if short on time. Latch the passenger pull; report emergency brake active immediately; apply its physical braking force on subsequent steps. The Train Controller later sends a one-shot passenger_brake_release to clear the pull.</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description; skip if short on time. </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Train Model class diagram.</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Train Model class diagram.</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Train Model class diagram.</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Train Model class diagram.</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Train Model class diagram.</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Advance physical motion.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Advance physical motion.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Advance physical motion.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Advance physical motion.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Advance physical motion.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Advance physical motion.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Advance physical motion. Validate inputs; determine operating mass and active forces; integrate signed motion; update temperature and elapsed time; return controller and track outputs. The window refreshes the train's readouts.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View and select a train. Select a fleet entry; bind to its state; display dimensions, operating mass, acceleration, speed, crew/passenger counts, power command, doors, brakes, lights, cabin temperature, position, and station data. Convert values only for display.</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View and select a train. Select a fleet entry; bind to its state; display dimensions, operating mass, acceleration, speed, crew/passenger counts, power command, doors, brakes, lights, cabin temperature, position, and station data. Convert values only for display.</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View and select a train. Select a fleet entry; bind to its state; display dimensions, operating mass, acceleration, speed, crew/passenger counts, power command, doors, brakes, lights, cabin temperature, position, and station data. Convert values only for display.</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View and select a train. Select a fleet entry; bind to its state; display dimensions, operating mass, acceleration, speed, crew/passenger counts, power command, doors, brakes, lights, cabin temperature, position, and station data. Convert values only for display.</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Apply onboard equipment commands. Apply door and light states; move cabin temperature toward the target; report resulting states; show each new announcement in a passenger popup.</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Receive track circuit, terrain, and beacon data. Use grade in the force balance; detect a block transition from polarity; pass commanded speed, authority, speed limit, and the current beacon to controller outputs; publish block, offset, and transition flag to the Track Model.</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Receive track circuit, terrain, and beacon data. Use grade in the force balance; detect a block transition from polarity; pass commanded speed, authority, speed limit, and the current beacon to controller outputs; publish block, offset, and transition flag to the Track Model.</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Receive track circuit, terrain, and beacon data. Use grade in the force balance; detect a block transition from polarity; pass commanded speed, authority, speed limit, and the current beacon to controller outputs; publish block, offset, and transition flag to the Track Model.</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Board and disembark passengers. Draw the disembark count once for the stop; subtract those passengers; add the received boarding count up to remaining capacity; recompute operating mass; return remaining capacity and update the window count.</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Board and disembark passengers. Draw the disembark count once for the stop; subtract those passengers; add the received boarding count up to remaining capacity; recompute operating mass; return remaining capacity and update the window count.</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Board and disembark passengers. Draw the disembark count once for the stop; subtract those passengers; add the received boarding count up to remaining capacity; recompute operating mass; return remaining capacity and update the window count.</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Pull and release the passenger emergency brake. Latch the passenger pull; report emergency brake active immediately; apply its physical braking force on subsequent steps. The Train Controller later sends a one-shot passenger_brake_release to clear the pull.</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Pull and release the passenger emergency brake. Latch the passenger pull; report emergency brake active immediately; apply its physical braking force on subsequent steps. The Train Controller later sends a one-shot passenger_brake_release to clear the pull.</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Close-up of the previous slide. Presenter: Kevin Schillinger. Use case: Pull and release the passenger emergency brake. Latch the passenger pull; report emergency brake active immediately; apply its physical braking force on subsequent steps. The Train Controller later sends a one-shot passenger_brake_release to clear the pull.</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 Use case: Inject or clear a failure.</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Kevin Schillinger.</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Signal aspect ahead stands in for the light seen through the front window. Only the driver releases the e-brake (M2).</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description; skip if short on time. • The driver turns the speed dial in 1 mph steps; a press in the bottom gap reads 0 (M14).</a:t>
            </a:r>
          </a:p>
          <a:p>
            <a:r>
              <a:t>• Accepted only when the driver is signed in, the train is in Manual, authority is above 0 and no failure is latched.</a:t>
            </a:r>
          </a:p>
          <a:p>
            <a:r>
              <a:t>• The target is capped at the commanded speed, the only cap; when the commanded speed drops, the target drops with it (M1).</a:t>
            </a:r>
          </a:p>
          <a:p>
            <a:r>
              <a:t>• Each tick the PI law drives power toward the target.</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description; skip if short on time. • The signed-in operator picks Manual or Automatic for the selected train.</a:t>
            </a:r>
          </a:p>
          <a:p>
            <a:r>
              <a:t>• Allowed with a failure latched, so the driver can reach Manual to try the train; the failure still holds the target at 0 (M3).</a:t>
            </a:r>
          </a:p>
          <a:p>
            <a:r>
              <a:t>• Automatic: the target follows the commanded speed, and the cab controls lock except the emergency brake and the mode switch.</a:t>
            </a:r>
          </a:p>
          <a:p>
            <a:r>
              <a:t>• Manual: the driver's own target applies (use case 1).</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description; skip if short on time. • In Manual, the driver toggles a service brake request.</a:t>
            </a:r>
          </a:p>
          <a:p>
            <a:r>
              <a:t>• Also allowed under a brake failure, so the driver can try the brake (M4).</a:t>
            </a:r>
          </a:p>
          <a:p>
            <a:r>
              <a:t>• While it is applied, traction is cut to 0 and the integrator holds.</a:t>
            </a:r>
          </a:p>
          <a:p>
            <a:r>
              <a:t>• The Train Model reports back whether the brake is actually applied (Brake State).</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description; skip if short on time. • Doors open only at a stand (under 0.1 m/s), and at a station only on the platform side from the beacon; closing is always allowed (M6).</a:t>
            </a:r>
          </a:p>
          <a:p>
            <a:r>
              <a:t>• Interior and exterior lights toggle independently.</a:t>
            </a:r>
          </a:p>
          <a:p>
            <a:r>
              <a:t>• Cabin temperature setpoint from 60 to 80 °F, sent to the Train Model in °C.</a:t>
            </a:r>
          </a:p>
          <a:p>
            <a:r>
              <a:t>• Announce repeats the last automatic announcement, held 5 s of system time; the Train Model plays it (M7).</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description; skip if short on time. • The driver engages it in any mode; it acts at once and latches.</a:t>
            </a:r>
          </a:p>
          <a:p>
            <a:r>
              <a:t>• A passenger pull arrives as Brake State from the Train Model and latches it too.</a:t>
            </a:r>
          </a:p>
          <a:p>
            <a:r>
              <a:t>• While it is applied, traction is cut to 0.</a:t>
            </a:r>
          </a:p>
          <a:p>
            <a:r>
              <a:t>• Only the driver can release it (use case 6, M2).</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description; skip if short on time. • Only the driver releases it (M2); passengers and the engineer cannot.</a:t>
            </a:r>
          </a:p>
          <a:p>
            <a:r>
              <a:t>• Only below 0.1 m/s: with no failure latched, in either mode; with one latched, only in Manual, so the driver can try the train (M2, M3).</a:t>
            </a:r>
          </a:p>
          <a:p>
            <a:r>
              <a:t>• A Train Model report of off never releases it.</a:t>
            </a:r>
          </a:p>
          <a:p>
            <a:r>
              <a:t>• A refused release says why: still moving, or which failure is active.</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description; skip if short on time. • The engineer signs in on the selected train; refused if it is already commissioned.</a:t>
            </a:r>
          </a:p>
          <a:p>
            <a:r>
              <a:t>• Kp and Ki go in the gains pop-up (defaults 400,000 W per m/s and 8,000 W per m); they must be numbers, and negatives become 0.</a:t>
            </a:r>
          </a:p>
          <a:p>
            <a:r>
              <a:t>• The gains are fixed for the run, and the console hands back to the driver after 1.5 s.</a:t>
            </a:r>
          </a:p>
          <a:p>
            <a:r>
              <a:t>• Until then the train commands 0 W, but its brakes and safety path still work.</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Either the harness or the bench drives the fleet, never both, and the controller cannot tell which (M0). - More Information: HARNESS_INTEGRATION.md gives the call sequence and import path. import train_ctrl imports no Qt and does not re-export bench_sim.</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Class diagram: controller core.</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Class diagram: State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Boundary types this module produces: TrainModelCommands (one per train per tick). Boundary type it consumes: a plain dict per train with the keys in 004-interface, checked by read_inputs. It defines no typing.Protocol yet (§4.1).</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Set target speed (Manual). • The driver turns the speed dial in 1 mph steps; a press in the bottom gap reads 0 (M14).</a:t>
            </a:r>
          </a:p>
          <a:p>
            <a:r>
              <a:t>• Accepted only when the driver is signed in, the train is in Manual, authority is above 0 and no failure is latched.</a:t>
            </a:r>
          </a:p>
          <a:p>
            <a:r>
              <a:t>• The target is capped at the commanded speed, the only cap; when the commanded speed drops, the target drops with it (M1).</a:t>
            </a:r>
          </a:p>
          <a:p>
            <a:r>
              <a:t>• Each tick the PI law drives power toward the target.</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Switch Manual / Automatic. • The signed-in operator picks Manual or Automatic for the selected train.</a:t>
            </a:r>
          </a:p>
          <a:p>
            <a:r>
              <a:t>• Allowed with a failure latched, so the driver can reach Manual to try the train; the failure still holds the target at 0 (M3).</a:t>
            </a:r>
          </a:p>
          <a:p>
            <a:r>
              <a:t>• Automatic: the target follows the commanded speed, and the cab controls lock except the emergency brake and the mode switch.</a:t>
            </a:r>
          </a:p>
          <a:p>
            <a:r>
              <a:t>• Manual: the driver's own target applies (use case 1).</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Apply service brake. • In Manual, the driver toggles a service brake request.</a:t>
            </a:r>
          </a:p>
          <a:p>
            <a:r>
              <a:t>• Also allowed under a brake failure, so the driver can try the brake (M4).</a:t>
            </a:r>
          </a:p>
          <a:p>
            <a:r>
              <a:t>• While it is applied, traction is cut to 0 and the integrator holds.</a:t>
            </a:r>
          </a:p>
          <a:p>
            <a:r>
              <a:t>• The Train Model reports back whether the brake is actually applied (Brake State).</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Doors, lights, temperature, announce. • Doors open only at a stand (under 0.1 m/s), and at a station only on the platform side from the beacon; closing is always allowed (M6).</a:t>
            </a:r>
          </a:p>
          <a:p>
            <a:r>
              <a:t>• Interior and exterior lights toggle independently.</a:t>
            </a:r>
          </a:p>
          <a:p>
            <a:r>
              <a:t>• Cabin temperature setpoint from 60 to 80 °F, sent to the Train Model in °C.</a:t>
            </a:r>
          </a:p>
          <a:p>
            <a:r>
              <a:t>• Announce repeats the last automatic announcement, held 5 s of system time; the Train Model plays it (M7).</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Doors, lights, temperature, announce. • Doors open only at a stand (under 0.1 m/s), and at a station only on the platform side from the beacon; closing is always allowed (M6).</a:t>
            </a:r>
          </a:p>
          <a:p>
            <a:r>
              <a:t>• Interior and exterior lights toggle independently.</a:t>
            </a:r>
          </a:p>
          <a:p>
            <a:r>
              <a:t>• Cabin temperature setpoint from 60 to 80 °F, sent to the Train Model in °C.</a:t>
            </a:r>
          </a:p>
          <a:p>
            <a:r>
              <a:t>• Announce repeats the last automatic announcement, held 5 s of system time; the Train Model plays it (M7).</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Doors, lights, temperature, announce. • Doors open only at a stand (under 0.1 m/s), and at a station only on the platform side from the beacon; closing is always allowed (M6).</a:t>
            </a:r>
          </a:p>
          <a:p>
            <a:r>
              <a:t>• Interior and exterior lights toggle independently.</a:t>
            </a:r>
          </a:p>
          <a:p>
            <a:r>
              <a:t>• Cabin temperature setpoint from 60 to 80 °F, sent to the Train Model in °C.</a:t>
            </a:r>
          </a:p>
          <a:p>
            <a:r>
              <a:t>• Announce repeats the last automatic announcement, held 5 s of system time; the Train Model plays it (M7).</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Doors, lights, temperature, announce. • Doors open only at a stand (under 0.1 m/s), and at a station only on the platform side from the beacon; closing is always allowed (M6).</a:t>
            </a:r>
          </a:p>
          <a:p>
            <a:r>
              <a:t>• Interior and exterior lights toggle independently.</a:t>
            </a:r>
          </a:p>
          <a:p>
            <a:r>
              <a:t>• Cabin temperature setpoint from 60 to 80 °F, sent to the Train Model in °C.</a:t>
            </a:r>
          </a:p>
          <a:p>
            <a:r>
              <a:t>• Announce repeats the last automatic announcement, held 5 s of system time; the Train Model plays it (M7).</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Engage the emergency brake. • The driver engages it in any mode; it acts at once and latches.</a:t>
            </a:r>
          </a:p>
          <a:p>
            <a:r>
              <a:t>• A passenger pull arrives as Brake State from the Train Model and latches it too.</a:t>
            </a:r>
          </a:p>
          <a:p>
            <a:r>
              <a:t>• While it is applied, traction is cut to 0.</a:t>
            </a:r>
          </a:p>
          <a:p>
            <a:r>
              <a:t>• Only the driver can release it (use case 6, M2).</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Release the emergency brake. • Only the driver releases it (M2); passengers and the engineer cannot.</a:t>
            </a:r>
          </a:p>
          <a:p>
            <a:r>
              <a:t>• Only below 0.1 m/s: with no failure latched, in either mode; with one latched, only in Manual, so the driver can try the train (M2, M3).</a:t>
            </a:r>
          </a:p>
          <a:p>
            <a:r>
              <a:t>• A Train Model report of off never releases it.</a:t>
            </a:r>
          </a:p>
          <a:p>
            <a:r>
              <a:t>• A refused release says why: still moving, or which failure is active.</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 Use case: Commission Kp and Ki. • The engineer signs in on the selected train; refused if it is already commissioned.</a:t>
            </a:r>
          </a:p>
          <a:p>
            <a:r>
              <a:t>• Kp and Ki go in the gains pop-up (defaults 400,000 W per m/s and 8,000 W per m); they must be numbers, and negatives become 0.</a:t>
            </a:r>
          </a:p>
          <a:p>
            <a:r>
              <a:t>• The gains are fixed for the run, and the console hands back to the driver after 1.5 s.</a:t>
            </a:r>
          </a:p>
          <a:p>
            <a:r>
              <a:t>• Until then the train commands 0 W, but its brakes and safety path still work.</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Jonathan Tsang, Ivan Zheng.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3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3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3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3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3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3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4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4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4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4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4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4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4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4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4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5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5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5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5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5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5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5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5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5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5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6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6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6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6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6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image" Target="../media/image6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image" Target="../media/image6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6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 Id="rId3" Type="http://schemas.openxmlformats.org/officeDocument/2006/relationships/image" Target="../media/image6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6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 Id="rId3" Type="http://schemas.openxmlformats.org/officeDocument/2006/relationships/image" Target="../media/image7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7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7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image" Target="../media/image7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7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 Id="rId3" Type="http://schemas.openxmlformats.org/officeDocument/2006/relationships/image" Target="../media/image7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 Id="rId3" Type="http://schemas.openxmlformats.org/officeDocument/2006/relationships/image" Target="../media/image7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image" Target="../media/image7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 Id="rId3" Type="http://schemas.openxmlformats.org/officeDocument/2006/relationships/image" Target="../media/image78.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79.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image" Target="../media/image8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image" Target="../media/image8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 Id="rId3" Type="http://schemas.openxmlformats.org/officeDocument/2006/relationships/image" Target="../media/image8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 Id="rId3" Type="http://schemas.openxmlformats.org/officeDocument/2006/relationships/image" Target="../media/image8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 Id="rId3" Type="http://schemas.openxmlformats.org/officeDocument/2006/relationships/image" Target="../media/image8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 Id="rId3" Type="http://schemas.openxmlformats.org/officeDocument/2006/relationships/image" Target="../media/image85.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 Id="rId3" Type="http://schemas.openxmlformats.org/officeDocument/2006/relationships/image" Target="../media/image86.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 Id="rId3" Type="http://schemas.openxmlformats.org/officeDocument/2006/relationships/image" Target="../media/image87.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 Id="rId3" Type="http://schemas.openxmlformats.org/officeDocument/2006/relationships/image" Target="../media/image88.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 Id="rId3" Type="http://schemas.openxmlformats.org/officeDocument/2006/relationships/image" Target="../media/image89.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 Id="rId3" Type="http://schemas.openxmlformats.org/officeDocument/2006/relationships/image" Target="../media/image90.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 Id="rId3" Type="http://schemas.openxmlformats.org/officeDocument/2006/relationships/image" Target="../media/image9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9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 Id="rId3" Type="http://schemas.openxmlformats.org/officeDocument/2006/relationships/image" Target="../media/image9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 Id="rId3" Type="http://schemas.openxmlformats.org/officeDocument/2006/relationships/image" Target="../media/image94.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 Id="rId3" Type="http://schemas.openxmlformats.org/officeDocument/2006/relationships/image" Target="../media/image9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 Id="rId3" Type="http://schemas.openxmlformats.org/officeDocument/2006/relationships/image" Target="../media/image96.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 Id="rId3" Type="http://schemas.openxmlformats.org/officeDocument/2006/relationships/image" Target="../media/image9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 Id="rId3" Type="http://schemas.openxmlformats.org/officeDocument/2006/relationships/image" Target="../media/image98.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 Id="rId3" Type="http://schemas.openxmlformats.org/officeDocument/2006/relationships/image" Target="../media/image99.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 Id="rId3" Type="http://schemas.openxmlformats.org/officeDocument/2006/relationships/image" Target="../media/image100.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 Id="rId3" Type="http://schemas.openxmlformats.org/officeDocument/2006/relationships/image" Target="../media/image10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 Id="rId3" Type="http://schemas.openxmlformats.org/officeDocument/2006/relationships/image" Target="../media/image10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 Id="rId3" Type="http://schemas.openxmlformats.org/officeDocument/2006/relationships/image" Target="../media/image103.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 Id="rId3" Type="http://schemas.openxmlformats.org/officeDocument/2006/relationships/image" Target="../media/image10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image" Target="../media/image105.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 Id="rId3" Type="http://schemas.openxmlformats.org/officeDocument/2006/relationships/image" Target="../media/image106.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 Id="rId3" Type="http://schemas.openxmlformats.org/officeDocument/2006/relationships/image" Target="../media/image107.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 Id="rId3" Type="http://schemas.openxmlformats.org/officeDocument/2006/relationships/image" Target="../media/image108.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 Id="rId3" Type="http://schemas.openxmlformats.org/officeDocument/2006/relationships/image" Target="../media/image109.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image" Target="../media/image11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 Id="rId3" Type="http://schemas.openxmlformats.org/officeDocument/2006/relationships/image" Target="../media/image11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image" Target="../media/image11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 Id="rId3" Type="http://schemas.openxmlformats.org/officeDocument/2006/relationships/image" Target="../media/image113.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 Id="rId3" Type="http://schemas.openxmlformats.org/officeDocument/2006/relationships/image" Target="../media/image114.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 Id="rId3" Type="http://schemas.openxmlformats.org/officeDocument/2006/relationships/image" Target="../media/image115.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openxmlformats.org/officeDocument/2006/relationships/image" Target="../media/image116.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 Id="rId3" Type="http://schemas.openxmlformats.org/officeDocument/2006/relationships/image" Target="../media/image117.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 Id="rId3" Type="http://schemas.openxmlformats.org/officeDocument/2006/relationships/image" Target="../media/image118.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 Id="rId3" Type="http://schemas.openxmlformats.org/officeDocument/2006/relationships/image" Target="../media/image119.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 Id="rId3" Type="http://schemas.openxmlformats.org/officeDocument/2006/relationships/image" Target="../media/image120.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 Id="rId3" Type="http://schemas.openxmlformats.org/officeDocument/2006/relationships/image" Target="../media/image12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 Id="rId3" Type="http://schemas.openxmlformats.org/officeDocument/2006/relationships/image" Target="../media/image12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 Id="rId3" Type="http://schemas.openxmlformats.org/officeDocument/2006/relationships/image" Target="../media/image123.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 Id="rId3" Type="http://schemas.openxmlformats.org/officeDocument/2006/relationships/image" Target="../media/image124.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 Id="rId3" Type="http://schemas.openxmlformats.org/officeDocument/2006/relationships/image" Target="../media/image125.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 Id="rId3" Type="http://schemas.openxmlformats.org/officeDocument/2006/relationships/image" Target="../media/image126.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 Id="rId3" Type="http://schemas.openxmlformats.org/officeDocument/2006/relationships/image" Target="../media/image127.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 Id="rId3" Type="http://schemas.openxmlformats.org/officeDocument/2006/relationships/image" Target="../media/image128.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 Id="rId3" Type="http://schemas.openxmlformats.org/officeDocument/2006/relationships/image" Target="../media/image129.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 Id="rId3" Type="http://schemas.openxmlformats.org/officeDocument/2006/relationships/image" Target="../media/image130.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 Id="rId3" Type="http://schemas.openxmlformats.org/officeDocument/2006/relationships/image" Target="../media/image13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 Id="rId3" Type="http://schemas.openxmlformats.org/officeDocument/2006/relationships/image" Target="../media/image13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 Id="rId3" Type="http://schemas.openxmlformats.org/officeDocument/2006/relationships/image" Target="../media/image133.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 Id="rId3" Type="http://schemas.openxmlformats.org/officeDocument/2006/relationships/image" Target="../media/image134.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 Id="rId3" Type="http://schemas.openxmlformats.org/officeDocument/2006/relationships/image" Target="../media/image135.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 Id="rId3" Type="http://schemas.openxmlformats.org/officeDocument/2006/relationships/image" Target="../media/image136.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 Id="rId3" Type="http://schemas.openxmlformats.org/officeDocument/2006/relationships/image" Target="../media/image137.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 Id="rId3" Type="http://schemas.openxmlformats.org/officeDocument/2006/relationships/image" Target="../media/image138.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 Id="rId3" Type="http://schemas.openxmlformats.org/officeDocument/2006/relationships/image" Target="../media/image139.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 Id="rId3" Type="http://schemas.openxmlformats.org/officeDocument/2006/relationships/image" Target="../media/image140.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 Id="rId3" Type="http://schemas.openxmlformats.org/officeDocument/2006/relationships/image" Target="../media/image14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 Id="rId3" Type="http://schemas.openxmlformats.org/officeDocument/2006/relationships/image" Target="../media/image14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 Id="rId3" Type="http://schemas.openxmlformats.org/officeDocument/2006/relationships/image" Target="../media/image143.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 Id="rId3" Type="http://schemas.openxmlformats.org/officeDocument/2006/relationships/image" Target="../media/image144.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 Id="rId3" Type="http://schemas.openxmlformats.org/officeDocument/2006/relationships/image" Target="../media/image145.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 Id="rId3" Type="http://schemas.openxmlformats.org/officeDocument/2006/relationships/image" Target="../media/image146.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 Id="rId3" Type="http://schemas.openxmlformats.org/officeDocument/2006/relationships/image" Target="../media/image147.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 Id="rId3" Type="http://schemas.openxmlformats.org/officeDocument/2006/relationships/image" Target="../media/image148.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 Id="rId3" Type="http://schemas.openxmlformats.org/officeDocument/2006/relationships/image" Target="../media/image149.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 Id="rId3" Type="http://schemas.openxmlformats.org/officeDocument/2006/relationships/image" Target="../media/image150.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 Id="rId3" Type="http://schemas.openxmlformats.org/officeDocument/2006/relationships/image" Target="../media/image15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 Id="rId3" Type="http://schemas.openxmlformats.org/officeDocument/2006/relationships/image" Target="../media/image152.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 Id="rId3" Type="http://schemas.openxmlformats.org/officeDocument/2006/relationships/image" Target="../media/image153.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 Id="rId3" Type="http://schemas.openxmlformats.org/officeDocument/2006/relationships/image" Target="../media/image154.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 Id="rId3" Type="http://schemas.openxmlformats.org/officeDocument/2006/relationships/image" Target="../media/image155.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 Id="rId3" Type="http://schemas.openxmlformats.org/officeDocument/2006/relationships/image" Target="../media/image156.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 Id="rId3" Type="http://schemas.openxmlformats.org/officeDocument/2006/relationships/image" Target="../media/image157.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 Id="rId3" Type="http://schemas.openxmlformats.org/officeDocument/2006/relationships/image" Target="../media/image158.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 Id="rId3" Type="http://schemas.openxmlformats.org/officeDocument/2006/relationships/image" Target="../media/image159.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 Id="rId3" Type="http://schemas.openxmlformats.org/officeDocument/2006/relationships/image" Target="../media/image160.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 Id="rId3" Type="http://schemas.openxmlformats.org/officeDocument/2006/relationships/image" Target="../media/image16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 Id="rId3" Type="http://schemas.openxmlformats.org/officeDocument/2006/relationships/image" Target="../media/image162.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 Id="rId3" Type="http://schemas.openxmlformats.org/officeDocument/2006/relationships/image" Target="../media/image163.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 Id="rId3" Type="http://schemas.openxmlformats.org/officeDocument/2006/relationships/image" Target="../media/image164.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 Id="rId3" Type="http://schemas.openxmlformats.org/officeDocument/2006/relationships/image" Target="../media/image165.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 Id="rId3" Type="http://schemas.openxmlformats.org/officeDocument/2006/relationships/image" Target="../media/image166.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 Id="rId3" Type="http://schemas.openxmlformats.org/officeDocument/2006/relationships/image" Target="../media/image167.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 Id="rId3" Type="http://schemas.openxmlformats.org/officeDocument/2006/relationships/image" Target="../media/image168.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 Id="rId3" Type="http://schemas.openxmlformats.org/officeDocument/2006/relationships/image" Target="../media/image169.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 Id="rId3" Type="http://schemas.openxmlformats.org/officeDocument/2006/relationships/image" Target="../media/image170.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 Id="rId3" Type="http://schemas.openxmlformats.org/officeDocument/2006/relationships/image" Target="../media/image171.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 Id="rId3" Type="http://schemas.openxmlformats.org/officeDocument/2006/relationships/image" Target="../media/image17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 Id="rId3" Type="http://schemas.openxmlformats.org/officeDocument/2006/relationships/image" Target="../media/image173.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 Id="rId3" Type="http://schemas.openxmlformats.org/officeDocument/2006/relationships/image" Target="../media/image174.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 Id="rId3" Type="http://schemas.openxmlformats.org/officeDocument/2006/relationships/image" Target="../media/image175.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 Id="rId3" Type="http://schemas.openxmlformats.org/officeDocument/2006/relationships/image" Target="../media/image176.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 Id="rId3" Type="http://schemas.openxmlformats.org/officeDocument/2006/relationships/image" Target="../media/image177.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 Id="rId3" Type="http://schemas.openxmlformats.org/officeDocument/2006/relationships/image" Target="../media/image178.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 Id="rId3" Type="http://schemas.openxmlformats.org/officeDocument/2006/relationships/image" Target="../media/image179.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 Id="rId3" Type="http://schemas.openxmlformats.org/officeDocument/2006/relationships/image" Target="../media/image180.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 Id="rId3" Type="http://schemas.openxmlformats.org/officeDocument/2006/relationships/image" Target="../media/image18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 Id="rId3" Type="http://schemas.openxmlformats.org/officeDocument/2006/relationships/image" Target="../media/image182.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 Id="rId3" Type="http://schemas.openxmlformats.org/officeDocument/2006/relationships/image" Target="../media/image183.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 Id="rId3" Type="http://schemas.openxmlformats.org/officeDocument/2006/relationships/image" Target="../media/image184.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 Id="rId3" Type="http://schemas.openxmlformats.org/officeDocument/2006/relationships/image" Target="../media/image185.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 Id="rId3" Type="http://schemas.openxmlformats.org/officeDocument/2006/relationships/image" Target="../media/image186.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 Id="rId3" Type="http://schemas.openxmlformats.org/officeDocument/2006/relationships/image" Target="../media/image187.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 Id="rId3" Type="http://schemas.openxmlformats.org/officeDocument/2006/relationships/image" Target="../media/image188.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 Id="rId3" Type="http://schemas.openxmlformats.org/officeDocument/2006/relationships/image" Target="../media/image189.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 Id="rId3" Type="http://schemas.openxmlformats.org/officeDocument/2006/relationships/image" Target="../media/image190.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 Id="rId3" Type="http://schemas.openxmlformats.org/officeDocument/2006/relationships/image" Target="../media/image191.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 Id="rId3" Type="http://schemas.openxmlformats.org/officeDocument/2006/relationships/image" Target="../media/image192.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 Id="rId3" Type="http://schemas.openxmlformats.org/officeDocument/2006/relationships/image" Target="../media/image193.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 Id="rId3" Type="http://schemas.openxmlformats.org/officeDocument/2006/relationships/image" Target="../media/image194.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 Id="rId3" Type="http://schemas.openxmlformats.org/officeDocument/2006/relationships/image" Target="../media/image195.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 Id="rId3" Type="http://schemas.openxmlformats.org/officeDocument/2006/relationships/image" Target="../media/image196.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 Id="rId3" Type="http://schemas.openxmlformats.org/officeDocument/2006/relationships/image" Target="../media/image197.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 Id="rId3" Type="http://schemas.openxmlformats.org/officeDocument/2006/relationships/image" Target="../media/image198.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 Id="rId3" Type="http://schemas.openxmlformats.org/officeDocument/2006/relationships/image" Target="../media/image199.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 Id="rId3" Type="http://schemas.openxmlformats.org/officeDocument/2006/relationships/image" Target="../media/image200.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 Id="rId3" Type="http://schemas.openxmlformats.org/officeDocument/2006/relationships/image" Target="../media/image201.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 Id="rId3" Type="http://schemas.openxmlformats.org/officeDocument/2006/relationships/image" Target="../media/image202.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 Id="rId3" Type="http://schemas.openxmlformats.org/officeDocument/2006/relationships/image" Target="../media/image203.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 Id="rId3" Type="http://schemas.openxmlformats.org/officeDocument/2006/relationships/image" Target="../media/image204.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 Id="rId3" Type="http://schemas.openxmlformats.org/officeDocument/2006/relationships/image" Target="../media/image205.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 Id="rId3" Type="http://schemas.openxmlformats.org/officeDocument/2006/relationships/image" Target="../media/image206.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 Id="rId3" Type="http://schemas.openxmlformats.org/officeDocument/2006/relationships/image" Target="../media/image207.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 Id="rId3" Type="http://schemas.openxmlformats.org/officeDocument/2006/relationships/image" Target="../media/image208.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1097280"/>
          </a:xfrm>
          <a:prstGeom prst="rect">
            <a:avLst/>
          </a:prstGeom>
          <a:noFill/>
        </p:spPr>
        <p:txBody>
          <a:bodyPr wrap="square" anchor="t" lIns="45720" rIns="45720">
            <a:spAutoFit/>
          </a:bodyPr>
          <a:lstStyle/>
          <a:p>
            <a:pPr algn="l"/>
            <a:r>
              <a:rPr sz="4400" b="1">
                <a:solidFill>
                  <a:srgbClr val="FFFFFF"/>
                </a:solidFill>
                <a:latin typeface="Segoe UI"/>
              </a:rPr>
              <a:t>Railway Simulation</a:t>
            </a:r>
          </a:p>
        </p:txBody>
      </p:sp>
      <p:sp>
        <p:nvSpPr>
          <p:cNvPr id="4" name="TextBox 3"/>
          <p:cNvSpPr txBox="1"/>
          <p:nvPr/>
        </p:nvSpPr>
        <p:spPr>
          <a:xfrm>
            <a:off x="822960" y="3200400"/>
            <a:ext cx="10515600" cy="731520"/>
          </a:xfrm>
          <a:prstGeom prst="rect">
            <a:avLst/>
          </a:prstGeom>
          <a:noFill/>
        </p:spPr>
        <p:txBody>
          <a:bodyPr wrap="square" anchor="t" lIns="45720" rIns="45720">
            <a:spAutoFit/>
          </a:bodyPr>
          <a:lstStyle/>
          <a:p>
            <a:pPr algn="l"/>
            <a:r>
              <a:rPr sz="2400" b="0">
                <a:solidFill>
                  <a:srgbClr val="D9E2EC"/>
                </a:solidFill>
                <a:latin typeface="Segoe UI"/>
              </a:rPr>
              <a:t>Design review: system and module design</a:t>
            </a:r>
          </a:p>
        </p:txBody>
      </p:sp>
      <p:sp>
        <p:nvSpPr>
          <p:cNvPr id="5" name="TextBox 4"/>
          <p:cNvSpPr txBox="1"/>
          <p:nvPr/>
        </p:nvSpPr>
        <p:spPr>
          <a:xfrm>
            <a:off x="822960" y="5120640"/>
            <a:ext cx="10515600" cy="548640"/>
          </a:xfrm>
          <a:prstGeom prst="rect">
            <a:avLst/>
          </a:prstGeom>
          <a:noFill/>
        </p:spPr>
        <p:txBody>
          <a:bodyPr wrap="square" anchor="t" lIns="45720" rIns="45720">
            <a:spAutoFit/>
          </a:bodyPr>
          <a:lstStyle/>
          <a:p>
            <a:pPr algn="l"/>
            <a:r>
              <a:rPr sz="1600" b="0">
                <a:solidFill>
                  <a:srgbClr val="D9E2EC"/>
                </a:solidFill>
                <a:latin typeface="Segoe UI"/>
              </a:rPr>
              <a:t>Team 3, Track Overflow · ECE 1140 ·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Agenda</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Overview</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The system: architecture, software architecture, interaction, deployment</a:t>
            </a:r>
          </a:p>
          <a:p>
            <a:pPr>
              <a:spcAft>
                <a:spcPts val="800"/>
              </a:spcAft>
            </a:pPr>
            <a:r>
              <a:rPr sz="2400">
                <a:solidFill>
                  <a:srgbClr val="222B36"/>
                </a:solidFill>
                <a:latin typeface="Segoe UI"/>
              </a:rPr>
              <a:t>•  System-wide concepts: route, authority, wayside distribution, timing, vitality, language, HW/SW</a:t>
            </a:r>
          </a:p>
          <a:p>
            <a:pPr>
              <a:spcAft>
                <a:spcPts val="800"/>
              </a:spcAft>
            </a:pPr>
            <a:r>
              <a:rPr sz="2400">
                <a:solidFill>
                  <a:srgbClr val="222B36"/>
                </a:solidFill>
                <a:latin typeface="Segoe UI"/>
              </a:rPr>
              <a:t>•  Each module: use cases, descriptions, architecture, classes, one sequence diagram per use case</a:t>
            </a:r>
          </a:p>
          <a:p>
            <a:pPr lvl="1">
              <a:spcAft>
                <a:spcPts val="400"/>
              </a:spcAft>
            </a:pPr>
            <a:r>
              <a:rPr sz="2100">
                <a:solidFill>
                  <a:srgbClr val="5B6775"/>
                </a:solidFill>
                <a:latin typeface="Segoe UI"/>
              </a:rPr>
              <a:t>–  CTC Office · Track Controller SW · Track Controller HW · Track Model · Train Model · Train Controller</a:t>
            </a:r>
          </a:p>
          <a:p>
            <a:pPr>
              <a:spcAft>
                <a:spcPts val="800"/>
              </a:spcAft>
            </a:pPr>
            <a:r>
              <a:rPr sz="2400">
                <a:solidFill>
                  <a:srgbClr val="222B36"/>
                </a:solidFill>
                <a:latin typeface="Segoe UI"/>
              </a:rPr>
              <a:t>•  Open items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The system</a:t>
            </a:r>
          </a:p>
        </p:txBody>
      </p:sp>
      <p:sp>
        <p:nvSpPr>
          <p:cNvPr id="5" name="TextBox 4"/>
          <p:cNvSpPr txBox="1"/>
          <p:nvPr/>
        </p:nvSpPr>
        <p:spPr>
          <a:xfrm>
            <a:off x="822960" y="3474720"/>
            <a:ext cx="10515600" cy="914400"/>
          </a:xfrm>
          <a:prstGeom prst="rect">
            <a:avLst/>
          </a:prstGeom>
          <a:noFill/>
        </p:spPr>
        <p:txBody>
          <a:bodyPr wrap="square" anchor="t" lIns="45720" rIns="45720">
            <a:spAutoFit/>
          </a:bodyPr>
          <a:lstStyle/>
          <a:p>
            <a:pPr algn="l"/>
            <a:r>
              <a:rPr sz="2000" b="0">
                <a:solidFill>
                  <a:srgbClr val="5B6775"/>
                </a:solidFill>
                <a:latin typeface="Segoe UI"/>
              </a:rPr>
              <a:t>Architecture, software architecture, interaction, deployment and the concepts every module relies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System architecture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a:t>
            </a:r>
          </a:p>
        </p:txBody>
      </p:sp>
      <p:pic>
        <p:nvPicPr>
          <p:cNvPr id="6" name="Picture 5" descr="system_architecture.png"/>
          <p:cNvPicPr>
            <a:picLocks noChangeAspect="1"/>
          </p:cNvPicPr>
          <p:nvPr/>
        </p:nvPicPr>
        <p:blipFill>
          <a:blip r:embed="rId3"/>
          <a:stretch>
            <a:fillRect/>
          </a:stretch>
        </p:blipFill>
        <p:spPr>
          <a:xfrm>
            <a:off x="1791146" y="868680"/>
            <a:ext cx="8609402" cy="587959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System architecture (detail 1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a:t>
            </a:r>
          </a:p>
        </p:txBody>
      </p:sp>
      <p:pic>
        <p:nvPicPr>
          <p:cNvPr id="6" name="Picture 5" descr="system_architecture_0_0_1804_1232.png"/>
          <p:cNvPicPr>
            <a:picLocks noChangeAspect="1"/>
          </p:cNvPicPr>
          <p:nvPr/>
        </p:nvPicPr>
        <p:blipFill>
          <a:blip r:embed="rId3"/>
          <a:stretch>
            <a:fillRect/>
          </a:stretch>
        </p:blipFill>
        <p:spPr>
          <a:xfrm>
            <a:off x="1791146" y="868680"/>
            <a:ext cx="8609402" cy="58795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System architecture (detail 2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a:t>
            </a:r>
          </a:p>
        </p:txBody>
      </p:sp>
      <p:pic>
        <p:nvPicPr>
          <p:cNvPr id="6" name="Picture 5" descr="system_architecture_1476_0_3280_1232.png"/>
          <p:cNvPicPr>
            <a:picLocks noChangeAspect="1"/>
          </p:cNvPicPr>
          <p:nvPr/>
        </p:nvPicPr>
        <p:blipFill>
          <a:blip r:embed="rId3"/>
          <a:stretch>
            <a:fillRect/>
          </a:stretch>
        </p:blipFill>
        <p:spPr>
          <a:xfrm>
            <a:off x="1791146" y="868680"/>
            <a:ext cx="8609402" cy="587959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System architecture (detail 3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a:t>
            </a:r>
          </a:p>
        </p:txBody>
      </p:sp>
      <p:pic>
        <p:nvPicPr>
          <p:cNvPr id="6" name="Picture 5" descr="system_architecture_0_1008_1804_2240.png"/>
          <p:cNvPicPr>
            <a:picLocks noChangeAspect="1"/>
          </p:cNvPicPr>
          <p:nvPr/>
        </p:nvPicPr>
        <p:blipFill>
          <a:blip r:embed="rId3"/>
          <a:stretch>
            <a:fillRect/>
          </a:stretch>
        </p:blipFill>
        <p:spPr>
          <a:xfrm>
            <a:off x="1791146" y="868680"/>
            <a:ext cx="8609402" cy="587959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System architecture (detail 4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a:t>
            </a:r>
          </a:p>
        </p:txBody>
      </p:sp>
      <p:pic>
        <p:nvPicPr>
          <p:cNvPr id="6" name="Picture 5" descr="system_architecture_1476_1008_3280_2240.png"/>
          <p:cNvPicPr>
            <a:picLocks noChangeAspect="1"/>
          </p:cNvPicPr>
          <p:nvPr/>
        </p:nvPicPr>
        <p:blipFill>
          <a:blip r:embed="rId3"/>
          <a:stretch>
            <a:fillRect/>
          </a:stretch>
        </p:blipFill>
        <p:spPr>
          <a:xfrm>
            <a:off x="1791146" y="868680"/>
            <a:ext cx="8609402" cy="58795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100" b="1">
                <a:solidFill>
                  <a:srgbClr val="FFFFFF"/>
                </a:solidFill>
                <a:latin typeface="Segoe UI"/>
              </a:rPr>
              <a:t>Software architecture (1 of 2): harness and processes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a:t>
            </a:r>
          </a:p>
        </p:txBody>
      </p:sp>
      <p:pic>
        <p:nvPicPr>
          <p:cNvPr id="6" name="Picture 5" descr="system_classes_harness.png"/>
          <p:cNvPicPr>
            <a:picLocks noChangeAspect="1"/>
          </p:cNvPicPr>
          <p:nvPr/>
        </p:nvPicPr>
        <p:blipFill>
          <a:blip r:embed="rId3"/>
          <a:stretch>
            <a:fillRect/>
          </a:stretch>
        </p:blipFill>
        <p:spPr>
          <a:xfrm>
            <a:off x="2471896" y="868680"/>
            <a:ext cx="7247903" cy="587959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Software architecture (1 of 2)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a:t>
            </a:r>
          </a:p>
        </p:txBody>
      </p:sp>
      <p:pic>
        <p:nvPicPr>
          <p:cNvPr id="6" name="Picture 5" descr="system_classes_harness_0_0_1748_751.png"/>
          <p:cNvPicPr>
            <a:picLocks noChangeAspect="1"/>
          </p:cNvPicPr>
          <p:nvPr/>
        </p:nvPicPr>
        <p:blipFill>
          <a:blip r:embed="rId3"/>
          <a:stretch>
            <a:fillRect/>
          </a:stretch>
        </p:blipFill>
        <p:spPr>
          <a:xfrm>
            <a:off x="411480" y="1366279"/>
            <a:ext cx="11368735" cy="488439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Software architecture (1 of 2)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a:t>
            </a:r>
          </a:p>
        </p:txBody>
      </p:sp>
      <p:pic>
        <p:nvPicPr>
          <p:cNvPr id="6" name="Picture 5" descr="system_classes_harness_0_666_1748_1418.png"/>
          <p:cNvPicPr>
            <a:picLocks noChangeAspect="1"/>
          </p:cNvPicPr>
          <p:nvPr/>
        </p:nvPicPr>
        <p:blipFill>
          <a:blip r:embed="rId3"/>
          <a:stretch>
            <a:fillRect/>
          </a:stretch>
        </p:blipFill>
        <p:spPr>
          <a:xfrm>
            <a:off x="411480" y="1363027"/>
            <a:ext cx="11368735" cy="489089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Software architecture (2 of 2): contracts and implementations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a:t>
            </a:r>
          </a:p>
        </p:txBody>
      </p:sp>
      <p:pic>
        <p:nvPicPr>
          <p:cNvPr id="6" name="Picture 5" descr="system_classes_modules.png"/>
          <p:cNvPicPr>
            <a:picLocks noChangeAspect="1"/>
          </p:cNvPicPr>
          <p:nvPr/>
        </p:nvPicPr>
        <p:blipFill>
          <a:blip r:embed="rId3"/>
          <a:stretch>
            <a:fillRect/>
          </a:stretch>
        </p:blipFill>
        <p:spPr>
          <a:xfrm>
            <a:off x="2636236" y="868680"/>
            <a:ext cx="6919222" cy="587959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Software architecture (2 of 2)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a:t>
            </a:r>
          </a:p>
        </p:txBody>
      </p:sp>
      <p:pic>
        <p:nvPicPr>
          <p:cNvPr id="6" name="Picture 5" descr="system_classes_modules_0_0_1584_713.png"/>
          <p:cNvPicPr>
            <a:picLocks noChangeAspect="1"/>
          </p:cNvPicPr>
          <p:nvPr/>
        </p:nvPicPr>
        <p:blipFill>
          <a:blip r:embed="rId3"/>
          <a:stretch>
            <a:fillRect/>
          </a:stretch>
        </p:blipFill>
        <p:spPr>
          <a:xfrm>
            <a:off x="411480" y="1249793"/>
            <a:ext cx="11368735" cy="511736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Software architecture (2 of 2)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a:t>
            </a:r>
          </a:p>
        </p:txBody>
      </p:sp>
      <p:pic>
        <p:nvPicPr>
          <p:cNvPr id="6" name="Picture 5" descr="system_classes_modules_0_632_1584_1346.png"/>
          <p:cNvPicPr>
            <a:picLocks noChangeAspect="1"/>
          </p:cNvPicPr>
          <p:nvPr/>
        </p:nvPicPr>
        <p:blipFill>
          <a:blip r:embed="rId3"/>
          <a:stretch>
            <a:fillRect/>
          </a:stretch>
        </p:blipFill>
        <p:spPr>
          <a:xfrm>
            <a:off x="411480" y="1246204"/>
            <a:ext cx="11368735" cy="512454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Representative interaction: movement authority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a:t>
            </a:r>
          </a:p>
        </p:txBody>
      </p:sp>
      <p:pic>
        <p:nvPicPr>
          <p:cNvPr id="6" name="Picture 5" descr="system_seq_authority.png"/>
          <p:cNvPicPr>
            <a:picLocks noChangeAspect="1"/>
          </p:cNvPicPr>
          <p:nvPr/>
        </p:nvPicPr>
        <p:blipFill>
          <a:blip r:embed="rId3"/>
          <a:stretch>
            <a:fillRect/>
          </a:stretch>
        </p:blipFill>
        <p:spPr>
          <a:xfrm>
            <a:off x="2257735" y="868680"/>
            <a:ext cx="7676224" cy="587959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Representative interaction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a:t>
            </a:r>
          </a:p>
        </p:txBody>
      </p:sp>
      <p:pic>
        <p:nvPicPr>
          <p:cNvPr id="6" name="Picture 5" descr="system_seq_authority_0_0_2367_960.png"/>
          <p:cNvPicPr>
            <a:picLocks noChangeAspect="1"/>
          </p:cNvPicPr>
          <p:nvPr/>
        </p:nvPicPr>
        <p:blipFill>
          <a:blip r:embed="rId3"/>
          <a:stretch>
            <a:fillRect/>
          </a:stretch>
        </p:blipFill>
        <p:spPr>
          <a:xfrm>
            <a:off x="411480" y="1503029"/>
            <a:ext cx="11368735" cy="461089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Representative interaction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a:t>
            </a:r>
          </a:p>
        </p:txBody>
      </p:sp>
      <p:pic>
        <p:nvPicPr>
          <p:cNvPr id="6" name="Picture 5" descr="system_seq_authority_0_852_2367_1813.png"/>
          <p:cNvPicPr>
            <a:picLocks noChangeAspect="1"/>
          </p:cNvPicPr>
          <p:nvPr/>
        </p:nvPicPr>
        <p:blipFill>
          <a:blip r:embed="rId3"/>
          <a:stretch>
            <a:fillRect/>
          </a:stretch>
        </p:blipFill>
        <p:spPr>
          <a:xfrm>
            <a:off x="411480" y="1500628"/>
            <a:ext cx="11368735" cy="461569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Deployment</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a:t>
            </a:r>
          </a:p>
        </p:txBody>
      </p:sp>
      <p:pic>
        <p:nvPicPr>
          <p:cNvPr id="6" name="Picture 5" descr="system_deployment.png"/>
          <p:cNvPicPr>
            <a:picLocks noChangeAspect="1"/>
          </p:cNvPicPr>
          <p:nvPr/>
        </p:nvPicPr>
        <p:blipFill>
          <a:blip r:embed="rId3"/>
          <a:stretch>
            <a:fillRect/>
          </a:stretch>
        </p:blipFill>
        <p:spPr>
          <a:xfrm>
            <a:off x="2192520" y="868680"/>
            <a:ext cx="7806654" cy="587959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Deployment (detail 1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a:t>
            </a:r>
          </a:p>
        </p:txBody>
      </p:sp>
      <p:pic>
        <p:nvPicPr>
          <p:cNvPr id="6" name="Picture 5" descr="system_deployment_0_0_1570_1183.png"/>
          <p:cNvPicPr>
            <a:picLocks noChangeAspect="1"/>
          </p:cNvPicPr>
          <p:nvPr/>
        </p:nvPicPr>
        <p:blipFill>
          <a:blip r:embed="rId3"/>
          <a:stretch>
            <a:fillRect/>
          </a:stretch>
        </p:blipFill>
        <p:spPr>
          <a:xfrm>
            <a:off x="2194343" y="868680"/>
            <a:ext cx="7803008" cy="587959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Deployment (detail 2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a:t>
            </a:r>
          </a:p>
        </p:txBody>
      </p:sp>
      <p:pic>
        <p:nvPicPr>
          <p:cNvPr id="6" name="Picture 5" descr="system_deployment_1285_0_2856_1183.png"/>
          <p:cNvPicPr>
            <a:picLocks noChangeAspect="1"/>
          </p:cNvPicPr>
          <p:nvPr/>
        </p:nvPicPr>
        <p:blipFill>
          <a:blip r:embed="rId3"/>
          <a:stretch>
            <a:fillRect/>
          </a:stretch>
        </p:blipFill>
        <p:spPr>
          <a:xfrm>
            <a:off x="2191858" y="868680"/>
            <a:ext cx="7807978" cy="587959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Deployment (detail 3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a:t>
            </a:r>
          </a:p>
        </p:txBody>
      </p:sp>
      <p:pic>
        <p:nvPicPr>
          <p:cNvPr id="6" name="Picture 5" descr="system_deployment_0_967_1570_2151.png"/>
          <p:cNvPicPr>
            <a:picLocks noChangeAspect="1"/>
          </p:cNvPicPr>
          <p:nvPr/>
        </p:nvPicPr>
        <p:blipFill>
          <a:blip r:embed="rId3"/>
          <a:stretch>
            <a:fillRect/>
          </a:stretch>
        </p:blipFill>
        <p:spPr>
          <a:xfrm>
            <a:off x="2197638" y="868680"/>
            <a:ext cx="7796418" cy="587959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Deployment (detail 4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a:t>
            </a:r>
          </a:p>
        </p:txBody>
      </p:sp>
      <p:pic>
        <p:nvPicPr>
          <p:cNvPr id="6" name="Picture 5" descr="system_deployment_1285_967_2856_2151.png"/>
          <p:cNvPicPr>
            <a:picLocks noChangeAspect="1"/>
          </p:cNvPicPr>
          <p:nvPr/>
        </p:nvPicPr>
        <p:blipFill>
          <a:blip r:embed="rId3"/>
          <a:stretch>
            <a:fillRect/>
          </a:stretch>
        </p:blipFill>
        <p:spPr>
          <a:xfrm>
            <a:off x="2195155" y="868680"/>
            <a:ext cx="7801384" cy="587959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Route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 concepts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The blocks a train runs from the yard to its stations and back (D020, D022)</a:t>
            </a:r>
          </a:p>
          <a:p>
            <a:pPr>
              <a:spcAft>
                <a:spcPts val="800"/>
              </a:spcAft>
            </a:pPr>
            <a:r>
              <a:rPr sz="2400">
                <a:solidFill>
                  <a:srgbClr val="222B36"/>
                </a:solidFill>
                <a:latin typeface="Segoe UI"/>
              </a:rPr>
              <a:t>•  The CTC Office plans it: shortest route on the graph of blocks and switch legs</a:t>
            </a:r>
          </a:p>
          <a:p>
            <a:pPr lvl="1">
              <a:spcAft>
                <a:spcPts val="400"/>
              </a:spcAft>
            </a:pPr>
            <a:r>
              <a:rPr sz="2100">
                <a:solidFill>
                  <a:srgbClr val="5B6775"/>
                </a:solidFill>
                <a:latin typeface="Segoe UI"/>
              </a:rPr>
              <a:t>–  Never turns a train back; goes round closed, failed and blocked blocks; no detour over 2x</a:t>
            </a:r>
          </a:p>
          <a:p>
            <a:pPr>
              <a:spcAft>
                <a:spcPts val="800"/>
              </a:spcAft>
            </a:pPr>
            <a:r>
              <a:rPr sz="2400">
                <a:solidFill>
                  <a:srgbClr val="222B36"/>
                </a:solidFill>
                <a:latin typeface="Segoe UI"/>
              </a:rPr>
              <a:t>•  Never sent whole: speed and authority for the train's block and the next</a:t>
            </a:r>
          </a:p>
          <a:p>
            <a:pPr>
              <a:spcAft>
                <a:spcPts val="800"/>
              </a:spcAft>
            </a:pPr>
            <a:r>
              <a:rPr sz="2400">
                <a:solidFill>
                  <a:srgbClr val="222B36"/>
                </a:solidFill>
                <a:latin typeface="Segoe UI"/>
              </a:rPr>
              <a:t>•  The waysides' PLC programs set the switches; the CTC Office only in maintenance mode</a:t>
            </a:r>
          </a:p>
          <a:p>
            <a:pPr lvl="1">
              <a:spcAft>
                <a:spcPts val="400"/>
              </a:spcAft>
            </a:pPr>
            <a:r>
              <a:rPr sz="2100">
                <a:solidFill>
                  <a:srgbClr val="5B6775"/>
                </a:solidFill>
                <a:latin typeface="Segoe UI"/>
              </a:rPr>
              <a:t>–  Authority stops before a switch not yet set for the route</a:t>
            </a:r>
          </a:p>
          <a:p>
            <a:pPr>
              <a:spcAft>
                <a:spcPts val="800"/>
              </a:spcAft>
            </a:pPr>
            <a:r>
              <a:rPr sz="2400">
                <a:solidFill>
                  <a:srgbClr val="222B36"/>
                </a:solidFill>
                <a:latin typeface="Segoe UI"/>
              </a:rPr>
              <a:t>•  The Track Model never routes: a train follows the rails as the switches lie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Authority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 concepts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Blocks ahead of the train's block it may still enter; 0 = stop (D013)</a:t>
            </a:r>
          </a:p>
          <a:p>
            <a:pPr>
              <a:spcAft>
                <a:spcPts val="800"/>
              </a:spcAft>
            </a:pPr>
            <a:r>
              <a:rPr sz="2400">
                <a:solidFill>
                  <a:srgbClr val="222B36"/>
                </a:solidFill>
                <a:latin typeface="Segoe UI"/>
              </a:rPr>
              <a:t>•  CTC Office: computes it, never into an occupied, closed or another train's block</a:t>
            </a:r>
          </a:p>
          <a:p>
            <a:pPr>
              <a:spcAft>
                <a:spcPts val="800"/>
              </a:spcAft>
            </a:pPr>
            <a:r>
              <a:rPr sz="2400">
                <a:solidFill>
                  <a:srgbClr val="222B36"/>
                </a:solidFill>
                <a:latin typeface="Segoe UI"/>
              </a:rPr>
              <a:t>•  Track Controller: AUTH_n passes it down block n's circuit or sends 0; speed is ANDed with it</a:t>
            </a:r>
          </a:p>
          <a:p>
            <a:pPr>
              <a:spcAft>
                <a:spcPts val="800"/>
              </a:spcAft>
            </a:pPr>
            <a:r>
              <a:rPr sz="2400">
                <a:solidFill>
                  <a:srgbClr val="222B36"/>
                </a:solidFill>
                <a:latin typeface="Segoe UI"/>
              </a:rPr>
              <a:t>•  Track Model: holds it as the block's track circuit; a failed circuit carries 0 and 0</a:t>
            </a:r>
          </a:p>
          <a:p>
            <a:pPr>
              <a:spcAft>
                <a:spcPts val="800"/>
              </a:spcAft>
            </a:pPr>
            <a:r>
              <a:rPr sz="2400">
                <a:solidFill>
                  <a:srgbClr val="222B36"/>
                </a:solidFill>
                <a:latin typeface="Segoe UI"/>
              </a:rPr>
              <a:t>•  Train Controller: uses the count as given; at 0 it targets 0 and brakes while moving</a:t>
            </a:r>
          </a:p>
          <a:p>
            <a:pPr lvl="1">
              <a:spcAft>
                <a:spcPts val="400"/>
              </a:spcAft>
            </a:pPr>
            <a:r>
              <a:rPr sz="2100">
                <a:solidFill>
                  <a:srgbClr val="5B6775"/>
                </a:solidFill>
                <a:latin typeface="Segoe UI"/>
              </a:rPr>
              <a:t>–  A drop to 0 from 2 or more blocks reads as a signal pickup failure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Distribution of wayside controllers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 concepts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a:t>
            </a:r>
          </a:p>
        </p:txBody>
      </p:sp>
      <p:graphicFrame>
        <p:nvGraphicFramePr>
          <p:cNvPr id="7" name="Table 6"/>
          <p:cNvGraphicFramePr>
            <a:graphicFrameLocks noGrp="1"/>
          </p:cNvGraphicFramePr>
          <p:nvPr/>
        </p:nvGraphicFramePr>
        <p:xfrm>
          <a:off x="411480" y="1097280"/>
          <a:ext cx="11338560" cy="2194560"/>
        </p:xfrm>
        <a:graphic>
          <a:graphicData uri="http://schemas.openxmlformats.org/drawingml/2006/table">
            <a:tbl>
              <a:tblPr firstRow="1" bandRow="1">
                <a:tableStyleId>{5C22544A-7EE6-4342-B048-85BDC9FD1C3A}</a:tableStyleId>
              </a:tblPr>
              <a:tblGrid>
                <a:gridCol w="1097280"/>
                <a:gridCol w="4572000"/>
                <a:gridCol w="2377440"/>
                <a:gridCol w="3291840"/>
              </a:tblGrid>
              <a:tr h="365760">
                <a:tc>
                  <a:txBody>
                    <a:bodyPr wrap="square"/>
                    <a:lstStyle/>
                    <a:p>
                      <a:r>
                        <a:rPr sz="1500" b="1">
                          <a:solidFill>
                            <a:srgbClr val="FFFFFF"/>
                          </a:solidFill>
                          <a:latin typeface="Segoe UI"/>
                        </a:rPr>
                        <a:t>Line</a:t>
                      </a:r>
                    </a:p>
                  </a:txBody>
                  <a:tcPr marL="73152" marR="73152" marT="36576" marB="36576">
                    <a:solidFill>
                      <a:srgbClr val="1F3A5F"/>
                    </a:solidFill>
                  </a:tcPr>
                </a:tc>
                <a:tc>
                  <a:txBody>
                    <a:bodyPr wrap="square"/>
                    <a:lstStyle/>
                    <a:p>
                      <a:r>
                        <a:rPr sz="1500" b="1">
                          <a:solidFill>
                            <a:srgbClr val="FFFFFF"/>
                          </a:solidFill>
                          <a:latin typeface="Segoe UI"/>
                        </a:rPr>
                        <a:t>Variant</a:t>
                      </a:r>
                    </a:p>
                  </a:txBody>
                  <a:tcPr marL="73152" marR="73152" marT="36576" marB="36576">
                    <a:solidFill>
                      <a:srgbClr val="1F3A5F"/>
                    </a:solidFill>
                  </a:tcPr>
                </a:tc>
                <a:tc>
                  <a:txBody>
                    <a:bodyPr wrap="square"/>
                    <a:lstStyle/>
                    <a:p>
                      <a:r>
                        <a:rPr sz="1500" b="1">
                          <a:solidFill>
                            <a:srgbClr val="FFFFFF"/>
                          </a:solidFill>
                          <a:latin typeface="Segoe UI"/>
                        </a:rPr>
                        <a:t>Runs on</a:t>
                      </a:r>
                    </a:p>
                  </a:txBody>
                  <a:tcPr marL="73152" marR="73152" marT="36576" marB="36576">
                    <a:solidFill>
                      <a:srgbClr val="1F3A5F"/>
                    </a:solidFill>
                  </a:tcPr>
                </a:tc>
                <a:tc>
                  <a:txBody>
                    <a:bodyPr wrap="square"/>
                    <a:lstStyle/>
                    <a:p>
                      <a:r>
                        <a:rPr sz="1500" b="1">
                          <a:solidFill>
                            <a:srgbClr val="FFFFFF"/>
                          </a:solidFill>
                          <a:latin typeface="Segoe UI"/>
                        </a:rPr>
                        <a:t>Waysides</a:t>
                      </a:r>
                    </a:p>
                  </a:txBody>
                  <a:tcPr marL="73152" marR="73152" marT="36576" marB="36576">
                    <a:solidFill>
                      <a:srgbClr val="1F3A5F"/>
                    </a:solidFill>
                  </a:tcPr>
                </a:tc>
              </a:tr>
              <a:tr h="365760">
                <a:tc>
                  <a:txBody>
                    <a:bodyPr wrap="square"/>
                    <a:lstStyle/>
                    <a:p>
                      <a:r>
                        <a:rPr sz="1500" b="0">
                          <a:solidFill>
                            <a:srgbClr val="222B36"/>
                          </a:solidFill>
                          <a:latin typeface="Segoe UI"/>
                        </a:rPr>
                        <a:t>Green</a:t>
                      </a:r>
                    </a:p>
                  </a:txBody>
                  <a:tcPr marL="73152" marR="73152" marT="36576" marB="36576">
                    <a:solidFill>
                      <a:srgbClr val="F7F9FC"/>
                    </a:solidFill>
                  </a:tcPr>
                </a:tc>
                <a:tc>
                  <a:txBody>
                    <a:bodyPr wrap="square"/>
                    <a:lstStyle/>
                    <a:p>
                      <a:r>
                        <a:rPr sz="1500" b="0">
                          <a:solidFill>
                            <a:srgbClr val="222B36"/>
                          </a:solidFill>
                          <a:latin typeface="Segoe UI"/>
                        </a:rPr>
                        <a:t>Track Controller SW</a:t>
                      </a:r>
                    </a:p>
                  </a:txBody>
                  <a:tcPr marL="73152" marR="73152" marT="36576" marB="36576">
                    <a:solidFill>
                      <a:srgbClr val="F7F9FC"/>
                    </a:solidFill>
                  </a:tcPr>
                </a:tc>
                <a:tc>
                  <a:txBody>
                    <a:bodyPr wrap="square"/>
                    <a:lstStyle/>
                    <a:p>
                      <a:r>
                        <a:rPr sz="1500" b="0">
                          <a:solidFill>
                            <a:srgbClr val="222B36"/>
                          </a:solidFill>
                          <a:latin typeface="Segoe UI"/>
                        </a:rPr>
                        <a:t>Host PC</a:t>
                      </a:r>
                    </a:p>
                  </a:txBody>
                  <a:tcPr marL="73152" marR="73152" marT="36576" marB="36576">
                    <a:solidFill>
                      <a:srgbClr val="F7F9FC"/>
                    </a:solidFill>
                  </a:tcPr>
                </a:tc>
                <a:tc>
                  <a:txBody>
                    <a:bodyPr wrap="square"/>
                    <a:lstStyle/>
                    <a:p>
                      <a:r>
                        <a:rPr sz="1500" b="0">
                          <a:solidFill>
                            <a:srgbClr val="222B36"/>
                          </a:solidFill>
                          <a:latin typeface="Segoe UI"/>
                        </a:rPr>
                        <a:t>6 by default; 2 up to one per block</a:t>
                      </a:r>
                    </a:p>
                  </a:txBody>
                  <a:tcPr marL="73152" marR="73152" marT="36576" marB="36576">
                    <a:solidFill>
                      <a:srgbClr val="F7F9FC"/>
                    </a:solidFill>
                  </a:tcPr>
                </a:tc>
              </a:tr>
              <a:tr h="365760">
                <a:tc>
                  <a:txBody>
                    <a:bodyPr wrap="square"/>
                    <a:lstStyle/>
                    <a:p>
                      <a:r>
                        <a:rPr sz="1500" b="0">
                          <a:solidFill>
                            <a:srgbClr val="222B36"/>
                          </a:solidFill>
                          <a:latin typeface="Segoe UI"/>
                        </a:rPr>
                        <a:t>Red</a:t>
                      </a:r>
                    </a:p>
                  </a:txBody>
                  <a:tcPr marL="73152" marR="73152" marT="36576" marB="36576">
                    <a:solidFill>
                      <a:srgbClr val="FFFFFF"/>
                    </a:solidFill>
                  </a:tcPr>
                </a:tc>
                <a:tc>
                  <a:txBody>
                    <a:bodyPr wrap="square"/>
                    <a:lstStyle/>
                    <a:p>
                      <a:r>
                        <a:rPr sz="1500" b="0">
                          <a:solidFill>
                            <a:srgbClr val="222B36"/>
                          </a:solidFill>
                          <a:latin typeface="Segoe UI"/>
                        </a:rPr>
                        <a:t>Track Controller HW</a:t>
                      </a:r>
                    </a:p>
                  </a:txBody>
                  <a:tcPr marL="73152" marR="73152" marT="36576" marB="36576">
                    <a:solidFill>
                      <a:srgbClr val="FFFFFF"/>
                    </a:solidFill>
                  </a:tcPr>
                </a:tc>
                <a:tc>
                  <a:txBody>
                    <a:bodyPr wrap="square"/>
                    <a:lstStyle/>
                    <a:p>
                      <a:r>
                        <a:rPr sz="1500" b="0">
                          <a:solidFill>
                            <a:srgbClr val="222B36"/>
                          </a:solidFill>
                          <a:latin typeface="Segoe UI"/>
                        </a:rPr>
                        <a:t>Raspberry Pi 5 over USB</a:t>
                      </a:r>
                    </a:p>
                  </a:txBody>
                  <a:tcPr marL="73152" marR="73152" marT="36576" marB="36576">
                    <a:solidFill>
                      <a:srgbClr val="FFFFFF"/>
                    </a:solidFill>
                  </a:tcPr>
                </a:tc>
                <a:tc>
                  <a:txBody>
                    <a:bodyPr wrap="square"/>
                    <a:lstStyle/>
                    <a:p>
                      <a:r>
                        <a:rPr sz="1500" b="0">
                          <a:solidFill>
                            <a:srgbClr val="222B36"/>
                          </a:solidFill>
                          <a:latin typeface="Segoe UI"/>
                        </a:rPr>
                        <a:t>3 proposed: 1–24 + 73–76, 25–45 + 67–72, 46–66</a:t>
                      </a:r>
                    </a:p>
                  </a:txBody>
                  <a:tcPr marL="73152" marR="73152" marT="36576" marB="36576">
                    <a:solidFill>
                      <a:srgbClr val="FFFFFF"/>
                    </a:solidFill>
                  </a:tcPr>
                </a:tc>
              </a:tr>
              <a:tr h="365760">
                <a:tc>
                  <a:txBody>
                    <a:bodyPr wrap="square"/>
                    <a:lstStyle/>
                    <a:p>
                      <a:r>
                        <a:rPr sz="1500" b="0">
                          <a:solidFill>
                            <a:srgbClr val="222B36"/>
                          </a:solidFill>
                          <a:latin typeface="Segoe UI"/>
                        </a:rPr>
                        <a:t>Rule</a:t>
                      </a:r>
                    </a:p>
                  </a:txBody>
                  <a:tcPr marL="73152" marR="73152" marT="36576" marB="36576">
                    <a:solidFill>
                      <a:srgbClr val="F7F9FC"/>
                    </a:solidFill>
                  </a:tcPr>
                </a:tc>
                <a:tc>
                  <a:txBody>
                    <a:bodyPr wrap="square"/>
                    <a:lstStyle/>
                    <a:p>
                      <a:r>
                        <a:rPr sz="1500" b="0">
                          <a:solidFill>
                            <a:srgbClr val="222B36"/>
                          </a:solidFill>
                          <a:latin typeface="Segoe UI"/>
                        </a:rPr>
                        <a:t>A wayside owns a contiguous run of blocks and its devices</a:t>
                      </a:r>
                    </a:p>
                  </a:txBody>
                  <a:tcPr marL="73152" marR="73152" marT="36576" marB="36576">
                    <a:solidFill>
                      <a:srgbClr val="F7F9FC"/>
                    </a:solidFill>
                  </a:tcPr>
                </a:tc>
                <a:tc>
                  <a:txBody>
                    <a:bodyPr wrap="square"/>
                    <a:lstStyle/>
                    <a:p>
                      <a:r>
                        <a:rPr sz="1500" b="0">
                          <a:solidFill>
                            <a:srgbClr val="222B36"/>
                          </a:solidFill>
                          <a:latin typeface="Segoe UI"/>
                        </a:rPr>
                        <a:t/>
                      </a:r>
                    </a:p>
                  </a:txBody>
                  <a:tcPr marL="73152" marR="73152" marT="36576" marB="36576">
                    <a:solidFill>
                      <a:srgbClr val="F7F9FC"/>
                    </a:solidFill>
                  </a:tcPr>
                </a:tc>
                <a:tc>
                  <a:txBody>
                    <a:bodyPr wrap="square"/>
                    <a:lstStyle/>
                    <a:p>
                      <a:r>
                        <a:rPr sz="1500" b="0">
                          <a:solidFill>
                            <a:srgbClr val="222B36"/>
                          </a:solidFill>
                          <a:latin typeface="Segoe UI"/>
                        </a:rPr>
                        <a:t>A switch stays inside one wayside</a:t>
                      </a:r>
                    </a:p>
                  </a:txBody>
                  <a:tcPr marL="73152" marR="73152" marT="36576" marB="36576">
                    <a:solidFill>
                      <a:srgbClr val="F7F9FC"/>
                    </a:solidFill>
                  </a:tcPr>
                </a:tc>
              </a:tr>
              <a:tr h="365760">
                <a:tc>
                  <a:txBody>
                    <a:bodyPr wrap="square"/>
                    <a:lstStyle/>
                    <a:p>
                      <a:r>
                        <a:rPr sz="1500" b="0">
                          <a:solidFill>
                            <a:srgbClr val="222B36"/>
                          </a:solidFill>
                          <a:latin typeface="Segoe UI"/>
                        </a:rPr>
                        <a:t>Rule</a:t>
                      </a:r>
                    </a:p>
                  </a:txBody>
                  <a:tcPr marL="73152" marR="73152" marT="36576" marB="36576">
                    <a:solidFill>
                      <a:srgbClr val="FFFFFF"/>
                    </a:solidFill>
                  </a:tcPr>
                </a:tc>
                <a:tc>
                  <a:txBody>
                    <a:bodyPr wrap="square"/>
                    <a:lstStyle/>
                    <a:p>
                      <a:r>
                        <a:rPr sz="1500" b="0">
                          <a:solidFill>
                            <a:srgbClr val="222B36"/>
                          </a:solidFill>
                          <a:latin typeface="Segoe UI"/>
                        </a:rPr>
                        <a:t>A line runs only when every wayside on it is ready</a:t>
                      </a:r>
                    </a:p>
                  </a:txBody>
                  <a:tcPr marL="73152" marR="73152" marT="36576" marB="36576">
                    <a:solidFill>
                      <a:srgbClr val="FFFFFF"/>
                    </a:solidFill>
                  </a:tcPr>
                </a:tc>
                <a:tc>
                  <a:txBody>
                    <a:bodyPr wrap="square"/>
                    <a:lstStyle/>
                    <a:p>
                      <a:r>
                        <a:rPr sz="1500" b="0">
                          <a:solidFill>
                            <a:srgbClr val="222B36"/>
                          </a:solidFill>
                          <a:latin typeface="Segoe UI"/>
                        </a:rPr>
                        <a:t/>
                      </a:r>
                    </a:p>
                  </a:txBody>
                  <a:tcPr marL="73152" marR="73152" marT="36576" marB="36576">
                    <a:solidFill>
                      <a:srgbClr val="FFFFFF"/>
                    </a:solidFill>
                  </a:tcPr>
                </a:tc>
                <a:tc>
                  <a:txBody>
                    <a:bodyPr wrap="square"/>
                    <a:lstStyle/>
                    <a:p>
                      <a:r>
                        <a:rPr sz="1500" b="0">
                          <a:solidFill>
                            <a:srgbClr val="222B36"/>
                          </a:solidFill>
                          <a:latin typeface="Segoe UI"/>
                        </a:rPr>
                        <a:t>Otherwise the line holds fail-safe</a:t>
                      </a:r>
                    </a:p>
                  </a:txBody>
                  <a:tcPr marL="73152" marR="73152" marT="36576" marB="36576">
                    <a:solidFill>
                      <a:srgbClr val="FFFFFF"/>
                    </a:solidFill>
                  </a:tcPr>
                </a:tc>
              </a:tr>
              <a:tr h="365760">
                <a:tc>
                  <a:txBody>
                    <a:bodyPr wrap="square"/>
                    <a:lstStyle/>
                    <a:p>
                      <a:r>
                        <a:rPr sz="1500" b="0">
                          <a:solidFill>
                            <a:srgbClr val="222B36"/>
                          </a:solidFill>
                          <a:latin typeface="Segoe UI"/>
                        </a:rPr>
                        <a:t>Rule</a:t>
                      </a:r>
                    </a:p>
                  </a:txBody>
                  <a:tcPr marL="73152" marR="73152" marT="36576" marB="36576">
                    <a:solidFill>
                      <a:srgbClr val="F7F9FC"/>
                    </a:solidFill>
                  </a:tcPr>
                </a:tc>
                <a:tc>
                  <a:txBody>
                    <a:bodyPr wrap="square"/>
                    <a:lstStyle/>
                    <a:p>
                      <a:r>
                        <a:rPr sz="1500" b="0">
                          <a:solidFill>
                            <a:srgbClr val="222B36"/>
                          </a:solidFill>
                          <a:latin typeface="Segoe UI"/>
                        </a:rPr>
                        <a:t>No other module depends on the split</a:t>
                      </a:r>
                    </a:p>
                  </a:txBody>
                  <a:tcPr marL="73152" marR="73152" marT="36576" marB="36576">
                    <a:solidFill>
                      <a:srgbClr val="F7F9FC"/>
                    </a:solidFill>
                  </a:tcPr>
                </a:tc>
                <a:tc>
                  <a:txBody>
                    <a:bodyPr wrap="square"/>
                    <a:lstStyle/>
                    <a:p>
                      <a:r>
                        <a:rPr sz="1500" b="0">
                          <a:solidFill>
                            <a:srgbClr val="222B36"/>
                          </a:solidFill>
                          <a:latin typeface="Segoe UI"/>
                        </a:rPr>
                        <a:t/>
                      </a:r>
                    </a:p>
                  </a:txBody>
                  <a:tcPr marL="73152" marR="73152" marT="36576" marB="36576">
                    <a:solidFill>
                      <a:srgbClr val="F7F9FC"/>
                    </a:solidFill>
                  </a:tcPr>
                </a:tc>
                <a:tc>
                  <a:txBody>
                    <a:bodyPr wrap="square"/>
                    <a:lstStyle/>
                    <a:p>
                      <a:r>
                        <a:rPr sz="1500" b="0">
                          <a:solidFill>
                            <a:srgbClr val="222B36"/>
                          </a:solidFill>
                          <a:latin typeface="Segoe UI"/>
                        </a:rPr>
                        <a:t>Every I/O is keyed by block</a:t>
                      </a:r>
                    </a:p>
                  </a:txBody>
                  <a:tcPr marL="73152" marR="73152" marT="36576" marB="36576">
                    <a:solidFill>
                      <a:srgbClr val="F7F9F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Simulation timing</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 concepts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One clock, in the harness (D017); time from 05:00:00, unwrapped</a:t>
            </a:r>
          </a:p>
          <a:p>
            <a:pPr>
              <a:spcAft>
                <a:spcPts val="800"/>
              </a:spcAft>
            </a:pPr>
            <a:r>
              <a:rPr sz="2400">
                <a:solidFill>
                  <a:srgbClr val="222B36"/>
                </a:solidFill>
                <a:latin typeface="Segoe UI"/>
              </a:rPr>
              <a:t>•  Fixed dt = 0.1 s (D006): 1x = 10 ticks/s, 10x = 100 ticks/s, same results</a:t>
            </a:r>
          </a:p>
          <a:p>
            <a:pPr>
              <a:spcAft>
                <a:spcPts val="800"/>
              </a:spcAft>
            </a:pPr>
            <a:r>
              <a:rPr sz="2400">
                <a:solidFill>
                  <a:srgbClr val="222B36"/>
                </a:solidFill>
                <a:latin typeface="Segoe UI"/>
              </a:rPr>
              <a:t>•  Each module steps on the outputs of the tick before</a:t>
            </a:r>
          </a:p>
          <a:p>
            <a:pPr>
              <a:spcAft>
                <a:spcPts val="800"/>
              </a:spcAft>
            </a:pPr>
            <a:r>
              <a:rPr sz="2400">
                <a:solidFill>
                  <a:srgbClr val="222B36"/>
                </a:solidFill>
                <a:latin typeface="Segoe UI"/>
              </a:rPr>
              <a:t>•  The harness waits for every reply; pauses and names a module late by about 1 s</a:t>
            </a:r>
          </a:p>
          <a:p>
            <a:pPr>
              <a:spcAft>
                <a:spcPts val="800"/>
              </a:spcAft>
            </a:pPr>
            <a:r>
              <a:rPr sz="2400">
                <a:solidFill>
                  <a:srgbClr val="222B36"/>
                </a:solidFill>
                <a:latin typeface="Segoe UI"/>
              </a:rPr>
              <a:t>•  Pause, 1x and 10x are the CTC Office's commands</a:t>
            </a:r>
          </a:p>
          <a:p>
            <a:pPr>
              <a:spcAft>
                <a:spcPts val="800"/>
              </a:spcAft>
            </a:pPr>
            <a:r>
              <a:rPr sz="2400">
                <a:solidFill>
                  <a:srgbClr val="222B36"/>
                </a:solidFill>
                <a:latin typeface="Segoe UI"/>
              </a:rPr>
              <a:t>•  HW variants at 10x: USB round trip + scan under 10 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Vitality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 concepts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200">
                <a:solidFill>
                  <a:srgbClr val="222B36"/>
                </a:solidFill>
                <a:latin typeface="Segoe UI"/>
              </a:rPr>
              <a:t>•  Channels are non-vital (REQ-INTF-021); Track and Train Controllers are vital</a:t>
            </a:r>
          </a:p>
          <a:p>
            <a:pPr>
              <a:spcAft>
                <a:spcPts val="800"/>
              </a:spcAft>
            </a:pPr>
            <a:r>
              <a:rPr sz="2200">
                <a:solidFill>
                  <a:srgbClr val="222B36"/>
                </a:solidFill>
                <a:latin typeface="Segoe UI"/>
              </a:rPr>
              <a:t>•  Wayside: the OS only holds the PLC program; every protection is PLC code</a:t>
            </a:r>
          </a:p>
          <a:p>
            <a:pPr lvl="1">
              <a:spcAft>
                <a:spcPts val="400"/>
              </a:spcAft>
            </a:pPr>
            <a:r>
              <a:rPr sz="1900">
                <a:solidFill>
                  <a:srgbClr val="5B6775"/>
                </a:solidFill>
                <a:latin typeface="Segoe UI"/>
              </a:rPr>
              <a:t>–  Read-only vital block after the user's program «planned, pending Harry»</a:t>
            </a:r>
          </a:p>
          <a:p>
            <a:pPr lvl="1">
              <a:spcAft>
                <a:spcPts val="400"/>
              </a:spcAft>
            </a:pPr>
            <a:r>
              <a:rPr sz="1900">
                <a:solidFill>
                  <a:srgbClr val="5B6775"/>
                </a:solidFill>
                <a:latin typeface="Segoe UI"/>
              </a:rPr>
              <a:t>–  HW: two compilers, two interpreters, compared every scan</a:t>
            </a:r>
          </a:p>
          <a:p>
            <a:pPr lvl="1">
              <a:spcAft>
                <a:spcPts val="400"/>
              </a:spcAft>
            </a:pPr>
            <a:r>
              <a:rPr sz="1900">
                <a:solidFill>
                  <a:srgbClr val="5B6775"/>
                </a:solidFill>
                <a:latin typeface="Segoe UI"/>
              </a:rPr>
              <a:t>–  Fail-safe: signals red, crossings active, speed and authority 0</a:t>
            </a:r>
          </a:p>
          <a:p>
            <a:pPr>
              <a:spcAft>
                <a:spcPts val="800"/>
              </a:spcAft>
            </a:pPr>
            <a:r>
              <a:rPr sz="2200">
                <a:solidFill>
                  <a:srgbClr val="222B36"/>
                </a:solidFill>
                <a:latin typeface="Segoe UI"/>
              </a:rPr>
              <a:t>•  Train: inputs validated all or nothing; failures latch the emergency brake</a:t>
            </a:r>
          </a:p>
          <a:p>
            <a:pPr lvl="1">
              <a:spcAft>
                <a:spcPts val="400"/>
              </a:spcAft>
            </a:pPr>
            <a:r>
              <a:rPr sz="1900">
                <a:solidFill>
                  <a:srgbClr val="5B6775"/>
                </a:solidFill>
                <a:latin typeface="Segoe UI"/>
              </a:rPr>
              <a:t>–  No traction under braking; no power until the gains are set</a:t>
            </a:r>
          </a:p>
          <a:p>
            <a:pPr>
              <a:spcAft>
                <a:spcPts val="800"/>
              </a:spcAft>
            </a:pPr>
            <a:r>
              <a:rPr sz="2200">
                <a:solidFill>
                  <a:srgbClr val="222B36"/>
                </a:solidFill>
                <a:latin typeface="Segoe UI"/>
              </a:rPr>
              <a:t>•  System: a failure reads as occupancy; no two trains share a block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Wayside language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 concepts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a:t>
            </a:r>
          </a:p>
        </p:txBody>
      </p:sp>
      <p:sp>
        <p:nvSpPr>
          <p:cNvPr id="7" name="Rectangle 6"/>
          <p:cNvSpPr/>
          <p:nvPr/>
        </p:nvSpPr>
        <p:spPr>
          <a:xfrm>
            <a:off x="411480" y="1097280"/>
            <a:ext cx="6366491" cy="5349240"/>
          </a:xfrm>
          <a:prstGeom prst="rect">
            <a:avLst/>
          </a:prstGeom>
          <a:solidFill>
            <a:srgbClr val="F7F9FC"/>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88720"/>
            <a:ext cx="6092171" cy="5166360"/>
          </a:xfrm>
          <a:prstGeom prst="rect">
            <a:avLst/>
          </a:prstGeom>
          <a:noFill/>
        </p:spPr>
        <p:txBody>
          <a:bodyPr wrap="square" anchor="t" lIns="45720" rIns="45720">
            <a:spAutoFit/>
          </a:bodyPr>
          <a:lstStyle/>
          <a:p>
            <a:pPr algn="l"/>
            <a:r>
              <a:rPr sz="1700" b="0">
                <a:solidFill>
                  <a:srgbClr val="222B36"/>
                </a:solidFill>
                <a:latin typeface="Consolas"/>
              </a:rPr>
              <a:t>// a comment</a:t>
            </a:r>
          </a:p>
          <a:p>
            <a:pPr algn="l"/>
            <a:r>
              <a:rPr sz="1700" b="0">
                <a:solidFill>
                  <a:srgbClr val="222B36"/>
                </a:solidFill>
                <a:latin typeface="Consolas"/>
              </a:rPr>
              <a:t>VAR_IN  OCC_12 OCC_13 SWREV_12</a:t>
            </a:r>
          </a:p>
          <a:p>
            <a:pPr algn="l"/>
            <a:r>
              <a:rPr sz="1700" b="0">
                <a:solidFill>
                  <a:srgbClr val="222B36"/>
                </a:solidFill>
                <a:latin typeface="Consolas"/>
              </a:rPr>
              <a:t>VAR_IN  CTCSW_12 CTCREV_12</a:t>
            </a:r>
          </a:p>
          <a:p>
            <a:pPr algn="l"/>
            <a:r>
              <a:rPr sz="1700" b="0">
                <a:solidFill>
                  <a:srgbClr val="222B36"/>
                </a:solidFill>
                <a:latin typeface="Consolas"/>
              </a:rPr>
              <a:t>VAR_OUT SW_12</a:t>
            </a:r>
          </a:p>
          <a:p>
            <a:pPr algn="l"/>
            <a:r>
              <a:rPr sz="1700" b="0">
                <a:solidFill>
                  <a:srgbClr val="222B36"/>
                </a:solidFill>
                <a:latin typeface="Consolas"/>
              </a:rPr>
              <a:t/>
            </a:r>
          </a:p>
          <a:p>
            <a:pPr algn="l"/>
            <a:r>
              <a:rPr sz="1700" b="0">
                <a:solidFill>
                  <a:srgbClr val="222B36"/>
                </a:solidFill>
                <a:latin typeface="Consolas"/>
              </a:rPr>
              <a:t>LOCK_12 := OCC_12 OR OCC_13</a:t>
            </a:r>
          </a:p>
          <a:p>
            <a:pPr algn="l"/>
            <a:r>
              <a:rPr sz="1700" b="0">
                <a:solidFill>
                  <a:srgbClr val="222B36"/>
                </a:solidFill>
                <a:latin typeface="Consolas"/>
              </a:rPr>
              <a:t>WANT_12 := CTCSW_12 AND CTCREV_12</a:t>
            </a:r>
          </a:p>
          <a:p>
            <a:pPr algn="l"/>
            <a:r>
              <a:rPr sz="1700" b="0">
                <a:solidFill>
                  <a:srgbClr val="222B36"/>
                </a:solidFill>
                <a:latin typeface="Consolas"/>
              </a:rPr>
              <a:t>SW_12   := (LOCK_12 AND SWREV_12)</a:t>
            </a:r>
          </a:p>
          <a:p>
            <a:pPr algn="l"/>
            <a:r>
              <a:rPr sz="1700" b="0">
                <a:solidFill>
                  <a:srgbClr val="222B36"/>
                </a:solidFill>
                <a:latin typeface="Consolas"/>
              </a:rPr>
              <a:t>           OR (NOT LOCK_12 AND WANT_12)</a:t>
            </a:r>
          </a:p>
        </p:txBody>
      </p:sp>
      <p:sp>
        <p:nvSpPr>
          <p:cNvPr id="9" name="TextBox 8"/>
          <p:cNvSpPr txBox="1"/>
          <p:nvPr/>
        </p:nvSpPr>
        <p:spPr>
          <a:xfrm>
            <a:off x="7052291" y="1097280"/>
            <a:ext cx="4727924" cy="5349240"/>
          </a:xfrm>
          <a:prstGeom prst="rect">
            <a:avLst/>
          </a:prstGeom>
          <a:noFill/>
        </p:spPr>
        <p:txBody>
          <a:bodyPr wrap="square">
            <a:spAutoFit/>
          </a:bodyPr>
          <a:lstStyle/>
          <a:p>
            <a:pPr>
              <a:spcAft>
                <a:spcPts val="800"/>
              </a:spcAft>
            </a:pPr>
            <a:r>
              <a:rPr sz="1900">
                <a:solidFill>
                  <a:srgbClr val="222B36"/>
                </a:solidFill>
                <a:latin typeface="Segoe UI"/>
              </a:rPr>
              <a:t>•  Boolean only: NOT, AND, XOR, OR, 0, 1, parentheses</a:t>
            </a:r>
          </a:p>
          <a:p>
            <a:pPr>
              <a:spcAft>
                <a:spcPts val="800"/>
              </a:spcAft>
            </a:pPr>
            <a:r>
              <a:rPr sz="1900">
                <a:solidFill>
                  <a:srgbClr val="222B36"/>
                </a:solidFill>
                <a:latin typeface="Segoe UI"/>
              </a:rPr>
              <a:t>•  Runs top to bottom once per tick; an unset name reads 0</a:t>
            </a:r>
          </a:p>
          <a:p>
            <a:pPr>
              <a:spcAft>
                <a:spcPts val="800"/>
              </a:spcAft>
            </a:pPr>
            <a:r>
              <a:rPr sz="1900">
                <a:solidFill>
                  <a:srgbClr val="222B36"/>
                </a:solidFill>
                <a:latin typeface="Segoe UI"/>
              </a:rPr>
              <a:t>•  Speed crosses as five bits (SPD_n_0..4 in, CMD_n_0..4 out)</a:t>
            </a:r>
          </a:p>
          <a:p>
            <a:pPr>
              <a:spcAft>
                <a:spcPts val="800"/>
              </a:spcAft>
            </a:pPr>
            <a:r>
              <a:rPr sz="1900">
                <a:solidFill>
                  <a:srgbClr val="222B36"/>
                </a:solidFill>
                <a:latin typeface="Segoe UI"/>
              </a:rPr>
              <a:t>•  Errors reported with line numbers; unknown I/O refused</a:t>
            </a:r>
          </a:p>
          <a:p>
            <a:pPr>
              <a:spcAft>
                <a:spcPts val="800"/>
              </a:spcAft>
            </a:pPr>
            <a:r>
              <a:rPr sz="1900">
                <a:solidFill>
                  <a:srgbClr val="222B36"/>
                </a:solidFill>
                <a:latin typeface="Segoe UI"/>
              </a:rPr>
              <a:t>•  Shared by both variants; the names still differ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Hardware/software interface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 concepts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Same Protocol and the same I/O in both variants: the harness cannot tell them apart (D021)</a:t>
            </a:r>
          </a:p>
          <a:p>
            <a:pPr>
              <a:spcAft>
                <a:spcPts val="800"/>
              </a:spcAft>
            </a:pPr>
            <a:r>
              <a:rPr sz="2400">
                <a:solidFill>
                  <a:srgbClr val="222B36"/>
                </a:solidFill>
                <a:latin typeface="Segoe UI"/>
              </a:rPr>
              <a:t>•  Each HW core on its own Raspberry Pi 5; its window on the PC</a:t>
            </a:r>
          </a:p>
          <a:p>
            <a:pPr>
              <a:spcAft>
                <a:spcPts val="800"/>
              </a:spcAft>
            </a:pPr>
            <a:r>
              <a:rPr sz="2400">
                <a:solidFill>
                  <a:srgbClr val="222B36"/>
                </a:solidFill>
                <a:latin typeface="Segoe UI"/>
              </a:rPr>
              <a:t>•  One USB cable: the Pi is a USB serial (CDC-ACM) device, Windows' own driver (D027)</a:t>
            </a:r>
          </a:p>
          <a:p>
            <a:pPr lvl="1">
              <a:spcAft>
                <a:spcPts val="400"/>
              </a:spcAft>
            </a:pPr>
            <a:r>
              <a:rPr sz="2100">
                <a:solidFill>
                  <a:srgbClr val="5B6775"/>
                </a:solidFill>
                <a:latin typeface="Segoe UI"/>
              </a:rPr>
              <a:t>–  Found by its USB product name, never a fixed COM number</a:t>
            </a:r>
          </a:p>
          <a:p>
            <a:pPr>
              <a:spcAft>
                <a:spcPts val="800"/>
              </a:spcAft>
            </a:pPr>
            <a:r>
              <a:rPr sz="2400">
                <a:solidFill>
                  <a:srgbClr val="222B36"/>
                </a:solidFill>
                <a:latin typeface="Segoe UI"/>
              </a:rPr>
              <a:t>•  The harness's newline JSON, relayed by the host process, which owns the port</a:t>
            </a:r>
          </a:p>
          <a:p>
            <a:pPr>
              <a:spcAft>
                <a:spcPts val="800"/>
              </a:spcAft>
            </a:pPr>
            <a:r>
              <a:rPr sz="2400">
                <a:solidFill>
                  <a:srgbClr val="222B36"/>
                </a:solidFill>
                <a:latin typeface="Segoe UI"/>
              </a:rPr>
              <a:t>•  The Pi journals every request, so a restarted Pi rebuilds its state</a:t>
            </a:r>
          </a:p>
          <a:p>
            <a:pPr>
              <a:spcAft>
                <a:spcPts val="800"/>
              </a:spcAft>
            </a:pPr>
            <a:r>
              <a:rPr sz="2400">
                <a:solidFill>
                  <a:srgbClr val="222B36"/>
                </a:solidFill>
                <a:latin typeface="Segoe UI"/>
              </a:rPr>
              <a:t>•  A lost Pi: the harness pauses the clock and names the module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System design decisions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System</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a:t>
            </a:r>
          </a:p>
        </p:txBody>
      </p:sp>
      <p:graphicFrame>
        <p:nvGraphicFramePr>
          <p:cNvPr id="7" name="Table 6"/>
          <p:cNvGraphicFramePr>
            <a:graphicFrameLocks noGrp="1"/>
          </p:cNvGraphicFramePr>
          <p:nvPr/>
        </p:nvGraphicFramePr>
        <p:xfrm>
          <a:off x="411480" y="1097280"/>
          <a:ext cx="11338559" cy="2926080"/>
        </p:xfrm>
        <a:graphic>
          <a:graphicData uri="http://schemas.openxmlformats.org/drawingml/2006/table">
            <a:tbl>
              <a:tblPr firstRow="1" bandRow="1">
                <a:tableStyleId>{5C22544A-7EE6-4342-B048-85BDC9FD1C3A}</a:tableStyleId>
              </a:tblPr>
              <a:tblGrid>
                <a:gridCol w="640080"/>
                <a:gridCol w="2743200"/>
                <a:gridCol w="7955279"/>
              </a:tblGrid>
              <a:tr h="365760">
                <a:tc>
                  <a:txBody>
                    <a:bodyPr wrap="square"/>
                    <a:lstStyle/>
                    <a:p>
                      <a:r>
                        <a:rPr sz="1500" b="1">
                          <a:solidFill>
                            <a:srgbClr val="FFFFFF"/>
                          </a:solidFill>
                          <a:latin typeface="Segoe UI"/>
                        </a:rPr>
                        <a:t/>
                      </a:r>
                    </a:p>
                  </a:txBody>
                  <a:tcPr marL="73152" marR="73152" marT="36576" marB="36576">
                    <a:solidFill>
                      <a:srgbClr val="1F3A5F"/>
                    </a:solidFill>
                  </a:tcPr>
                </a:tc>
                <a:tc>
                  <a:txBody>
                    <a:bodyPr wrap="square"/>
                    <a:lstStyle/>
                    <a:p>
                      <a:r>
                        <a:rPr sz="1500" b="1">
                          <a:solidFill>
                            <a:srgbClr val="FFFFFF"/>
                          </a:solidFill>
                          <a:latin typeface="Segoe UI"/>
                        </a:rPr>
                        <a:t>Decision</a:t>
                      </a:r>
                    </a:p>
                  </a:txBody>
                  <a:tcPr marL="73152" marR="73152" marT="36576" marB="36576">
                    <a:solidFill>
                      <a:srgbClr val="1F3A5F"/>
                    </a:solidFill>
                  </a:tcPr>
                </a:tc>
                <a:tc>
                  <a:txBody>
                    <a:bodyPr wrap="square"/>
                    <a:lstStyle/>
                    <a:p>
                      <a:r>
                        <a:rPr sz="1500" b="1">
                          <a:solidFill>
                            <a:srgbClr val="FFFFFF"/>
                          </a:solidFill>
                          <a:latin typeface="Segoe UI"/>
                        </a:rPr>
                        <a:t>Outcome</a:t>
                      </a:r>
                    </a:p>
                  </a:txBody>
                  <a:tcPr marL="73152" marR="73152" marT="36576" marB="36576">
                    <a:solidFill>
                      <a:srgbClr val="1F3A5F"/>
                    </a:solidFill>
                  </a:tcPr>
                </a:tc>
              </a:tr>
              <a:tr h="365760">
                <a:tc>
                  <a:txBody>
                    <a:bodyPr wrap="square"/>
                    <a:lstStyle/>
                    <a:p>
                      <a:r>
                        <a:rPr sz="1500" b="0">
                          <a:solidFill>
                            <a:srgbClr val="222B36"/>
                          </a:solidFill>
                          <a:latin typeface="Segoe UI"/>
                        </a:rPr>
                        <a:t>4.1</a:t>
                      </a:r>
                    </a:p>
                  </a:txBody>
                  <a:tcPr marL="73152" marR="73152" marT="36576" marB="36576">
                    <a:solidFill>
                      <a:srgbClr val="F7F9FC"/>
                    </a:solidFill>
                  </a:tcPr>
                </a:tc>
                <a:tc>
                  <a:txBody>
                    <a:bodyPr wrap="square"/>
                    <a:lstStyle/>
                    <a:p>
                      <a:r>
                        <a:rPr sz="1500" b="0">
                          <a:solidFill>
                            <a:srgbClr val="222B36"/>
                          </a:solidFill>
                          <a:latin typeface="Segoe UI"/>
                        </a:rPr>
                        <a:t>Interface contract</a:t>
                      </a:r>
                    </a:p>
                  </a:txBody>
                  <a:tcPr marL="73152" marR="73152" marT="36576" marB="36576">
                    <a:solidFill>
                      <a:srgbClr val="F7F9FC"/>
                    </a:solidFill>
                  </a:tcPr>
                </a:tc>
                <a:tc>
                  <a:txBody>
                    <a:bodyPr wrap="square"/>
                    <a:lstStyle/>
                    <a:p>
                      <a:r>
                        <a:rPr sz="1500" b="0">
                          <a:solidFill>
                            <a:srgbClr val="222B36"/>
                          </a:solidFill>
                          <a:latin typeface="Segoe UI"/>
                        </a:rPr>
                        <a:t>Each module's own types and Protocol; the harness maps every edge (D005)</a:t>
                      </a:r>
                    </a:p>
                  </a:txBody>
                  <a:tcPr marL="73152" marR="73152" marT="36576" marB="36576">
                    <a:solidFill>
                      <a:srgbClr val="F7F9FC"/>
                    </a:solidFill>
                  </a:tcPr>
                </a:tc>
              </a:tr>
              <a:tr h="365760">
                <a:tc>
                  <a:txBody>
                    <a:bodyPr wrap="square"/>
                    <a:lstStyle/>
                    <a:p>
                      <a:r>
                        <a:rPr sz="1500" b="0">
                          <a:solidFill>
                            <a:srgbClr val="222B36"/>
                          </a:solidFill>
                          <a:latin typeface="Segoe UI"/>
                        </a:rPr>
                        <a:t>4.2</a:t>
                      </a:r>
                    </a:p>
                  </a:txBody>
                  <a:tcPr marL="73152" marR="73152" marT="36576" marB="36576">
                    <a:solidFill>
                      <a:srgbClr val="FFFFFF"/>
                    </a:solidFill>
                  </a:tcPr>
                </a:tc>
                <a:tc>
                  <a:txBody>
                    <a:bodyPr wrap="square"/>
                    <a:lstStyle/>
                    <a:p>
                      <a:r>
                        <a:rPr sz="1500" b="0">
                          <a:solidFill>
                            <a:srgbClr val="222B36"/>
                          </a:solidFill>
                          <a:latin typeface="Segoe UI"/>
                        </a:rPr>
                        <a:t>Boundary data</a:t>
                      </a:r>
                    </a:p>
                  </a:txBody>
                  <a:tcPr marL="73152" marR="73152" marT="36576" marB="36576">
                    <a:solidFill>
                      <a:srgbClr val="FFFFFF"/>
                    </a:solidFill>
                  </a:tcPr>
                </a:tc>
                <a:tc>
                  <a:txBody>
                    <a:bodyPr wrap="square"/>
                    <a:lstStyle/>
                    <a:p>
                      <a:r>
                        <a:rPr sz="1500" b="0">
                          <a:solidFill>
                            <a:srgbClr val="222B36"/>
                          </a:solidFill>
                          <a:latin typeface="Segoe UI"/>
                        </a:rPr>
                        <a:t>Frozen dataclasses, SI units, authority in blocks (D002, D013)</a:t>
                      </a:r>
                    </a:p>
                  </a:txBody>
                  <a:tcPr marL="73152" marR="73152" marT="36576" marB="36576">
                    <a:solidFill>
                      <a:srgbClr val="FFFFFF"/>
                    </a:solidFill>
                  </a:tcPr>
                </a:tc>
              </a:tr>
              <a:tr h="365760">
                <a:tc>
                  <a:txBody>
                    <a:bodyPr wrap="square"/>
                    <a:lstStyle/>
                    <a:p>
                      <a:r>
                        <a:rPr sz="1500" b="0">
                          <a:solidFill>
                            <a:srgbClr val="222B36"/>
                          </a:solidFill>
                          <a:latin typeface="Segoe UI"/>
                        </a:rPr>
                        <a:t>4.3</a:t>
                      </a:r>
                    </a:p>
                  </a:txBody>
                  <a:tcPr marL="73152" marR="73152" marT="36576" marB="36576">
                    <a:solidFill>
                      <a:srgbClr val="F7F9FC"/>
                    </a:solidFill>
                  </a:tcPr>
                </a:tc>
                <a:tc>
                  <a:txBody>
                    <a:bodyPr wrap="square"/>
                    <a:lstStyle/>
                    <a:p>
                      <a:r>
                        <a:rPr sz="1500" b="0">
                          <a:solidFill>
                            <a:srgbClr val="222B36"/>
                          </a:solidFill>
                          <a:latin typeface="Segoe UI"/>
                        </a:rPr>
                        <a:t>Contract enforcement</a:t>
                      </a:r>
                    </a:p>
                  </a:txBody>
                  <a:tcPr marL="73152" marR="73152" marT="36576" marB="36576">
                    <a:solidFill>
                      <a:srgbClr val="F7F9FC"/>
                    </a:solidFill>
                  </a:tcPr>
                </a:tc>
                <a:tc>
                  <a:txBody>
                    <a:bodyPr wrap="square"/>
                    <a:lstStyle/>
                    <a:p>
                      <a:r>
                        <a:rPr sz="1500" b="0">
                          <a:solidFill>
                            <a:srgbClr val="222B36"/>
                          </a:solidFill>
                          <a:latin typeface="Segoe UI"/>
                        </a:rPr>
                        <a:t>Each module tests its contract; a shared CI job is open</a:t>
                      </a:r>
                    </a:p>
                  </a:txBody>
                  <a:tcPr marL="73152" marR="73152" marT="36576" marB="36576">
                    <a:solidFill>
                      <a:srgbClr val="F7F9FC"/>
                    </a:solidFill>
                  </a:tcPr>
                </a:tc>
              </a:tr>
              <a:tr h="365760">
                <a:tc>
                  <a:txBody>
                    <a:bodyPr wrap="square"/>
                    <a:lstStyle/>
                    <a:p>
                      <a:r>
                        <a:rPr sz="1500" b="0">
                          <a:solidFill>
                            <a:srgbClr val="222B36"/>
                          </a:solidFill>
                          <a:latin typeface="Segoe UI"/>
                        </a:rPr>
                        <a:t>4.4</a:t>
                      </a:r>
                    </a:p>
                  </a:txBody>
                  <a:tcPr marL="73152" marR="73152" marT="36576" marB="36576">
                    <a:solidFill>
                      <a:srgbClr val="FFFFFF"/>
                    </a:solidFill>
                  </a:tcPr>
                </a:tc>
                <a:tc>
                  <a:txBody>
                    <a:bodyPr wrap="square"/>
                    <a:lstStyle/>
                    <a:p>
                      <a:r>
                        <a:rPr sz="1500" b="0">
                          <a:solidFill>
                            <a:srgbClr val="222B36"/>
                          </a:solidFill>
                          <a:latin typeface="Segoe UI"/>
                        </a:rPr>
                        <a:t>Stand-ins</a:t>
                      </a:r>
                    </a:p>
                  </a:txBody>
                  <a:tcPr marL="73152" marR="73152" marT="36576" marB="36576">
                    <a:solidFill>
                      <a:srgbClr val="FFFFFF"/>
                    </a:solidFill>
                  </a:tcPr>
                </a:tc>
                <a:tc>
                  <a:txBody>
                    <a:bodyPr wrap="square"/>
                    <a:lstStyle/>
                    <a:p>
                      <a:r>
                        <a:rPr sz="1500" b="0">
                          <a:solidFill>
                            <a:srgbClr val="222B36"/>
                          </a:solidFill>
                          <a:latin typeface="Segoe UI"/>
                        </a:rPr>
                        <a:t>Each module's test UI in its own process; harness stubs (D010, D018)</a:t>
                      </a:r>
                    </a:p>
                  </a:txBody>
                  <a:tcPr marL="73152" marR="73152" marT="36576" marB="36576">
                    <a:solidFill>
                      <a:srgbClr val="FFFFFF"/>
                    </a:solidFill>
                  </a:tcPr>
                </a:tc>
              </a:tr>
              <a:tr h="365760">
                <a:tc>
                  <a:txBody>
                    <a:bodyPr wrap="square"/>
                    <a:lstStyle/>
                    <a:p>
                      <a:r>
                        <a:rPr sz="1500" b="0">
                          <a:solidFill>
                            <a:srgbClr val="222B36"/>
                          </a:solidFill>
                          <a:latin typeface="Segoe UI"/>
                        </a:rPr>
                        <a:t>4.5</a:t>
                      </a:r>
                    </a:p>
                  </a:txBody>
                  <a:tcPr marL="73152" marR="73152" marT="36576" marB="36576">
                    <a:solidFill>
                      <a:srgbClr val="F7F9FC"/>
                    </a:solidFill>
                  </a:tcPr>
                </a:tc>
                <a:tc>
                  <a:txBody>
                    <a:bodyPr wrap="square"/>
                    <a:lstStyle/>
                    <a:p>
                      <a:r>
                        <a:rPr sz="1500" b="0">
                          <a:solidFill>
                            <a:srgbClr val="222B36"/>
                          </a:solidFill>
                          <a:latin typeface="Segoe UI"/>
                        </a:rPr>
                        <a:t>Ownership</a:t>
                      </a:r>
                    </a:p>
                  </a:txBody>
                  <a:tcPr marL="73152" marR="73152" marT="36576" marB="36576">
                    <a:solidFill>
                      <a:srgbClr val="F7F9FC"/>
                    </a:solidFill>
                  </a:tcPr>
                </a:tc>
                <a:tc>
                  <a:txBody>
                    <a:bodyPr wrap="square"/>
                    <a:lstStyle/>
                    <a:p>
                      <a:r>
                        <a:rPr sz="1500" b="0">
                          <a:solidFill>
                            <a:srgbClr val="222B36"/>
                          </a:solidFill>
                          <a:latin typeface="Segoe UI"/>
                        </a:rPr>
                        <a:t>Each module owns its types; one owner per contract shard</a:t>
                      </a:r>
                    </a:p>
                  </a:txBody>
                  <a:tcPr marL="73152" marR="73152" marT="36576" marB="36576">
                    <a:solidFill>
                      <a:srgbClr val="F7F9FC"/>
                    </a:solidFill>
                  </a:tcPr>
                </a:tc>
              </a:tr>
              <a:tr h="365760">
                <a:tc>
                  <a:txBody>
                    <a:bodyPr wrap="square"/>
                    <a:lstStyle/>
                    <a:p>
                      <a:r>
                        <a:rPr sz="1500" b="0">
                          <a:solidFill>
                            <a:srgbClr val="222B36"/>
                          </a:solidFill>
                          <a:latin typeface="Segoe UI"/>
                        </a:rPr>
                        <a:t>4.6</a:t>
                      </a:r>
                    </a:p>
                  </a:txBody>
                  <a:tcPr marL="73152" marR="73152" marT="36576" marB="36576">
                    <a:solidFill>
                      <a:srgbClr val="FFFFFF"/>
                    </a:solidFill>
                  </a:tcPr>
                </a:tc>
                <a:tc>
                  <a:txBody>
                    <a:bodyPr wrap="square"/>
                    <a:lstStyle/>
                    <a:p>
                      <a:r>
                        <a:rPr sz="1500" b="0">
                          <a:solidFill>
                            <a:srgbClr val="222B36"/>
                          </a:solidFill>
                          <a:latin typeface="Segoe UI"/>
                        </a:rPr>
                        <a:t>Input validation</a:t>
                      </a:r>
                    </a:p>
                  </a:txBody>
                  <a:tcPr marL="73152" marR="73152" marT="36576" marB="36576">
                    <a:solidFill>
                      <a:srgbClr val="FFFFFF"/>
                    </a:solidFill>
                  </a:tcPr>
                </a:tc>
                <a:tc>
                  <a:txBody>
                    <a:bodyPr wrap="square"/>
                    <a:lstStyle/>
                    <a:p>
                      <a:r>
                        <a:rPr sz="1500" b="0">
                          <a:solidFill>
                            <a:srgbClr val="222B36"/>
                          </a:solidFill>
                          <a:latin typeface="Segoe UI"/>
                        </a:rPr>
                        <a:t>Reject the whole tick before anything changes</a:t>
                      </a:r>
                    </a:p>
                  </a:txBody>
                  <a:tcPr marL="73152" marR="73152" marT="36576" marB="36576">
                    <a:solidFill>
                      <a:srgbClr val="FFFFFF"/>
                    </a:solidFill>
                  </a:tcPr>
                </a:tc>
              </a:tr>
              <a:tr h="365760">
                <a:tc>
                  <a:txBody>
                    <a:bodyPr wrap="square"/>
                    <a:lstStyle/>
                    <a:p>
                      <a:r>
                        <a:rPr sz="1500" b="0">
                          <a:solidFill>
                            <a:srgbClr val="222B36"/>
                          </a:solidFill>
                          <a:latin typeface="Segoe UI"/>
                        </a:rPr>
                        <a:t>4.7</a:t>
                      </a:r>
                    </a:p>
                  </a:txBody>
                  <a:tcPr marL="73152" marR="73152" marT="36576" marB="36576">
                    <a:solidFill>
                      <a:srgbClr val="F7F9FC"/>
                    </a:solidFill>
                  </a:tcPr>
                </a:tc>
                <a:tc>
                  <a:txBody>
                    <a:bodyPr wrap="square"/>
                    <a:lstStyle/>
                    <a:p>
                      <a:r>
                        <a:rPr sz="1500" b="0">
                          <a:solidFill>
                            <a:srgbClr val="222B36"/>
                          </a:solidFill>
                          <a:latin typeface="Segoe UI"/>
                        </a:rPr>
                        <a:t>Decision log</a:t>
                      </a:r>
                    </a:p>
                  </a:txBody>
                  <a:tcPr marL="73152" marR="73152" marT="36576" marB="36576">
                    <a:solidFill>
                      <a:srgbClr val="F7F9FC"/>
                    </a:solidFill>
                  </a:tcPr>
                </a:tc>
                <a:tc>
                  <a:txBody>
                    <a:bodyPr wrap="square"/>
                    <a:lstStyle/>
                    <a:p>
                      <a:r>
                        <a:rPr sz="1500" b="0">
                          <a:solidFill>
                            <a:srgbClr val="222B36"/>
                          </a:solidFill>
                          <a:latin typeface="Segoe UI"/>
                        </a:rPr>
                        <a:t>The truth branch; proposals promoted by a person</a:t>
                      </a:r>
                    </a:p>
                  </a:txBody>
                  <a:tcPr marL="73152" marR="73152" marT="36576" marB="36576">
                    <a:solidFill>
                      <a:srgbClr val="F7F9FC"/>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CTC Office</a:t>
            </a:r>
          </a:p>
        </p:txBody>
      </p:sp>
      <p:sp>
        <p:nvSpPr>
          <p:cNvPr id="5" name="TextBox 4"/>
          <p:cNvSpPr txBox="1"/>
          <p:nvPr/>
        </p:nvSpPr>
        <p:spPr>
          <a:xfrm>
            <a:off x="822960" y="3474720"/>
            <a:ext cx="10515600" cy="914400"/>
          </a:xfrm>
          <a:prstGeom prst="rect">
            <a:avLst/>
          </a:prstGeom>
          <a:noFill/>
        </p:spPr>
        <p:txBody>
          <a:bodyPr wrap="square" anchor="t" lIns="45720" rIns="45720">
            <a:spAutoFit/>
          </a:bodyPr>
          <a:lstStyle/>
          <a:p>
            <a:pPr algn="l"/>
            <a:r>
              <a:rPr sz="2000" b="0">
                <a:solidFill>
                  <a:srgbClr val="5B6775"/>
                </a:solidFill>
                <a:latin typeface="Segoe UI"/>
              </a:rPr>
              <a:t>Landis · SDD Section 5.1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CTC Office: what it does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32</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The dispatcher's console for the Green and Red Lines; one process on the host PC</a:t>
            </a:r>
          </a:p>
          <a:p>
            <a:pPr>
              <a:spcAft>
                <a:spcPts val="800"/>
              </a:spcAft>
            </a:pPr>
            <a:r>
              <a:rPr sz="2400">
                <a:solidFill>
                  <a:srgbClr val="222B36"/>
                </a:solidFill>
                <a:latin typeface="Segoe UI"/>
              </a:rPr>
              <a:t>•  Creates every train and its ID, and releases it from the yard (D022)</a:t>
            </a:r>
          </a:p>
          <a:p>
            <a:pPr>
              <a:spcAft>
                <a:spcPts val="800"/>
              </a:spcAft>
            </a:pPr>
            <a:r>
              <a:rPr sz="2400">
                <a:solidFill>
                  <a:srgbClr val="222B36"/>
                </a:solidFill>
                <a:latin typeface="Segoe UI"/>
              </a:rPr>
              <a:t>•  Dispatches by hand, or runs the loaded schedule automatically (D020)</a:t>
            </a:r>
          </a:p>
          <a:p>
            <a:pPr>
              <a:spcAft>
                <a:spcPts val="800"/>
              </a:spcAft>
            </a:pPr>
            <a:r>
              <a:rPr sz="2400">
                <a:solidFill>
                  <a:srgbClr val="222B36"/>
                </a:solidFill>
                <a:latin typeface="Segoe UI"/>
              </a:rPr>
              <a:t>•  Every step: route, authority and suggested speed for each train's block and the next</a:t>
            </a:r>
          </a:p>
          <a:p>
            <a:pPr lvl="1">
              <a:spcAft>
                <a:spcPts val="400"/>
              </a:spcAft>
            </a:pPr>
            <a:r>
              <a:rPr sz="2100">
                <a:solidFill>
                  <a:srgbClr val="5B6775"/>
                </a:solidFill>
                <a:latin typeface="Segoe UI"/>
              </a:rPr>
              <a:t>–  Knows trains only from occupancy; a failed block reads occupied</a:t>
            </a:r>
          </a:p>
          <a:p>
            <a:pPr>
              <a:spcAft>
                <a:spcPts val="800"/>
              </a:spcAft>
            </a:pPr>
            <a:r>
              <a:rPr sz="2400">
                <a:solidFill>
                  <a:srgbClr val="222B36"/>
                </a:solidFill>
                <a:latin typeface="Segoe UI"/>
              </a:rPr>
              <a:t>•  Closes blocks and sets switches in maintenance mode</a:t>
            </a:r>
          </a:p>
          <a:p>
            <a:pPr>
              <a:spcAft>
                <a:spcPts val="800"/>
              </a:spcAft>
            </a:pPr>
            <a:r>
              <a:rPr sz="2400">
                <a:solidFill>
                  <a:srgbClr val="222B36"/>
                </a:solidFill>
                <a:latin typeface="Segoe UI"/>
              </a:rPr>
              <a:t>•  Commands the shared clock: run, pause, 1x and 10x (D017)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Dispatcher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33</a:t>
            </a:r>
          </a:p>
        </p:txBody>
      </p:sp>
      <p:pic>
        <p:nvPicPr>
          <p:cNvPr id="7" name="Picture 6" descr="uc_dispatcher.png"/>
          <p:cNvPicPr>
            <a:picLocks noChangeAspect="1"/>
          </p:cNvPicPr>
          <p:nvPr/>
        </p:nvPicPr>
        <p:blipFill>
          <a:blip r:embed="rId3"/>
          <a:stretch>
            <a:fillRect/>
          </a:stretch>
        </p:blipFill>
        <p:spPr>
          <a:xfrm>
            <a:off x="4333383" y="978408"/>
            <a:ext cx="3524928" cy="546811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Central Harness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34</a:t>
            </a:r>
          </a:p>
        </p:txBody>
      </p:sp>
      <p:pic>
        <p:nvPicPr>
          <p:cNvPr id="7" name="Picture 6" descr="uc_harness.png"/>
          <p:cNvPicPr>
            <a:picLocks noChangeAspect="1"/>
          </p:cNvPicPr>
          <p:nvPr/>
        </p:nvPicPr>
        <p:blipFill>
          <a:blip r:embed="rId3"/>
          <a:stretch>
            <a:fillRect/>
          </a:stretch>
        </p:blipFill>
        <p:spPr>
          <a:xfrm>
            <a:off x="2621146" y="978408"/>
            <a:ext cx="6949403" cy="546811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Track Controller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35</a:t>
            </a:r>
          </a:p>
        </p:txBody>
      </p:sp>
      <p:pic>
        <p:nvPicPr>
          <p:cNvPr id="7" name="Picture 6" descr="uc_track_controller.png"/>
          <p:cNvPicPr>
            <a:picLocks noChangeAspect="1"/>
          </p:cNvPicPr>
          <p:nvPr/>
        </p:nvPicPr>
        <p:blipFill>
          <a:blip r:embed="rId3"/>
          <a:stretch>
            <a:fillRect/>
          </a:stretch>
        </p:blipFill>
        <p:spPr>
          <a:xfrm>
            <a:off x="411480" y="1515929"/>
            <a:ext cx="11368735" cy="439307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Track Model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36</a:t>
            </a:r>
          </a:p>
        </p:txBody>
      </p:sp>
      <p:pic>
        <p:nvPicPr>
          <p:cNvPr id="7" name="Picture 6" descr="uc_track_model.png"/>
          <p:cNvPicPr>
            <a:picLocks noChangeAspect="1"/>
          </p:cNvPicPr>
          <p:nvPr/>
        </p:nvPicPr>
        <p:blipFill>
          <a:blip r:embed="rId3"/>
          <a:stretch>
            <a:fillRect/>
          </a:stretch>
        </p:blipFill>
        <p:spPr>
          <a:xfrm>
            <a:off x="411480" y="1546991"/>
            <a:ext cx="11368735" cy="433094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UC-01 Control the simulation clock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37</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 Central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Runs, pauses and speeds up the one shared clock, for every module.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clock_paused (true at start), clock_speedup (true for 10x). The header shows the harness's time, 24-hour, from 05:00:00.</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Run / Pause and 1x / 10x under SIMULATION CLOCK in the header.</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module's outputs change at once and go to the harness as STATE, since no step runs while the clock is paused. The harness starts, stops or speeds the ticks of every module. At 10x ticks come ten times as often; dt stays 0.1 s.</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The harness allows Run only once every module has said it is ready (D005). Pressing the control that is already set changes nothing.</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1.2 to 1.4; REQ-FUNC-001, 002, 003; REQ-INTF-013; REQ-NFR-002</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SD-01</a:t>
                      </a:r>
                    </a:p>
                  </a:txBody>
                  <a:tcPr marL="73152" marR="73152" marT="27432" marB="27432">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UC-02 Change operating mode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38</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Chooses Automatic, Manual or Maintenance mode.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One mode at a time.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OPERATING MODE toggle in the header.</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right-hand column shows that mode's view. Automatic: the loaded schedule's runs dispatch themselves. Manual: Dispatch train, and reroute, cancel or return to yard for the selected train. Maintenance: Close block, Active closures and Set switch position. Leaving Automatic holds every scheduled run where it is; leaving Maintenance drops every switch command, while closed blocks stay closed. The mode itself is sent to no module: the Track Controller gets the closed blocks instead.</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2.2; REQ-FUNC-006, 007, 008</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SD-02</a:t>
                      </a:r>
                    </a:p>
                  </a:txBody>
                  <a:tcPr marL="73152" marR="73152" marT="27432" marB="27432">
                    <a:solidFill>
                      <a:srgbClr val="F7F9FC"/>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UC-03 Dispatch a train to a station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39</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Orders a train to a station of its line, with an optional arrival time.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Line; train: one already on the line, or New train (T*n*) with the next free ID; destination station (the line's station blocks); arrival HH:MM, optional.</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Dispatch train (Manual view). It reads Reroute train when the train already has an order.</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order is recorded, replacing any earlier one. A new train waits in the yard until the CTC Office releases it (UC-20). From then on the train gets authority toward the station every step (UC-21). The panel shows the suggested speed and authority sent for it. The arrival time ranks the train for contested blocks: the train most behind schedule goes first.</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Refused with a message, and nothing changes: the line's waysides are not all ready (the message names the wayside and why); the destination is closed or closing; the train is on the other line; the train ID is empty, unprintable or longer than 32 characters; the arrival is not a time of day. A destination the CTC Office takes for a failure is accepted: the train waits short of it until it clears.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2.0; REQ-FUNC-004, 004.1, 004.2, 006; REQ-NFR-003, 004</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SD-03</a:t>
                      </a:r>
                    </a:p>
                  </a:txBody>
                  <a:tcPr marL="73152" marR="73152" marT="27432" marB="27432">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UC-04 Dispatch a train to a block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40</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Sends a train straight to any block of its line.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Line, train, block.</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Set authority ("or dispatch directly to a block"), Manual view.</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An order to that block with no arrival time. The CTC Office turns it into a count of blocks every step (D013).</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As UC-03.</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2.3; REQ-FUNC-009</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SD-04</a:t>
                      </a:r>
                    </a:p>
                  </a:txBody>
                  <a:tcPr marL="73152" marR="73152" marT="27432" marB="27432">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UC-05 Reroute or cancel a train's order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41</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Changes where the selected train is going, or withdraws its order.</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Train; new destination.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Reroute or Cancel order in Selected train (Manual mode).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 reroute replaces the order; the route is worked out again from where the train is, carrying on the way it is going. A cancel drops the order, so the train's authority is 0 from the next step and it stops.</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reroute is refused as UC-03 refuses.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2.3; REQ-FUNC-009</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SD-05</a:t>
                      </a:r>
                    </a:p>
                  </a:txBody>
                  <a:tcPr marL="73152" marR="73152" marT="27432" marB="27432">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UC-06 Return a train to the yard</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42</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Sends a manual train on the track back to the yard, where it is retired (D022).</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Train.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Return to yard in Selected train (Manual mode).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An order to the line's yard entry block (Green 57, Red 9). Once the train has stopped there with authority 0 it is retired (UC-20). A later order or a cancel withdraws it.</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Refused for a train not on the track (cancel its order instead), for a run of the loaded schedule (the schedule returns it), and as UC-03 refuses.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D022</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SD-06</a:t>
                      </a:r>
                    </a:p>
                  </a:txBody>
                  <a:tcPr marL="73152" marR="73152" marT="27432" marB="27432">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UC-07 Load a schedule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43</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Loads the schedule that automatic mode runs.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Schedule JSON in the utils/schedule_v4.json format: per run, the line, run number and timed stops.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Load schedule (Automatic view) and a file.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Each run is planned at once (D020). Its train ID is the line's initial and run number (G1, R1). It stops only at its scheduled stations, in the order the track reaches them from the yard, then returns to the yard. It is due out of the yard at 05:00 plus its departure, and at each stop after the run time and a 45 s dwell at each stop before (D007). DEPARTURES lists every run.</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malformed file, a stop not on the layout, a run listed twice, or two runs with one train ID: "Schedule not loaded: …", and the current schedule is kept.</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2.6; REQ-FUNC-010; REQ-NFR-003, 004</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SD-07</a:t>
                      </a:r>
                    </a:p>
                  </a:txBody>
                  <a:tcPr marL="73152" marR="73152" marT="27432" marB="27432">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UC-08 Monitor and pause automatic dispatch</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44</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how far each run has got, and holds or releases them all.</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DEPARTURES: train, due time, status (Queued, Held, In yard, To station, At station, To yard, Done).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Pause dispatch / Resume dispatch; any step.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While paused, no run leaves the yard or a stop; a run already on its way carries on to its next stop.</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2.6; REQ-FUNC-007, 010</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SD-08</a:t>
                      </a:r>
                    </a:p>
                  </a:txBody>
                  <a:tcPr marL="73152" marR="73152" marT="27432" marB="27432">
                    <a:solidFill>
                      <a:srgbClr val="F7F9FC"/>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UC-09 Close or reopen a block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45</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a block out of service for maintenance, and back.</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Line, block.</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Close block, then Yes, close block (Maintenance view); Reopen block or Cancel closing under Active closures.</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 clear block closes at once. An occupied block is listed as "Closing — train in block" and closes by itself once the train has left. Either way, orders into it are cancelled at once with a notice, no authority is given into it, and it is in closed_blocks from the moment it is requested until it is reopened.</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Already closed or closing: says so. Outside maintenance mode: refused.</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2.4; REQ-FUNC-011</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SD-09</a:t>
                      </a:r>
                    </a:p>
                  </a:txBody>
                  <a:tcPr marL="73152" marR="73152" marT="27432" marB="27432">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UC-10 Set a switch position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46</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Commands a switch, in maintenance mode.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Line; switch, named by its block; Normal (the first connection the layout file lists) or Reverse (the second). The panel shows the position the Track Controller reports and the one commanded.</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Send to track controller or Release (Maintenance view).</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command is in switch_commands every step while maintenance mode lasts; the wayside's PLC program carries it out, and the reported position follows.</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The switch's block is occupied: refused. Outside maintenance mode: refused.</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2.7; REQ-FUNC-012</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SD-10</a:t>
                      </a:r>
                    </a:p>
                  </a:txBody>
                  <a:tcPr marL="73152" marR="73152" marT="27432" marB="27432">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UC-11 Monitor the track map</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47</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both lines and what is on them.</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Every block from the layout files, coloured by line; occupied, closed and closing blocks; each train the CTC Office follows, as a car tagged with its ID on its head block; an untagged car on any other occupied block (an inferred failure among them); active crossings.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Any step; + / − zoom, drag to pan, Fit.</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map redraws. A selected train's route is highlighted (UC-13).</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2.5; REQ-FUNC-013; REQ-INTF-002.1, 002.2</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SD-11</a:t>
                      </a:r>
                    </a:p>
                  </a:txBody>
                  <a:tcPr marL="73152" marR="73152" marT="27432" marB="27432">
                    <a:solidFill>
                      <a:srgbClr val="F7F9FC"/>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UC-12 Monitor train occupancy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48</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Lists every train the CTC Office follows or has an order for.</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Train, line, block (both blocks while it crosses into the next), suggested speed (mph; its actual speed is never known), authority (blocks, and the block it ends at), destination, requested arrival, status (En route, In yard, Not located, No order).</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Train occupancy window, or its dock ("Keep open at bottom"); filter by line, status or train ID.</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Rows update after each step. Select train loads the row into Selected train (UC-13).</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2.5; REQ-FUNC-013</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SD-12</a:t>
                      </a:r>
                    </a:p>
                  </a:txBody>
                  <a:tcPr marL="73152" marR="73152" marT="27432" marB="27432">
                    <a:solidFill>
                      <a:srgbClr val="F7F9FC"/>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UC-13 View the selected train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49</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one train in detail.</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Current block, next station, suggested speed, authority and the block it runs to, why it ends there (destination, a block occupied, closed or closing, a switch not set, a block reserved by another train), destination, arrival, dwell at the next stop, the route, and where it would have to reverse.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Select train in the occupancy window or on a reversal alert.</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panel fills, and the route is highlighted on the map, within authority and beyond it. In Manual mode the panel adds UC-05 and UC-06.</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2.1 (display); REQ-FUNC-005, 013</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SD-13</a:t>
                      </a:r>
                    </a:p>
                  </a:txBody>
                  <a:tcPr marL="73152" marR="73152" marT="27432" marB="27432">
                    <a:solidFill>
                      <a:srgbClr val="F7F9FC"/>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UC-14 View throughput metrics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50</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passenger throughput per line, from ticket sales.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Tickets per hour on each line since 05:00; tickets sold on each line in each clock hour, last 12 hours.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Any step; hover a bar for its value.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tiles, table and charts update.</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2.8; REQ-FUNC-014</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SD-14</a:t>
                      </a:r>
                    </a:p>
                  </a:txBody>
                  <a:tcPr marL="73152" marR="73152" marT="27432" marB="27432">
                    <a:solidFill>
                      <a:srgbClr val="F7F9FC"/>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UC-15 Handle notices and reversal alerts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51</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Dispatcher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Tells the dispatcher what needs their attention.</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Notices: each wayside not ready and why; orders the CTC Office cancelled itself (block closed or closing); Track Controller reports staged while paused. Reversal alert: the train, what holds it, and the block where it would have to reverse.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Dismiss (notices); Select train or Dismiss (alert).</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CTC Office never reverses a train: it waits, and the alert says so. A dismissed alert does not come back unless the situation clears and happens again.</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REQ-INTF-004</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SD-15</a:t>
                      </a:r>
                    </a:p>
                  </a:txBody>
                  <a:tcPr marL="73152" marR="73152" marT="27432" marB="27432">
                    <a:solidFill>
                      <a:srgbClr val="F7F9FC"/>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UC-16 Run one step</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52</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(primary); Track Controller and Track Model through it</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Once per tick, takes that tick's inputs, moves every train and run on, and returns the outputs.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Tick number; dt (fixed, 0.1 s); simulation time (unwrapped seconds, 05:00:00 is 18 000); the tick's inputs (UC-17, UC-23).</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A STEP message from the harness.</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In order: follow the trains (UC-18), add ticket sales (UC-23), run the schedule (UC-19), close pending closures whose block is clear, retire trains (UC-20), work out authority and commit it, release a waiting train (UC-20), and return the outputs (UC-21, UC-22, clock commands, train events). The reply goes before the window redraws, which it does at most every 200 ms.</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Malformed or invalid input, a dt that is not finite and positive, or a time not after the module's: the whole tick is refused before anything changes, and the harness logs it and keeps the last outputs. The module's time is the harness's, so a refused tick does not put the schedule behind. A line not ready: UC-24.</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REQ-INTF-013; REQ-NFR-002, 003, 004; REQ-DSN-004</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SD-16</a:t>
                      </a:r>
                    </a:p>
                  </a:txBody>
                  <a:tcPr marL="73152" marR="73152" marT="27432" marB="27432">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UC-17 Receive Track Controller reports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53</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Controller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what every wayside reports.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Occupied blocks; switch positions; crossing states; each wayside's ID, line, ready and why not. The harness maps them from every wayside's CtcReport.</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step.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Occupancy drives tracking (UC-18). A switch not reported set for a train's route cuts its authority short. Crossings show on the map. Readiness gates each line (UC-24).</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An unknown block, switch or crossing, or a switch reported in two positions: the tick is refused.</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2.5; REQ-FUNC-013; REQ-INTF-020</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SD-17</a:t>
                      </a:r>
                    </a:p>
                  </a:txBody>
                  <a:tcPr marL="73152" marR="73152" marT="27432" marB="27432">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UC-18 Follow trains from occupancy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54</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(included in UC-16); Track Controller (its occupancy)</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Works out where each of its trains is, and which occupied blocks are failures, from occupancy alone.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Occupancy now and at the last step; each train's route, authority and suggested speeds; the trains it has released.</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step.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train in a yard exit block (Green 63, Red 9) is the one the CTC Office last released there. A train moves into the next block of its route when that block becomes occupied, and leaves a block when it clears; it holds both while crossing.</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The next block occupied sooner than half the time the train would need, or an occupancy no train explains: a failure. No authority is given into it and routes go round it, but it is shown only as occupied, and orders into it are kept. A train whose blocks all clear outside the yard is dropped quietly ("Not located"); its order stays.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2.5; REQ-FUNC-013</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SD-18</a:t>
                      </a:r>
                    </a:p>
                  </a:txBody>
                  <a:tcPr marL="73152" marR="73152" marT="27432" marB="27432">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UC-19 Run the schedule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55</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(included in UC-16)</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In automatic mode, gives the orders that carry the loaded schedule out (D020).</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Each run's plan and progress; the time; ready lines; where each train is.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step, in Automatic mode with dispatch not paused.</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 run that is due is dispatched from the yard and released (UC-20). It is sent to its next scheduled station, where its authority ends; once its head reaches that block it is held 45 s, then sent on. After its last stop it returns to the yard and is retired. Runs are never sent to meet head-on: where runs use the same track in both directions (Green 77 to 100 and 1 to 28; Red 16 to 66) one scheduled train at a time is let in, and a run due to enter a busy stretch waits at its last stop or in the yard as Held.</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closed or closing stop is skipped. A line not ready: its runs wait.</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2.6; REQ-FUNC-007, 010</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SD-19</a:t>
                      </a:r>
                    </a:p>
                  </a:txBody>
                  <a:tcPr marL="73152" marR="73152" marT="27432" marB="27432">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UC-20 Release and retire trains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56</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(included in UC-16; applies the events to its roster)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Lets trains out of the yard and takes them back (D022).</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new_trains: train ID and line; retired_trains: train ID. Each appears in exactly one step's outputs.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step.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Release: per line, one train at a time, the waiting train most behind schedule first, and only when every wayside on the line is ready, the yard exit block is clear and not closed or closing, no train is authorized into it, and the scheduler is not holding the run. The harness adds the train to the Train Model and the line's Train Controller at the yard exit block. Retire: a train sent to the yard that has stopped at the yard entry block (Green 57, Red 9) with authority 0 at its destination. The harness removes it; its block clears; its run is done and its order dropped.</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2.0; REQ-FUNC-004; D022</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SD-20</a:t>
                      </a:r>
                    </a:p>
                  </a:txBody>
                  <a:tcPr marL="73152" marR="73152" marT="27432" marB="27432">
                    <a:solidFill>
                      <a:srgbClr val="F7F9FC"/>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UC-21 Send speed and authority suggestions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57</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Controller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Suggests each train's speed and authority, for the block it is in and the next block on its route.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Up to two per train: train ID, line, block, speed (whole m/s), authority (blocks). The second is for the next block, while the authority is at least 1, with one block less.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step.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Authority and speed are worked out as in section 4.1. The harness sends each line's suggestions to its Track Controller by block, dropping the train ID; the next block always lies within the train's own exclusive authority, so no two trains name one block.</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train still in the yard gets neither. A line not ready: UC-24.</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2.1; REQ-FUNC-005, 005.1, 005.2; REQ-INTF-019</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SD-21</a:t>
                      </a:r>
                    </a:p>
                  </a:txBody>
                  <a:tcPr marL="73152" marR="73152" marT="27432" marB="27432">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UC-22 Send closures and switch commands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58</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Controller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Tells the waysides which blocks are closed and, in maintenance mode, where to set switches.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closed_blocks: the full set every step, closing blocks included; switch_commands: only in maintenance mode.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step.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Track Controller may not override a listed block; the PLC program carries out a switch command.</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line not ready: nothing is sent for it; closures and commands are kept and go out once it is ready (UC-24).</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2.4, 2.7; REQ-FUNC-011, 012; REQ-INTF-019</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SD-22</a:t>
                      </a:r>
                    </a:p>
                  </a:txBody>
                  <a:tcPr marL="73152" marR="73152" marT="27432" marB="27432">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UC-23 Receive ticket sales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59</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the tickets sold at each station.</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Tickets sold since the previous step, by station name as the layout files write it (GLENBURY). The harness delivers each tick's sales exactly once.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step.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Added to each station's count since the start, which gives each line's throughput (UC-14).</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An unknown station, or a count that is negative or not a whole number: the tick is refused.</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2.8; REQ-FUNC-014</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SD-23</a:t>
                      </a:r>
                    </a:p>
                  </a:txBody>
                  <a:tcPr marL="73152" marR="73152" marT="27432" marB="27432">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UC-24 Hold a line that is not ready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60</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(extends UC-16); Track Controller (a wayside not ready)</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Keeps a line still while any wayside on it is not ready (no PLC program loaded). The waysides are vital, so nothing is sent to a line until every wayside on it runs its program.</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Each wayside's ready and reason. A line is ready once a wayside on it has reported and every wayside on it is ready.</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Any step on which a line is not ready.</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For that line only: no suggestions, closed blocks or switch commands are sent; no authority is granted; no train is released; automatic dispatch waits; a dispatch is refused, naming the wayside and why; the window lists each wayside not ready. Closures and switch commands are kept. The other line keeps running. Everything resumes on the first step the line is ready.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REQ-FUNC-005; D022 (release conditions)</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SD-24</a:t>
                      </a:r>
                    </a:p>
                  </a:txBody>
                  <a:tcPr marL="73152" marR="73152" marT="27432" marB="27432">
                    <a:solidFill>
                      <a:srgbClr val="F7F9FC"/>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CTC Office architecture (component view)</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Architecture</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61</a:t>
            </a:r>
          </a:p>
        </p:txBody>
      </p:sp>
      <p:pic>
        <p:nvPicPr>
          <p:cNvPr id="7" name="Picture 6" descr="architecture.png"/>
          <p:cNvPicPr>
            <a:picLocks noChangeAspect="1"/>
          </p:cNvPicPr>
          <p:nvPr/>
        </p:nvPicPr>
        <p:blipFill>
          <a:blip r:embed="rId3"/>
          <a:stretch>
            <a:fillRect/>
          </a:stretch>
        </p:blipFill>
        <p:spPr>
          <a:xfrm>
            <a:off x="2346072" y="978408"/>
            <a:ext cx="7499551" cy="5468112"/>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Core classes: module and tracking</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62</a:t>
            </a:r>
          </a:p>
        </p:txBody>
      </p:sp>
      <p:pic>
        <p:nvPicPr>
          <p:cNvPr id="7" name="Picture 6" descr="class_core.png"/>
          <p:cNvPicPr>
            <a:picLocks noChangeAspect="1"/>
          </p:cNvPicPr>
          <p:nvPr/>
        </p:nvPicPr>
        <p:blipFill>
          <a:blip r:embed="rId3"/>
          <a:stretch>
            <a:fillRect/>
          </a:stretch>
        </p:blipFill>
        <p:spPr>
          <a:xfrm>
            <a:off x="1069444" y="978408"/>
            <a:ext cx="10052806" cy="5468112"/>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Core classes: scheduling, routing and data</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63</a:t>
            </a:r>
          </a:p>
        </p:txBody>
      </p:sp>
      <p:pic>
        <p:nvPicPr>
          <p:cNvPr id="7" name="Picture 6" descr="class_services.png"/>
          <p:cNvPicPr>
            <a:picLocks noChangeAspect="1"/>
          </p:cNvPicPr>
          <p:nvPr/>
        </p:nvPicPr>
        <p:blipFill>
          <a:blip r:embed="rId3"/>
          <a:stretch>
            <a:fillRect/>
          </a:stretch>
        </p:blipFill>
        <p:spPr>
          <a:xfrm>
            <a:off x="2585205" y="978408"/>
            <a:ext cx="7021284" cy="5468112"/>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CTC Office: boundary types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64</a:t>
            </a:r>
          </a:p>
        </p:txBody>
      </p:sp>
      <p:pic>
        <p:nvPicPr>
          <p:cNvPr id="7" name="Picture 6" descr="class_boundary.png"/>
          <p:cNvPicPr>
            <a:picLocks noChangeAspect="1"/>
          </p:cNvPicPr>
          <p:nvPr/>
        </p:nvPicPr>
        <p:blipFill>
          <a:blip r:embed="rId3"/>
          <a:stretch>
            <a:fillRect/>
          </a:stretch>
        </p:blipFill>
        <p:spPr>
          <a:xfrm>
            <a:off x="411480" y="1350518"/>
            <a:ext cx="11368735" cy="4723892"/>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Process and window classes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65</a:t>
            </a:r>
          </a:p>
        </p:txBody>
      </p:sp>
      <p:pic>
        <p:nvPicPr>
          <p:cNvPr id="7" name="Picture 6" descr="class_host.png"/>
          <p:cNvPicPr>
            <a:picLocks noChangeAspect="1"/>
          </p:cNvPicPr>
          <p:nvPr/>
        </p:nvPicPr>
        <p:blipFill>
          <a:blip r:embed="rId3"/>
          <a:stretch>
            <a:fillRect/>
          </a:stretch>
        </p:blipFill>
        <p:spPr>
          <a:xfrm>
            <a:off x="3698545" y="978408"/>
            <a:ext cx="4794604" cy="5468112"/>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Process and window classes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66</a:t>
            </a:r>
          </a:p>
        </p:txBody>
      </p:sp>
      <p:pic>
        <p:nvPicPr>
          <p:cNvPr id="6" name="Picture 5" descr="class_host_0_0_1737_1049.png"/>
          <p:cNvPicPr>
            <a:picLocks noChangeAspect="1"/>
          </p:cNvPicPr>
          <p:nvPr/>
        </p:nvPicPr>
        <p:blipFill>
          <a:blip r:embed="rId3"/>
          <a:stretch>
            <a:fillRect/>
          </a:stretch>
        </p:blipFill>
        <p:spPr>
          <a:xfrm>
            <a:off x="1227949" y="868680"/>
            <a:ext cx="9735797" cy="5879592"/>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Process and window classes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67</a:t>
            </a:r>
          </a:p>
        </p:txBody>
      </p:sp>
      <p:pic>
        <p:nvPicPr>
          <p:cNvPr id="6" name="Picture 5" descr="class_host_0_931_1737_1981.png"/>
          <p:cNvPicPr>
            <a:picLocks noChangeAspect="1"/>
          </p:cNvPicPr>
          <p:nvPr/>
        </p:nvPicPr>
        <p:blipFill>
          <a:blip r:embed="rId3"/>
          <a:stretch>
            <a:fillRect/>
          </a:stretch>
        </p:blipFill>
        <p:spPr>
          <a:xfrm>
            <a:off x="1232585" y="868680"/>
            <a:ext cx="9726525" cy="5879592"/>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SD-01 Control the simulation clock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68</a:t>
            </a:r>
          </a:p>
        </p:txBody>
      </p:sp>
      <p:pic>
        <p:nvPicPr>
          <p:cNvPr id="7" name="Picture 6" descr="sd01_clock_1.png"/>
          <p:cNvPicPr>
            <a:picLocks noChangeAspect="1"/>
          </p:cNvPicPr>
          <p:nvPr/>
        </p:nvPicPr>
        <p:blipFill>
          <a:blip r:embed="rId3"/>
          <a:stretch>
            <a:fillRect/>
          </a:stretch>
        </p:blipFill>
        <p:spPr>
          <a:xfrm>
            <a:off x="754365" y="978408"/>
            <a:ext cx="10682964" cy="5468112"/>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SD-01 Control the simulation clock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69</a:t>
            </a:r>
          </a:p>
        </p:txBody>
      </p:sp>
      <p:pic>
        <p:nvPicPr>
          <p:cNvPr id="7" name="Picture 6" descr="sd01_clock_2.png"/>
          <p:cNvPicPr>
            <a:picLocks noChangeAspect="1"/>
          </p:cNvPicPr>
          <p:nvPr/>
        </p:nvPicPr>
        <p:blipFill>
          <a:blip r:embed="rId3"/>
          <a:stretch>
            <a:fillRect/>
          </a:stretch>
        </p:blipFill>
        <p:spPr>
          <a:xfrm>
            <a:off x="743097" y="978408"/>
            <a:ext cx="10705501" cy="5468112"/>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SD-02 Change operating mode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70</a:t>
            </a:r>
          </a:p>
        </p:txBody>
      </p:sp>
      <p:pic>
        <p:nvPicPr>
          <p:cNvPr id="7" name="Picture 6" descr="sd02_mode.png"/>
          <p:cNvPicPr>
            <a:picLocks noChangeAspect="1"/>
          </p:cNvPicPr>
          <p:nvPr/>
        </p:nvPicPr>
        <p:blipFill>
          <a:blip r:embed="rId3"/>
          <a:stretch>
            <a:fillRect/>
          </a:stretch>
        </p:blipFill>
        <p:spPr>
          <a:xfrm>
            <a:off x="2870608" y="978408"/>
            <a:ext cx="6450478" cy="5468112"/>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500" b="1">
                <a:solidFill>
                  <a:srgbClr val="FFFFFF"/>
                </a:solidFill>
                <a:latin typeface="Segoe UI"/>
              </a:rPr>
              <a:t>SD-03 Dispatch a train to a station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71</a:t>
            </a:r>
          </a:p>
        </p:txBody>
      </p:sp>
      <p:pic>
        <p:nvPicPr>
          <p:cNvPr id="7" name="Picture 6" descr="sd03_dispatch_station_1.png"/>
          <p:cNvPicPr>
            <a:picLocks noChangeAspect="1"/>
          </p:cNvPicPr>
          <p:nvPr/>
        </p:nvPicPr>
        <p:blipFill>
          <a:blip r:embed="rId3"/>
          <a:stretch>
            <a:fillRect/>
          </a:stretch>
        </p:blipFill>
        <p:spPr>
          <a:xfrm>
            <a:off x="518495" y="978408"/>
            <a:ext cx="11154705" cy="5468112"/>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500" b="1">
                <a:solidFill>
                  <a:srgbClr val="FFFFFF"/>
                </a:solidFill>
                <a:latin typeface="Segoe UI"/>
              </a:rPr>
              <a:t>SD-03 Dispatch a train to a station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72</a:t>
            </a:r>
          </a:p>
        </p:txBody>
      </p:sp>
      <p:pic>
        <p:nvPicPr>
          <p:cNvPr id="7" name="Picture 6" descr="sd03_dispatch_station_2.png"/>
          <p:cNvPicPr>
            <a:picLocks noChangeAspect="1"/>
          </p:cNvPicPr>
          <p:nvPr/>
        </p:nvPicPr>
        <p:blipFill>
          <a:blip r:embed="rId3"/>
          <a:stretch>
            <a:fillRect/>
          </a:stretch>
        </p:blipFill>
        <p:spPr>
          <a:xfrm>
            <a:off x="411480" y="1046564"/>
            <a:ext cx="11368735" cy="53318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SD-04 Dispatch a train to a block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73</a:t>
            </a:r>
          </a:p>
        </p:txBody>
      </p:sp>
      <p:pic>
        <p:nvPicPr>
          <p:cNvPr id="7" name="Picture 6" descr="sd04_dispatch_block.png"/>
          <p:cNvPicPr>
            <a:picLocks noChangeAspect="1"/>
          </p:cNvPicPr>
          <p:nvPr/>
        </p:nvPicPr>
        <p:blipFill>
          <a:blip r:embed="rId3"/>
          <a:stretch>
            <a:fillRect/>
          </a:stretch>
        </p:blipFill>
        <p:spPr>
          <a:xfrm>
            <a:off x="2271864" y="978408"/>
            <a:ext cx="7647967" cy="5468112"/>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SD-05 Reroute or cancel a train's order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74</a:t>
            </a:r>
          </a:p>
        </p:txBody>
      </p:sp>
      <p:pic>
        <p:nvPicPr>
          <p:cNvPr id="7" name="Picture 6" descr="sd05_reroute_cancel.png"/>
          <p:cNvPicPr>
            <a:picLocks noChangeAspect="1"/>
          </p:cNvPicPr>
          <p:nvPr/>
        </p:nvPicPr>
        <p:blipFill>
          <a:blip r:embed="rId3"/>
          <a:stretch>
            <a:fillRect/>
          </a:stretch>
        </p:blipFill>
        <p:spPr>
          <a:xfrm>
            <a:off x="3758935" y="978408"/>
            <a:ext cx="4673824" cy="5468112"/>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SD-06 Return a train to the yard</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75</a:t>
            </a:r>
          </a:p>
        </p:txBody>
      </p:sp>
      <p:pic>
        <p:nvPicPr>
          <p:cNvPr id="7" name="Picture 6" descr="sd06_return_to_yard.png"/>
          <p:cNvPicPr>
            <a:picLocks noChangeAspect="1"/>
          </p:cNvPicPr>
          <p:nvPr/>
        </p:nvPicPr>
        <p:blipFill>
          <a:blip r:embed="rId3"/>
          <a:stretch>
            <a:fillRect/>
          </a:stretch>
        </p:blipFill>
        <p:spPr>
          <a:xfrm>
            <a:off x="3179521" y="978408"/>
            <a:ext cx="5832652" cy="5468112"/>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SD-07 Load a schedule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76</a:t>
            </a:r>
          </a:p>
        </p:txBody>
      </p:sp>
      <p:pic>
        <p:nvPicPr>
          <p:cNvPr id="7" name="Picture 6" descr="sd07_load_schedule_1.png"/>
          <p:cNvPicPr>
            <a:picLocks noChangeAspect="1"/>
          </p:cNvPicPr>
          <p:nvPr/>
        </p:nvPicPr>
        <p:blipFill>
          <a:blip r:embed="rId3"/>
          <a:stretch>
            <a:fillRect/>
          </a:stretch>
        </p:blipFill>
        <p:spPr>
          <a:xfrm>
            <a:off x="411480" y="1066455"/>
            <a:ext cx="11368735" cy="5292017"/>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SD-07 Load a schedule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77</a:t>
            </a:r>
          </a:p>
        </p:txBody>
      </p:sp>
      <p:pic>
        <p:nvPicPr>
          <p:cNvPr id="7" name="Picture 6" descr="sd07_load_schedule_2.png"/>
          <p:cNvPicPr>
            <a:picLocks noChangeAspect="1"/>
          </p:cNvPicPr>
          <p:nvPr/>
        </p:nvPicPr>
        <p:blipFill>
          <a:blip r:embed="rId3"/>
          <a:stretch>
            <a:fillRect/>
          </a:stretch>
        </p:blipFill>
        <p:spPr>
          <a:xfrm>
            <a:off x="754558" y="978408"/>
            <a:ext cx="10682579" cy="5468112"/>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SD-08 Monitor and pause automatic dispatch</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78</a:t>
            </a:r>
          </a:p>
        </p:txBody>
      </p:sp>
      <p:pic>
        <p:nvPicPr>
          <p:cNvPr id="7" name="Picture 6" descr="sd08_auto_dispatch.png"/>
          <p:cNvPicPr>
            <a:picLocks noChangeAspect="1"/>
          </p:cNvPicPr>
          <p:nvPr/>
        </p:nvPicPr>
        <p:blipFill>
          <a:blip r:embed="rId3"/>
          <a:stretch>
            <a:fillRect/>
          </a:stretch>
        </p:blipFill>
        <p:spPr>
          <a:xfrm>
            <a:off x="2023746" y="978408"/>
            <a:ext cx="8144202" cy="5468111"/>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SD-09 Close or reopen a block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79</a:t>
            </a:r>
          </a:p>
        </p:txBody>
      </p:sp>
      <p:pic>
        <p:nvPicPr>
          <p:cNvPr id="7" name="Picture 6" descr="sd09_close_block.png"/>
          <p:cNvPicPr>
            <a:picLocks noChangeAspect="1"/>
          </p:cNvPicPr>
          <p:nvPr/>
        </p:nvPicPr>
        <p:blipFill>
          <a:blip r:embed="rId3"/>
          <a:stretch>
            <a:fillRect/>
          </a:stretch>
        </p:blipFill>
        <p:spPr>
          <a:xfrm>
            <a:off x="3490725" y="978408"/>
            <a:ext cx="5210244" cy="5468112"/>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SD-10 Set a switch position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80</a:t>
            </a:r>
          </a:p>
        </p:txBody>
      </p:sp>
      <p:pic>
        <p:nvPicPr>
          <p:cNvPr id="7" name="Picture 6" descr="sd10_set_switch.png"/>
          <p:cNvPicPr>
            <a:picLocks noChangeAspect="1"/>
          </p:cNvPicPr>
          <p:nvPr/>
        </p:nvPicPr>
        <p:blipFill>
          <a:blip r:embed="rId3"/>
          <a:stretch>
            <a:fillRect/>
          </a:stretch>
        </p:blipFill>
        <p:spPr>
          <a:xfrm>
            <a:off x="3035962" y="978408"/>
            <a:ext cx="6119771" cy="5468112"/>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SD-11 Monitor the track map</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81</a:t>
            </a:r>
          </a:p>
        </p:txBody>
      </p:sp>
      <p:pic>
        <p:nvPicPr>
          <p:cNvPr id="7" name="Picture 6" descr="sd11_track_map.png"/>
          <p:cNvPicPr>
            <a:picLocks noChangeAspect="1"/>
          </p:cNvPicPr>
          <p:nvPr/>
        </p:nvPicPr>
        <p:blipFill>
          <a:blip r:embed="rId3"/>
          <a:stretch>
            <a:fillRect/>
          </a:stretch>
        </p:blipFill>
        <p:spPr>
          <a:xfrm>
            <a:off x="2859985" y="978408"/>
            <a:ext cx="6471724" cy="5468112"/>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SD-12 Monitor train occupancy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82</a:t>
            </a:r>
          </a:p>
        </p:txBody>
      </p:sp>
      <p:pic>
        <p:nvPicPr>
          <p:cNvPr id="7" name="Picture 6" descr="sd12_occupancy.png"/>
          <p:cNvPicPr>
            <a:picLocks noChangeAspect="1"/>
          </p:cNvPicPr>
          <p:nvPr/>
        </p:nvPicPr>
        <p:blipFill>
          <a:blip r:embed="rId3"/>
          <a:stretch>
            <a:fillRect/>
          </a:stretch>
        </p:blipFill>
        <p:spPr>
          <a:xfrm>
            <a:off x="2755950" y="978408"/>
            <a:ext cx="6679795" cy="5468112"/>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SD-13 View the selected train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83</a:t>
            </a:r>
          </a:p>
        </p:txBody>
      </p:sp>
      <p:pic>
        <p:nvPicPr>
          <p:cNvPr id="7" name="Picture 6" descr="sd13_selected_train.png"/>
          <p:cNvPicPr>
            <a:picLocks noChangeAspect="1"/>
          </p:cNvPicPr>
          <p:nvPr/>
        </p:nvPicPr>
        <p:blipFill>
          <a:blip r:embed="rId3"/>
          <a:stretch>
            <a:fillRect/>
          </a:stretch>
        </p:blipFill>
        <p:spPr>
          <a:xfrm>
            <a:off x="2522812" y="978408"/>
            <a:ext cx="7146071" cy="5468112"/>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SD-14 View throughput metrics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84</a:t>
            </a:r>
          </a:p>
        </p:txBody>
      </p:sp>
      <p:pic>
        <p:nvPicPr>
          <p:cNvPr id="7" name="Picture 6" descr="sd14_throughput.png"/>
          <p:cNvPicPr>
            <a:picLocks noChangeAspect="1"/>
          </p:cNvPicPr>
          <p:nvPr/>
        </p:nvPicPr>
        <p:blipFill>
          <a:blip r:embed="rId3"/>
          <a:stretch>
            <a:fillRect/>
          </a:stretch>
        </p:blipFill>
        <p:spPr>
          <a:xfrm>
            <a:off x="2811761" y="978408"/>
            <a:ext cx="6568173" cy="5468112"/>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SD-15 Handle notices and reversal alerts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85</a:t>
            </a:r>
          </a:p>
        </p:txBody>
      </p:sp>
      <p:pic>
        <p:nvPicPr>
          <p:cNvPr id="7" name="Picture 6" descr="sd15_notices_alerts.png"/>
          <p:cNvPicPr>
            <a:picLocks noChangeAspect="1"/>
          </p:cNvPicPr>
          <p:nvPr/>
        </p:nvPicPr>
        <p:blipFill>
          <a:blip r:embed="rId3"/>
          <a:stretch>
            <a:fillRect/>
          </a:stretch>
        </p:blipFill>
        <p:spPr>
          <a:xfrm>
            <a:off x="3663244" y="978408"/>
            <a:ext cx="4865207" cy="5468112"/>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SD-16 Run one step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86</a:t>
            </a:r>
          </a:p>
        </p:txBody>
      </p:sp>
      <p:pic>
        <p:nvPicPr>
          <p:cNvPr id="7" name="Picture 6" descr="sd16_step_1.png"/>
          <p:cNvPicPr>
            <a:picLocks noChangeAspect="1"/>
          </p:cNvPicPr>
          <p:nvPr/>
        </p:nvPicPr>
        <p:blipFill>
          <a:blip r:embed="rId3"/>
          <a:stretch>
            <a:fillRect/>
          </a:stretch>
        </p:blipFill>
        <p:spPr>
          <a:xfrm>
            <a:off x="800921" y="978408"/>
            <a:ext cx="10589853" cy="5468112"/>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SD-16 Run one step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87</a:t>
            </a:r>
          </a:p>
        </p:txBody>
      </p:sp>
      <p:pic>
        <p:nvPicPr>
          <p:cNvPr id="7" name="Picture 6" descr="sd16_step_2.png"/>
          <p:cNvPicPr>
            <a:picLocks noChangeAspect="1"/>
          </p:cNvPicPr>
          <p:nvPr/>
        </p:nvPicPr>
        <p:blipFill>
          <a:blip r:embed="rId3"/>
          <a:stretch>
            <a:fillRect/>
          </a:stretch>
        </p:blipFill>
        <p:spPr>
          <a:xfrm>
            <a:off x="908651" y="978408"/>
            <a:ext cx="10374393" cy="5468112"/>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SD-17 Receive Track Controller reports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88</a:t>
            </a:r>
          </a:p>
        </p:txBody>
      </p:sp>
      <p:pic>
        <p:nvPicPr>
          <p:cNvPr id="7" name="Picture 6" descr="sd17_reports.png"/>
          <p:cNvPicPr>
            <a:picLocks noChangeAspect="1"/>
          </p:cNvPicPr>
          <p:nvPr/>
        </p:nvPicPr>
        <p:blipFill>
          <a:blip r:embed="rId3"/>
          <a:stretch>
            <a:fillRect/>
          </a:stretch>
        </p:blipFill>
        <p:spPr>
          <a:xfrm>
            <a:off x="2030284" y="978408"/>
            <a:ext cx="8131127" cy="5468112"/>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SD-18 Follow trains from occupancy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89</a:t>
            </a:r>
          </a:p>
        </p:txBody>
      </p:sp>
      <p:pic>
        <p:nvPicPr>
          <p:cNvPr id="7" name="Picture 6" descr="sd18_tracking_1.png"/>
          <p:cNvPicPr>
            <a:picLocks noChangeAspect="1"/>
          </p:cNvPicPr>
          <p:nvPr/>
        </p:nvPicPr>
        <p:blipFill>
          <a:blip r:embed="rId3"/>
          <a:stretch>
            <a:fillRect/>
          </a:stretch>
        </p:blipFill>
        <p:spPr>
          <a:xfrm>
            <a:off x="2363065" y="978408"/>
            <a:ext cx="7465565" cy="5468112"/>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SD-18 Follow trains from occupancy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90</a:t>
            </a:r>
          </a:p>
        </p:txBody>
      </p:sp>
      <p:pic>
        <p:nvPicPr>
          <p:cNvPr id="7" name="Picture 6" descr="sd18_tracking_2.png"/>
          <p:cNvPicPr>
            <a:picLocks noChangeAspect="1"/>
          </p:cNvPicPr>
          <p:nvPr/>
        </p:nvPicPr>
        <p:blipFill>
          <a:blip r:embed="rId3"/>
          <a:stretch>
            <a:fillRect/>
          </a:stretch>
        </p:blipFill>
        <p:spPr>
          <a:xfrm>
            <a:off x="2367589" y="978408"/>
            <a:ext cx="7456516" cy="5468112"/>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SD-19 Run the schedule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91</a:t>
            </a:r>
          </a:p>
        </p:txBody>
      </p:sp>
      <p:pic>
        <p:nvPicPr>
          <p:cNvPr id="7" name="Picture 6" descr="sd19_schedule_run_1.png"/>
          <p:cNvPicPr>
            <a:picLocks noChangeAspect="1"/>
          </p:cNvPicPr>
          <p:nvPr/>
        </p:nvPicPr>
        <p:blipFill>
          <a:blip r:embed="rId3"/>
          <a:stretch>
            <a:fillRect/>
          </a:stretch>
        </p:blipFill>
        <p:spPr>
          <a:xfrm>
            <a:off x="3739340" y="978408"/>
            <a:ext cx="4713015" cy="5468112"/>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SD-19 Run the schedule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92</a:t>
            </a:r>
          </a:p>
        </p:txBody>
      </p:sp>
      <p:pic>
        <p:nvPicPr>
          <p:cNvPr id="7" name="Picture 6" descr="sd19_schedule_run_2.png"/>
          <p:cNvPicPr>
            <a:picLocks noChangeAspect="1"/>
          </p:cNvPicPr>
          <p:nvPr/>
        </p:nvPicPr>
        <p:blipFill>
          <a:blip r:embed="rId3"/>
          <a:stretch>
            <a:fillRect/>
          </a:stretch>
        </p:blipFill>
        <p:spPr>
          <a:xfrm>
            <a:off x="2207970" y="978408"/>
            <a:ext cx="7775755" cy="5468112"/>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SD-20 Release and retire trains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93</a:t>
            </a:r>
          </a:p>
        </p:txBody>
      </p:sp>
      <p:pic>
        <p:nvPicPr>
          <p:cNvPr id="7" name="Picture 6" descr="sd20_release_retire_1.png"/>
          <p:cNvPicPr>
            <a:picLocks noChangeAspect="1"/>
          </p:cNvPicPr>
          <p:nvPr/>
        </p:nvPicPr>
        <p:blipFill>
          <a:blip r:embed="rId3"/>
          <a:stretch>
            <a:fillRect/>
          </a:stretch>
        </p:blipFill>
        <p:spPr>
          <a:xfrm>
            <a:off x="2515858" y="978408"/>
            <a:ext cx="7159978" cy="5468112"/>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SD-20 Release and retire trains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94</a:t>
            </a:r>
          </a:p>
        </p:txBody>
      </p:sp>
      <p:pic>
        <p:nvPicPr>
          <p:cNvPr id="7" name="Picture 6" descr="sd20_release_retire_2.png"/>
          <p:cNvPicPr>
            <a:picLocks noChangeAspect="1"/>
          </p:cNvPicPr>
          <p:nvPr/>
        </p:nvPicPr>
        <p:blipFill>
          <a:blip r:embed="rId3"/>
          <a:stretch>
            <a:fillRect/>
          </a:stretch>
        </p:blipFill>
        <p:spPr>
          <a:xfrm>
            <a:off x="2480058" y="978408"/>
            <a:ext cx="7231578" cy="5468112"/>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SD-21 Send speed and authority suggestions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95</a:t>
            </a:r>
          </a:p>
        </p:txBody>
      </p:sp>
      <p:pic>
        <p:nvPicPr>
          <p:cNvPr id="7" name="Picture 6" descr="sd21_suggestions.png"/>
          <p:cNvPicPr>
            <a:picLocks noChangeAspect="1"/>
          </p:cNvPicPr>
          <p:nvPr/>
        </p:nvPicPr>
        <p:blipFill>
          <a:blip r:embed="rId3"/>
          <a:stretch>
            <a:fillRect/>
          </a:stretch>
        </p:blipFill>
        <p:spPr>
          <a:xfrm>
            <a:off x="3282291" y="978408"/>
            <a:ext cx="5627113" cy="5468112"/>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SD-22 Send closures and switch commands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96</a:t>
            </a:r>
          </a:p>
        </p:txBody>
      </p:sp>
      <p:pic>
        <p:nvPicPr>
          <p:cNvPr id="7" name="Picture 6" descr="sd22_closures_switches.png"/>
          <p:cNvPicPr>
            <a:picLocks noChangeAspect="1"/>
          </p:cNvPicPr>
          <p:nvPr/>
        </p:nvPicPr>
        <p:blipFill>
          <a:blip r:embed="rId3"/>
          <a:stretch>
            <a:fillRect/>
          </a:stretch>
        </p:blipFill>
        <p:spPr>
          <a:xfrm>
            <a:off x="2392019" y="978408"/>
            <a:ext cx="7407656" cy="5468112"/>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SD-23 Receive ticket sales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97</a:t>
            </a:r>
          </a:p>
        </p:txBody>
      </p:sp>
      <p:pic>
        <p:nvPicPr>
          <p:cNvPr id="7" name="Picture 6" descr="sd23_ticket_sales.png"/>
          <p:cNvPicPr>
            <a:picLocks noChangeAspect="1"/>
          </p:cNvPicPr>
          <p:nvPr/>
        </p:nvPicPr>
        <p:blipFill>
          <a:blip r:embed="rId3"/>
          <a:stretch>
            <a:fillRect/>
          </a:stretch>
        </p:blipFill>
        <p:spPr>
          <a:xfrm>
            <a:off x="2457843" y="978408"/>
            <a:ext cx="7276009" cy="5468111"/>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SD-24 Hold a line that is not ready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CTC Office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98</a:t>
            </a:r>
          </a:p>
        </p:txBody>
      </p:sp>
      <p:pic>
        <p:nvPicPr>
          <p:cNvPr id="7" name="Picture 6" descr="sd24_line_not_ready.png"/>
          <p:cNvPicPr>
            <a:picLocks noChangeAspect="1"/>
          </p:cNvPicPr>
          <p:nvPr/>
        </p:nvPicPr>
        <p:blipFill>
          <a:blip r:embed="rId3"/>
          <a:stretch>
            <a:fillRect/>
          </a:stretch>
        </p:blipFill>
        <p:spPr>
          <a:xfrm>
            <a:off x="2467491" y="978408"/>
            <a:ext cx="7256713" cy="5468112"/>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Track Controller (SW)</a:t>
            </a:r>
          </a:p>
        </p:txBody>
      </p:sp>
      <p:sp>
        <p:nvSpPr>
          <p:cNvPr id="5" name="TextBox 4"/>
          <p:cNvSpPr txBox="1"/>
          <p:nvPr/>
        </p:nvSpPr>
        <p:spPr>
          <a:xfrm>
            <a:off x="822960" y="3474720"/>
            <a:ext cx="10515600" cy="914400"/>
          </a:xfrm>
          <a:prstGeom prst="rect">
            <a:avLst/>
          </a:prstGeom>
          <a:noFill/>
        </p:spPr>
        <p:txBody>
          <a:bodyPr wrap="square" anchor="t" lIns="45720" rIns="45720">
            <a:spAutoFit/>
          </a:bodyPr>
          <a:lstStyle/>
          <a:p>
            <a:pPr algn="l"/>
            <a:r>
              <a:rPr sz="2000" b="0">
                <a:solidFill>
                  <a:srgbClr val="5B6775"/>
                </a:solidFill>
                <a:latin typeface="Segoe UI"/>
              </a:rPr>
              <a:t>Harry Tye · SDD Section 5.2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Track Controller (SW): what it does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100</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Runs every wayside controller of the Green Line, on the host PC</a:t>
            </a:r>
          </a:p>
          <a:p>
            <a:pPr lvl="1">
              <a:spcAft>
                <a:spcPts val="400"/>
              </a:spcAft>
            </a:pPr>
            <a:r>
              <a:rPr sz="2100">
                <a:solidFill>
                  <a:srgbClr val="5B6775"/>
                </a:solidFill>
                <a:latin typeface="Segoe UI"/>
              </a:rPr>
              <a:t>–  Six waysides by default; set when the line is loaded</a:t>
            </a:r>
          </a:p>
          <a:p>
            <a:pPr>
              <a:spcAft>
                <a:spcPts val="800"/>
              </a:spcAft>
            </a:pPr>
            <a:r>
              <a:rPr sz="2400">
                <a:solidFill>
                  <a:srgbClr val="222B36"/>
                </a:solidFill>
                <a:latin typeface="Segoe UI"/>
              </a:rPr>
              <a:t>•  Each wayside: its territory from the layout and its own Boolean PLC program</a:t>
            </a:r>
          </a:p>
          <a:p>
            <a:pPr>
              <a:spcAft>
                <a:spcPts val="800"/>
              </a:spcAft>
            </a:pPr>
            <a:r>
              <a:rPr sz="2400">
                <a:solidFill>
                  <a:srgbClr val="222B36"/>
                </a:solidFill>
                <a:latin typeface="Segoe UI"/>
              </a:rPr>
              <a:t>•  Write, load, run and commit PLC programs in the window</a:t>
            </a:r>
          </a:p>
          <a:p>
            <a:pPr>
              <a:spcAft>
                <a:spcPts val="800"/>
              </a:spcAft>
            </a:pPr>
            <a:r>
              <a:rPr sz="2400">
                <a:solidFill>
                  <a:srgbClr val="222B36"/>
                </a:solidFill>
                <a:latin typeface="Segoe UI"/>
              </a:rPr>
              <a:t>•  Scans once per tick: switches, signals, crossings, and speed and authority on each track circuit</a:t>
            </a:r>
          </a:p>
          <a:p>
            <a:pPr>
              <a:spcAft>
                <a:spcPts val="800"/>
              </a:spcAft>
            </a:pPr>
            <a:r>
              <a:rPr sz="2400">
                <a:solidFill>
                  <a:srgbClr val="222B36"/>
                </a:solidFill>
                <a:latin typeface="Segoe UI"/>
              </a:rPr>
              <a:t>•  Reports occupancy, read-back and readiness to the CTC Office; sends nothing while not ready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Track Controller (SW): use case diagram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101</a:t>
            </a:r>
          </a:p>
        </p:txBody>
      </p:sp>
      <p:pic>
        <p:nvPicPr>
          <p:cNvPr id="7" name="Picture 6" descr="track_controller_use_cases.png"/>
          <p:cNvPicPr>
            <a:picLocks noChangeAspect="1"/>
          </p:cNvPicPr>
          <p:nvPr/>
        </p:nvPicPr>
        <p:blipFill>
          <a:blip r:embed="rId3"/>
          <a:stretch>
            <a:fillRect/>
          </a:stretch>
        </p:blipFill>
        <p:spPr>
          <a:xfrm>
            <a:off x="2226900" y="978408"/>
            <a:ext cx="7737894" cy="5468112"/>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Track Controller (SW): use case diagram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102</a:t>
            </a:r>
          </a:p>
        </p:txBody>
      </p:sp>
      <p:pic>
        <p:nvPicPr>
          <p:cNvPr id="6" name="Picture 5" descr="track_controller_use_cases_0_0_3000_1123.png"/>
          <p:cNvPicPr>
            <a:picLocks noChangeAspect="1"/>
          </p:cNvPicPr>
          <p:nvPr/>
        </p:nvPicPr>
        <p:blipFill>
          <a:blip r:embed="rId3"/>
          <a:stretch>
            <a:fillRect/>
          </a:stretch>
        </p:blipFill>
        <p:spPr>
          <a:xfrm>
            <a:off x="411480" y="1680628"/>
            <a:ext cx="11368735" cy="4255696"/>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Track Controller (SW): use case diagram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103</a:t>
            </a:r>
          </a:p>
        </p:txBody>
      </p:sp>
      <p:pic>
        <p:nvPicPr>
          <p:cNvPr id="6" name="Picture 5" descr="track_controller_use_cases_0_996_3000_2120.png"/>
          <p:cNvPicPr>
            <a:picLocks noChangeAspect="1"/>
          </p:cNvPicPr>
          <p:nvPr/>
        </p:nvPicPr>
        <p:blipFill>
          <a:blip r:embed="rId3"/>
          <a:stretch>
            <a:fillRect/>
          </a:stretch>
        </p:blipFill>
        <p:spPr>
          <a:xfrm>
            <a:off x="411480" y="1678733"/>
            <a:ext cx="11368735" cy="4259486"/>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UC-01 Load track layout</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104</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Loads one line of the course layout and divides it among that line's waysides.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Track layout (JSON): the line, and for each block its section, number, length, grade, speed limit, station, switch and railway crossing. A file in the shape of the course layout, for example TrackModel/green_line.json.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Load track…, picks a file, checks the summary and clicks Load.</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summary lists the line, block, switch and crossing counts and the number of waysides, which the track fixes (WAYSIDE_COUNTS, six for Green). On Load, the line's blocks are divided among the waysides, each wayside is created with no program, and its vital code is generated and compiled. The line and its first wayside are selected, the editor is empty and the header reads NOT READY. Loading a line that is already loaded replaces it and drops its programs.</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file that cannot be read, is not a layout, or is a single wayside's database is refused with the reason, and nothing changes.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REQ-INTF-001.5, REQ-INTF-012, REQ-NFR-003, REQ-NFR-004</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SD-01</a:t>
                      </a:r>
                    </a:p>
                  </a:txBody>
                  <a:tcPr marL="73152" marR="73152" marT="27432" marB="27432">
                    <a:solidFill>
                      <a:srgbClr val="FFFFFF"/>
                    </a:solidFill>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UC-02 Select wayside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105</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Chooses which wayside of a loaded line the window shows.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Line name, wayside ID.</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picks a line, then a wayside, in the header.</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editor, file list, block grid and header show that wayside. The editor holds its committed program, or nothing. Uncommitted edits in the editor are discarded.</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No track loaded: the pickers are empty. An unknown wayside leaves the selection as it was.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REQ-INTF-001.5</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SD-02</a:t>
                      </a:r>
                    </a:p>
                  </a:txBody>
                  <a:tcPr marL="73152" marR="73152" marT="27432" marB="27432">
                    <a:solidFill>
                      <a:srgbClr val="FFFFFF"/>
                    </a:solidFill>
                  </a:tcPr>
                </a:tc>
              </a:tr>
            </a:tbl>
          </a:graphicData>
        </a:graphic>
      </p:graphicFrame>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UC-03 Load PLC program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106</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Reads a PLC program file into the editor of the selected wayside.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PLC source text (.plc, UTF-8).</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Load .plc file and picks a file.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program appears in the editor marked NOT COMMITTED. Nothing reaches the wayside yet: the program must still be run (UC-05) and committed (UC-06).</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file that cannot be read: the terminal says so and the editor is unchanged.</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6.7; REQ-FUNC-050</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SD-03</a:t>
                      </a:r>
                    </a:p>
                  </a:txBody>
                  <a:tcPr marL="73152" marR="73152" marT="27432" marB="27432">
                    <a:solidFill>
                      <a:srgbClr val="FFFFFF"/>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UC-04 Write PLC program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107</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Writes or edits a PLC program in the editor.</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The language is Boolean only, and the same as the hardware variant's. A program has VAR_IN and VAR_OUT declarations, then statements NAME := expression built from NOT, AND, XOR, OR, 0, 1 and parentheses. Inputs per block n: OCC_n, CLOSED_n, FAIL_n. Per switch s: SWREV_s. And MAINT. Outputs: AUTH_n, SW_s, SIG_s_R, SIG_s_Y, SIG_s_G, SIG_s_SG, and per crossing c: XING_c.</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New, or types in the editor.</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editor shows Edited, and Commit is disabled until the new text is run cleanly.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6.6; REQ-FUNC-051</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SD-04</a:t>
                      </a:r>
                    </a:p>
                  </a:txBody>
                  <a:tcPr marL="73152" marR="73152" marT="27432" marB="27432">
                    <a:solidFill>
                      <a:srgbClr val="F7F9FC"/>
                    </a:solidFill>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UC-05 Run PLC program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108</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Compiles the editor's program and runs one scan of it in a sandbox, so that its effect can be checked before it is committed.</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The editor's text, and a copy of the selected wayside's current inputs.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Run.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program is compiled and then checked against this wayside's I/O: every name must be one of its inputs or outputs, and every output must be driven. One scan then runs on the copy of the inputs. The OS decodes the inputs, the program runs, the attached vital code runs, and the OS encodes the outputs. The window shows the sandbox outputs, the log, and every output the vital code overrode. Commit is enabled only if the run had no diagnostic. The live outputs and the track are untouched.</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No track loaded: refused. A syntax error, an unknown name or an undriven output: the parser pane lists each problem with its line number, and nothing runs.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6.6, 6.9; REQ-FUNC-051, REQ-FUNC-058</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SD-05</a:t>
                      </a:r>
                    </a:p>
                  </a:txBody>
                  <a:tcPr marL="73152" marR="73152" marT="27432" marB="27432">
                    <a:solidFill>
                      <a:srgbClr val="FFFFFF"/>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UC-06 Commit PLC program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109</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 (extends UC-05, after a clean run)</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Installs the program that was just run on the selected wayside.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The verified source and its file name.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Commit iteration.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program is compiled and checked again, then installed as the next iteration. The wayside keeps its last five iterations, and any of them can be reopened from the file list. It runs from the next scan, and the editor shows COMMITTED. Once every wayside on the line has a program, the header's NOT READY clears and the line's waysides report ready (UC-17).</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No clean run of exactly this text, or any diagnostic: refused, the terminal says why, and the previous program keeps running.</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6.7; REQ-FUNC-050</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SD-06</a:t>
                      </a:r>
                    </a:p>
                  </a:txBody>
                  <a:tcPr marL="73152" marR="73152" marT="27432" marB="27432">
                    <a:solidFill>
                      <a:srgbClr val="FFFFFF"/>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UC-07 Monitor wayside state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110</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the live state of the selected wayside, in imperial units.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Block grid: occupancy and closure per block. Outputs: track-circuit speed and authority, switch, signal and crossing commands. Also shown: the CTC suggestions, the vital overrides, maintenance mode, the clock, and READY or NOT READY with the reason.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opens the View tab. The window refreshes after each scan, at most every 200 ms.</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rows update in place. Speeds are converted from m/s to mph at the edge. This view is read-only.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REQ-INTF-001.5, REQ-INTF-011. It displays rubric 6.1 to 6.5.</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SD-07</a:t>
                      </a:r>
                    </a:p>
                  </a:txBody>
                  <a:tcPr marL="73152" marR="73152" marT="27432" marB="27432">
                    <a:solidFill>
                      <a:srgbClr val="F7F9FC"/>
                    </a:solidFill>
                  </a:tcPr>
                </a:tc>
              </a:tr>
            </a:tbl>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UC-08 Hand-set switch</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111</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In maintenance mode, sets one of the wayside's switches by hand.</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Switch ID; normal or reverse.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Set switch manually, picks a switch and a position, or clicks Release.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position is held as HAND_s and HANDREV_s, which only the vital code can read; no program can declare them. Precedence is the CTC command, then the hand-set position, then the program. The position is sent to the Track Model on the next scan (UC-13). It holds until it is released or maintenance ends.</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Not in maintenance: refused, with the reason.</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6.8; REQ-FUNC-057</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SD-08</a:t>
                      </a:r>
                    </a:p>
                  </a:txBody>
                  <a:tcPr marL="73152" marR="73152" marT="27432" marB="27432">
                    <a:solidFill>
                      <a:srgbClr val="FFFFFF"/>
                    </a:solidFill>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UC-09 Run scan cycle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112</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(primary); the CTC Office and Track Model through it</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Once per tick, every wayside of a ready line runs its program and the attached vital code against that tick's inputs, and drives the result.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dt (fixed, D006), the simulation time, and the tick's inputs (UC-10 to UC-12).</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step(dt, inputs) from the harness.</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whole tick is validated first. Maintenance is in effect while the CTC Office has a switch command in effect on a switch the module governs. Each wayside then scans: the OS decodes the inputs to bits, the user program runs, and the vital code runs and writes the OUT_ bits. The OS encodes those bits into commands. The scan produces track-circuit, switch, signal and crossing commands (UC-13 to UC-16) and one report per wayside (UC-17), all returned before the next tick.</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An invalid dt or input rejects the whole tick before anything changes. A line that is not ready triggers UC-18.</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6.1, 6.2, 6.9; REQ-FUNC-058, REQ-INTF-013, REQ-NFR-002</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SD-09</a:t>
                      </a:r>
                    </a:p>
                  </a:txBody>
                  <a:tcPr marL="73152" marR="73152" marT="27432" marB="27432">
                    <a:solidFill>
                      <a:srgbClr val="FFFFFF"/>
                    </a:solidFill>
                  </a:tcPr>
                </a:tc>
              </a:tr>
            </a:tbl>
          </a:graphicData>
        </a:graphic>
      </p:graphicFrame>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UC-10 Receive speed and authority suggestions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113</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CTC Office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the CTC Office's suggested speed and authority for each block.</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Per block: Suggestion(speed_mps, authority_blocks), both whole numbers of 0 or more (D013). The CTC Office sends TrainSuggestion(train_id, line, block_id, suggested_speed_mps, authority_blocks). The harness (ctc_edges) keys it by block and drops the train ID. If two suggestions name one block, the more restrictive speed and authority win.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tick.</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Each suggestion is stored on the wayside that governs the block. The numbers never enter the PLC: the program decides only AUTH_n, pass or stop (UC-16). A block with no suggestion gets no track-circuit command.</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negative or fractional value rejects the tick. Blocks no wayside governs are ignored.</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6.0; REQ-FUNC-049, REQ-INTF-019</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SD-10</a:t>
                      </a:r>
                    </a:p>
                  </a:txBody>
                  <a:tcPr marL="73152" marR="73152" marT="27432" marB="27432">
                    <a:solidFill>
                      <a:srgbClr val="FFFFFF"/>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UC-11 Receive closures and switch commands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114</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CTC Office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the blocks the dispatcher has closed and, in maintenance mode, the switch positions the dispatcher commands.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Closed blocks, and switch commands {switch block: normal or reverse}. The CTC Office sends switch commands only in maintenance mode, and sends no maintenance flag.</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tick.</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program receives CLOSED_n and MAINT. Only the vital code can read CTCCMD_s and CTCREV_s. A closed block gets no authority, and a commanded switch follows the command. Ending maintenance releases every hand-set switch and CTC command.</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6.8; REQ-FUNC-057, REQ-FUNC-012</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SD-11</a:t>
                      </a:r>
                    </a:p>
                  </a:txBody>
                  <a:tcPr marL="73152" marR="73152" marT="27432" marB="27432">
                    <a:solidFill>
                      <a:srgbClr val="F7F9FC"/>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UC-12 Receive track state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115</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occupancy and the actual state of the waysides' equipment.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Occupied blocks (a train and a failure look the same), switch positions, crossing states and signal aspects lit.</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tick.</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program receives OCC_n and SWREV_s, and the read-back goes into the report (UC-17). A failed block is protected exactly like an occupied one. FAIL_n is always 0, because the Track Model reports failures as occupancy.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6.3; REQ-FUNC-054, REQ-FUNC-059, REQ-INTF-018</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SD-12</a:t>
                      </a:r>
                    </a:p>
                  </a:txBody>
                  <a:tcPr marL="73152" marR="73152" marT="27432" marB="27432">
                    <a:solidFill>
                      <a:srgbClr val="F7F9FC"/>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UC-13 Command switches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116</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Drives each switch machine from OUT_SW_s.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SW_s from the program; OUT_SW_s, where 1 is reverse and 0 is normal.</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 (UC-09).</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vital code picks the request: the CTC command, else the hand-set position, else the program. It keeps a switch on an occupied block where it actually is. While a switch moves, its block's OUT_AUTH_n is 0. The scan sends a switch command to the Track Model.</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6.1, 6.8; REQ-FUNC-052</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SD-13</a:t>
                      </a:r>
                    </a:p>
                  </a:txBody>
                  <a:tcPr marL="73152" marR="73152" marT="27432" marB="27432">
                    <a:solidFill>
                      <a:srgbClr val="F7F9FC"/>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UC-14 Set signal aspects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117</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Lights each signal from the program's four aspect outputs.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SIG_s_R, _Y, _G, _SG.</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vital code passes the program's aspect only if exactly one aspect is lit and the block is clear and open. Otherwise the signal shows red. A yellow signal sets OUT_HALF_n, which halves its block's speed. The scan sends a signal command to the Track Model.</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6.2; REQ-FUNC-053</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SD-14</a:t>
                      </a:r>
                    </a:p>
                  </a:txBody>
                  <a:tcPr marL="73152" marR="73152" marT="27432" marB="27432">
                    <a:solidFill>
                      <a:srgbClr val="F7F9FC"/>
                    </a:solidFill>
                  </a:tcPr>
                </a:tc>
              </a:tr>
            </a:tbl>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UC-15 Control railway crossings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118</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Activates each crossing from OUT_XING_c.</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XING_c from the program; the occupancy of the approach blocks.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OUT_XING_c is XING_c OR a train on the approach. When it is 1, the lights are on and the gates down. The scan sends a crossing command to the Track Model.</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6.5; REQ-FUNC-056</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SD-15</a:t>
                      </a:r>
                    </a:p>
                  </a:txBody>
                  <a:tcPr marL="73152" marR="73152" marT="27432" marB="27432">
                    <a:solidFill>
                      <a:srgbClr val="F7F9FC"/>
                    </a:solidFill>
                  </a:tcPr>
                </a:tc>
              </a:tr>
            </a:tbl>
          </a:graphicData>
        </a:graphic>
      </p:graphicFrame>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UC-16 Send speed and authority on track circuits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119</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 (delivers them to the train in the block)</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Sends each block that has a suggestion its commanded speed and authority.</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OUT_AUTH_n = AUTH_n AND NOT CLOSED_n AND NOT (its switch moving); OUT_HALF_n.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Each block with a suggestion gets one track-circuit command: the suggestion when OUT_AUTH_n is 1 (half the speed if OUT_HALF_n is set), else speed 0 and authority 0. The CTC Office keeps speeds under the posted limit and gives zero speed for zero authority.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6.0, 6.9; REQ-INTF-017, REQ-FUNC-058.1</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SD-16</a:t>
                      </a:r>
                    </a:p>
                  </a:txBody>
                  <a:tcPr marL="73152" marR="73152" marT="27432" marB="27432">
                    <a:solidFill>
                      <a:srgbClr val="F7F9FC"/>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UC-17 Report occupancy, read-back and readiness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120</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CTC Office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Tells the CTC Office what each wayside sees, every tick.</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One CtcReport per wayside: wayside, line, time, ready, and the reason if not. Per block: occupied, and the Track Model's own switch, crossing and signal read-back. No failures, no trains.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harness passes the reports to the CTC Office. The CTC Office dispatches nothing on a line until every wayside on it is ready.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6.4; REQ-FUNC-055, REQ-INTF-020</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SD-17</a:t>
                      </a:r>
                    </a:p>
                  </a:txBody>
                  <a:tcPr marL="73152" marR="73152" marT="27432" marB="27432">
                    <a:solidFill>
                      <a:srgbClr val="F7F9FC"/>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UC-18 Transmit nothing while not ready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121</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(extends UC-09)</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A line where any wayside has no program runs nothing and transmits nothing.</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Why: no track loaded, or a wayside on the line has no PLC program.</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Either condition at a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Every wayside of that line idles. It sends no switch, signal, crossing or track-circuit command. Its outputs are absent, not safe defaults, because a wayside running no program cannot drive anything. The reports say not ready and why, the window shows NOT READY with the reason, and the CTC Office holds the line. Another, ready line is not held.</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6.9; REQ-FUNC-058</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SD-18</a:t>
                      </a:r>
                    </a:p>
                  </a:txBody>
                  <a:tcPr marL="73152" marR="73152" marT="27432" marB="27432">
                    <a:solidFill>
                      <a:srgbClr val="F7F9FC"/>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Track Controller (SW) architecture (component view)</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Architecture</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122</a:t>
            </a:r>
          </a:p>
        </p:txBody>
      </p:sp>
      <p:pic>
        <p:nvPicPr>
          <p:cNvPr id="7" name="Picture 6" descr="architecture.png"/>
          <p:cNvPicPr>
            <a:picLocks noChangeAspect="1"/>
          </p:cNvPicPr>
          <p:nvPr/>
        </p:nvPicPr>
        <p:blipFill>
          <a:blip r:embed="rId3"/>
          <a:stretch>
            <a:fillRect/>
          </a:stretch>
        </p:blipFill>
        <p:spPr>
          <a:xfrm>
            <a:off x="1994763" y="978408"/>
            <a:ext cx="8202168" cy="5468112"/>
          </a:xfrm>
          <a:prstGeom prst="rect">
            <a:avLst/>
          </a:prstGeom>
        </p:spPr>
      </p:pic>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Track Controller (SW) architecture (component view)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Architecture</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123</a:t>
            </a:r>
          </a:p>
        </p:txBody>
      </p:sp>
      <p:pic>
        <p:nvPicPr>
          <p:cNvPr id="6" name="Picture 5" descr="architecture_0_0_3000_1060.png"/>
          <p:cNvPicPr>
            <a:picLocks noChangeAspect="1"/>
          </p:cNvPicPr>
          <p:nvPr/>
        </p:nvPicPr>
        <p:blipFill>
          <a:blip r:embed="rId3"/>
          <a:stretch>
            <a:fillRect/>
          </a:stretch>
        </p:blipFill>
        <p:spPr>
          <a:xfrm>
            <a:off x="411480" y="1799999"/>
            <a:ext cx="11368735" cy="4016953"/>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Track Controller (SW) architecture (component view)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Architecture</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124</a:t>
            </a:r>
          </a:p>
        </p:txBody>
      </p:sp>
      <p:pic>
        <p:nvPicPr>
          <p:cNvPr id="6" name="Picture 5" descr="architecture_0_940_3000_2000.png"/>
          <p:cNvPicPr>
            <a:picLocks noChangeAspect="1"/>
          </p:cNvPicPr>
          <p:nvPr/>
        </p:nvPicPr>
        <p:blipFill>
          <a:blip r:embed="rId3"/>
          <a:stretch>
            <a:fillRect/>
          </a:stretch>
        </p:blipFill>
        <p:spPr>
          <a:xfrm>
            <a:off x="411480" y="1799999"/>
            <a:ext cx="11368735" cy="4016953"/>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Core classes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125</a:t>
            </a:r>
          </a:p>
        </p:txBody>
      </p:sp>
      <p:pic>
        <p:nvPicPr>
          <p:cNvPr id="7" name="Picture 6" descr="class_core.png"/>
          <p:cNvPicPr>
            <a:picLocks noChangeAspect="1"/>
          </p:cNvPicPr>
          <p:nvPr/>
        </p:nvPicPr>
        <p:blipFill>
          <a:blip r:embed="rId3"/>
          <a:stretch>
            <a:fillRect/>
          </a:stretch>
        </p:blipFill>
        <p:spPr>
          <a:xfrm>
            <a:off x="2321399" y="978408"/>
            <a:ext cx="7548897" cy="5468112"/>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Core classes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126</a:t>
            </a:r>
          </a:p>
        </p:txBody>
      </p:sp>
      <p:pic>
        <p:nvPicPr>
          <p:cNvPr id="6" name="Picture 5" descr="class_core_0_0_3120_1197.png"/>
          <p:cNvPicPr>
            <a:picLocks noChangeAspect="1"/>
          </p:cNvPicPr>
          <p:nvPr/>
        </p:nvPicPr>
        <p:blipFill>
          <a:blip r:embed="rId3"/>
          <a:stretch>
            <a:fillRect/>
          </a:stretch>
        </p:blipFill>
        <p:spPr>
          <a:xfrm>
            <a:off x="411480" y="1627647"/>
            <a:ext cx="11368735" cy="4361658"/>
          </a:xfrm>
          <a:prstGeom prst="rect">
            <a:avLst/>
          </a:prstGeom>
        </p:spPr>
      </p:pic>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Core classes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127</a:t>
            </a:r>
          </a:p>
        </p:txBody>
      </p:sp>
      <p:pic>
        <p:nvPicPr>
          <p:cNvPr id="6" name="Picture 5" descr="class_core_0_1062_3120_2260.png"/>
          <p:cNvPicPr>
            <a:picLocks noChangeAspect="1"/>
          </p:cNvPicPr>
          <p:nvPr/>
        </p:nvPicPr>
        <p:blipFill>
          <a:blip r:embed="rId3"/>
          <a:stretch>
            <a:fillRect/>
          </a:stretch>
        </p:blipFill>
        <p:spPr>
          <a:xfrm>
            <a:off x="411480" y="1625825"/>
            <a:ext cx="11368735" cy="4365302"/>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Track layout</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128</a:t>
            </a:r>
          </a:p>
        </p:txBody>
      </p:sp>
      <p:pic>
        <p:nvPicPr>
          <p:cNvPr id="7" name="Picture 6" descr="class_layout.png"/>
          <p:cNvPicPr>
            <a:picLocks noChangeAspect="1"/>
          </p:cNvPicPr>
          <p:nvPr/>
        </p:nvPicPr>
        <p:blipFill>
          <a:blip r:embed="rId3"/>
          <a:stretch>
            <a:fillRect/>
          </a:stretch>
        </p:blipFill>
        <p:spPr>
          <a:xfrm>
            <a:off x="1584655" y="978408"/>
            <a:ext cx="9022384" cy="5468112"/>
          </a:xfrm>
          <a:prstGeom prst="rect">
            <a:avLst/>
          </a:prstGeom>
        </p:spPr>
      </p:pic>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Track Controller (SW): boundary types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129</a:t>
            </a:r>
          </a:p>
        </p:txBody>
      </p:sp>
      <p:pic>
        <p:nvPicPr>
          <p:cNvPr id="7" name="Picture 6" descr="class_boundary.png"/>
          <p:cNvPicPr>
            <a:picLocks noChangeAspect="1"/>
          </p:cNvPicPr>
          <p:nvPr/>
        </p:nvPicPr>
        <p:blipFill>
          <a:blip r:embed="rId3"/>
          <a:stretch>
            <a:fillRect/>
          </a:stretch>
        </p:blipFill>
        <p:spPr>
          <a:xfrm>
            <a:off x="2045394" y="978408"/>
            <a:ext cx="8100906" cy="5468112"/>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100" b="1">
                <a:solidFill>
                  <a:srgbClr val="FFFFFF"/>
                </a:solidFill>
                <a:latin typeface="Segoe UI"/>
              </a:rPr>
              <a:t>Track Controller (SW): boundary types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130</a:t>
            </a:r>
          </a:p>
        </p:txBody>
      </p:sp>
      <p:pic>
        <p:nvPicPr>
          <p:cNvPr id="6" name="Picture 5" descr="class_boundary_0_0_3200_1144.png"/>
          <p:cNvPicPr>
            <a:picLocks noChangeAspect="1"/>
          </p:cNvPicPr>
          <p:nvPr/>
        </p:nvPicPr>
        <p:blipFill>
          <a:blip r:embed="rId3"/>
          <a:stretch>
            <a:fillRect/>
          </a:stretch>
        </p:blipFill>
        <p:spPr>
          <a:xfrm>
            <a:off x="411480" y="1776315"/>
            <a:ext cx="11368735" cy="4064322"/>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100" b="1">
                <a:solidFill>
                  <a:srgbClr val="FFFFFF"/>
                </a:solidFill>
                <a:latin typeface="Segoe UI"/>
              </a:rPr>
              <a:t>Track Controller (SW): boundary types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131</a:t>
            </a:r>
          </a:p>
        </p:txBody>
      </p:sp>
      <p:pic>
        <p:nvPicPr>
          <p:cNvPr id="6" name="Picture 5" descr="class_boundary_0_1015_3200_2160.png"/>
          <p:cNvPicPr>
            <a:picLocks noChangeAspect="1"/>
          </p:cNvPicPr>
          <p:nvPr/>
        </p:nvPicPr>
        <p:blipFill>
          <a:blip r:embed="rId3"/>
          <a:stretch>
            <a:fillRect/>
          </a:stretch>
        </p:blipFill>
        <p:spPr>
          <a:xfrm>
            <a:off x="411480" y="1774538"/>
            <a:ext cx="11368735" cy="4067875"/>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Host-side classes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132</a:t>
            </a:r>
          </a:p>
        </p:txBody>
      </p:sp>
      <p:pic>
        <p:nvPicPr>
          <p:cNvPr id="7" name="Picture 6" descr="class_host.png"/>
          <p:cNvPicPr>
            <a:picLocks noChangeAspect="1"/>
          </p:cNvPicPr>
          <p:nvPr/>
        </p:nvPicPr>
        <p:blipFill>
          <a:blip r:embed="rId3"/>
          <a:stretch>
            <a:fillRect/>
          </a:stretch>
        </p:blipFill>
        <p:spPr>
          <a:xfrm>
            <a:off x="1807132" y="978408"/>
            <a:ext cx="8577430" cy="5468112"/>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Host-side classes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133</a:t>
            </a:r>
          </a:p>
        </p:txBody>
      </p:sp>
      <p:pic>
        <p:nvPicPr>
          <p:cNvPr id="6" name="Picture 5" descr="class_host_0_0_3200_1081.png"/>
          <p:cNvPicPr>
            <a:picLocks noChangeAspect="1"/>
          </p:cNvPicPr>
          <p:nvPr/>
        </p:nvPicPr>
        <p:blipFill>
          <a:blip r:embed="rId3"/>
          <a:stretch>
            <a:fillRect/>
          </a:stretch>
        </p:blipFill>
        <p:spPr>
          <a:xfrm>
            <a:off x="411480" y="1888226"/>
            <a:ext cx="11368735" cy="3840500"/>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Host-side classes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134</a:t>
            </a:r>
          </a:p>
        </p:txBody>
      </p:sp>
      <p:pic>
        <p:nvPicPr>
          <p:cNvPr id="6" name="Picture 5" descr="class_host_0_958_3200_2040.png"/>
          <p:cNvPicPr>
            <a:picLocks noChangeAspect="1"/>
          </p:cNvPicPr>
          <p:nvPr/>
        </p:nvPicPr>
        <p:blipFill>
          <a:blip r:embed="rId3"/>
          <a:stretch>
            <a:fillRect/>
          </a:stretch>
        </p:blipFill>
        <p:spPr>
          <a:xfrm>
            <a:off x="411480" y="1886449"/>
            <a:ext cx="11368735" cy="3844053"/>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SD-01 Load track layout (UC-01)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135</a:t>
            </a:r>
          </a:p>
        </p:txBody>
      </p:sp>
      <p:pic>
        <p:nvPicPr>
          <p:cNvPr id="7" name="Picture 6" descr="sd01_load_track_layout_1.png"/>
          <p:cNvPicPr>
            <a:picLocks noChangeAspect="1"/>
          </p:cNvPicPr>
          <p:nvPr/>
        </p:nvPicPr>
        <p:blipFill>
          <a:blip r:embed="rId3"/>
          <a:stretch>
            <a:fillRect/>
          </a:stretch>
        </p:blipFill>
        <p:spPr>
          <a:xfrm>
            <a:off x="875781" y="978408"/>
            <a:ext cx="10440132" cy="5468112"/>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SD-01 Load track layout (UC-01)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136</a:t>
            </a:r>
          </a:p>
        </p:txBody>
      </p:sp>
      <p:pic>
        <p:nvPicPr>
          <p:cNvPr id="7" name="Picture 6" descr="sd01_load_track_layout_2.png"/>
          <p:cNvPicPr>
            <a:picLocks noChangeAspect="1"/>
          </p:cNvPicPr>
          <p:nvPr/>
        </p:nvPicPr>
        <p:blipFill>
          <a:blip r:embed="rId3"/>
          <a:stretch>
            <a:fillRect/>
          </a:stretch>
        </p:blipFill>
        <p:spPr>
          <a:xfrm>
            <a:off x="767556" y="978408"/>
            <a:ext cx="10656583" cy="5468112"/>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SD-02 Select wayside (UC-02)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137</a:t>
            </a:r>
          </a:p>
        </p:txBody>
      </p:sp>
      <p:pic>
        <p:nvPicPr>
          <p:cNvPr id="7" name="Picture 6" descr="sd02_select_wayside_1.png"/>
          <p:cNvPicPr>
            <a:picLocks noChangeAspect="1"/>
          </p:cNvPicPr>
          <p:nvPr/>
        </p:nvPicPr>
        <p:blipFill>
          <a:blip r:embed="rId3"/>
          <a:stretch>
            <a:fillRect/>
          </a:stretch>
        </p:blipFill>
        <p:spPr>
          <a:xfrm>
            <a:off x="411480" y="1631328"/>
            <a:ext cx="11368734" cy="4162272"/>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SD-02 Select wayside (UC-02)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138</a:t>
            </a:r>
          </a:p>
        </p:txBody>
      </p:sp>
      <p:pic>
        <p:nvPicPr>
          <p:cNvPr id="7" name="Picture 6" descr="sd02_select_wayside_2.png"/>
          <p:cNvPicPr>
            <a:picLocks noChangeAspect="1"/>
          </p:cNvPicPr>
          <p:nvPr/>
        </p:nvPicPr>
        <p:blipFill>
          <a:blip r:embed="rId3"/>
          <a:stretch>
            <a:fillRect/>
          </a:stretch>
        </p:blipFill>
        <p:spPr>
          <a:xfrm>
            <a:off x="411480" y="1631328"/>
            <a:ext cx="11368734" cy="4162272"/>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SD-03 Load PLC program (UC-03)</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139</a:t>
            </a:r>
          </a:p>
        </p:txBody>
      </p:sp>
      <p:pic>
        <p:nvPicPr>
          <p:cNvPr id="7" name="Picture 6" descr="sd03_load_plc_program.png"/>
          <p:cNvPicPr>
            <a:picLocks noChangeAspect="1"/>
          </p:cNvPicPr>
          <p:nvPr/>
        </p:nvPicPr>
        <p:blipFill>
          <a:blip r:embed="rId3"/>
          <a:stretch>
            <a:fillRect/>
          </a:stretch>
        </p:blipFill>
        <p:spPr>
          <a:xfrm>
            <a:off x="3327616" y="978408"/>
            <a:ext cx="5536463" cy="5468112"/>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SD-04 Write PLC program (UC-04)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140</a:t>
            </a:r>
          </a:p>
        </p:txBody>
      </p:sp>
      <p:pic>
        <p:nvPicPr>
          <p:cNvPr id="7" name="Picture 6" descr="sd04_write_plc_program.png"/>
          <p:cNvPicPr>
            <a:picLocks noChangeAspect="1"/>
          </p:cNvPicPr>
          <p:nvPr/>
        </p:nvPicPr>
        <p:blipFill>
          <a:blip r:embed="rId3"/>
          <a:stretch>
            <a:fillRect/>
          </a:stretch>
        </p:blipFill>
        <p:spPr>
          <a:xfrm>
            <a:off x="3119254" y="978408"/>
            <a:ext cx="5953186" cy="5468112"/>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SD-05 Run PLC program (UC-05)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141</a:t>
            </a:r>
          </a:p>
        </p:txBody>
      </p:sp>
      <p:pic>
        <p:nvPicPr>
          <p:cNvPr id="7" name="Picture 6" descr="sd05_run_plc_program_1.png"/>
          <p:cNvPicPr>
            <a:picLocks noChangeAspect="1"/>
          </p:cNvPicPr>
          <p:nvPr/>
        </p:nvPicPr>
        <p:blipFill>
          <a:blip r:embed="rId3"/>
          <a:stretch>
            <a:fillRect/>
          </a:stretch>
        </p:blipFill>
        <p:spPr>
          <a:xfrm>
            <a:off x="411480" y="1452827"/>
            <a:ext cx="11368735" cy="4519273"/>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SD-05 Run PLC program (UC-05)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142</a:t>
            </a:r>
          </a:p>
        </p:txBody>
      </p:sp>
      <p:pic>
        <p:nvPicPr>
          <p:cNvPr id="7" name="Picture 6" descr="sd05_run_plc_program_2.png"/>
          <p:cNvPicPr>
            <a:picLocks noChangeAspect="1"/>
          </p:cNvPicPr>
          <p:nvPr/>
        </p:nvPicPr>
        <p:blipFill>
          <a:blip r:embed="rId3"/>
          <a:stretch>
            <a:fillRect/>
          </a:stretch>
        </p:blipFill>
        <p:spPr>
          <a:xfrm>
            <a:off x="811380" y="978408"/>
            <a:ext cx="10568934" cy="5468112"/>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SD-06 Commit PLC program (UC-06)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143</a:t>
            </a:r>
          </a:p>
        </p:txBody>
      </p:sp>
      <p:pic>
        <p:nvPicPr>
          <p:cNvPr id="7" name="Picture 6" descr="sd06_commit_plc_program_1.png"/>
          <p:cNvPicPr>
            <a:picLocks noChangeAspect="1"/>
          </p:cNvPicPr>
          <p:nvPr/>
        </p:nvPicPr>
        <p:blipFill>
          <a:blip r:embed="rId3"/>
          <a:stretch>
            <a:fillRect/>
          </a:stretch>
        </p:blipFill>
        <p:spPr>
          <a:xfrm>
            <a:off x="411480" y="1716888"/>
            <a:ext cx="11368735" cy="3991151"/>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SD-06 Commit PLC program (UC-06)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144</a:t>
            </a:r>
          </a:p>
        </p:txBody>
      </p:sp>
      <p:pic>
        <p:nvPicPr>
          <p:cNvPr id="7" name="Picture 6" descr="sd06_commit_plc_program_2.png"/>
          <p:cNvPicPr>
            <a:picLocks noChangeAspect="1"/>
          </p:cNvPicPr>
          <p:nvPr/>
        </p:nvPicPr>
        <p:blipFill>
          <a:blip r:embed="rId3"/>
          <a:stretch>
            <a:fillRect/>
          </a:stretch>
        </p:blipFill>
        <p:spPr>
          <a:xfrm>
            <a:off x="411480" y="1620133"/>
            <a:ext cx="11368735" cy="4184662"/>
          </a:xfrm>
          <a:prstGeom prst="rect">
            <a:avLst/>
          </a:prstGeom>
        </p:spPr>
      </p:pic>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SD-07 Monitor wayside state (UC-07)</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145</a:t>
            </a:r>
          </a:p>
        </p:txBody>
      </p:sp>
      <p:pic>
        <p:nvPicPr>
          <p:cNvPr id="7" name="Picture 6" descr="sd07_monitor_wayside_state.png"/>
          <p:cNvPicPr>
            <a:picLocks noChangeAspect="1"/>
          </p:cNvPicPr>
          <p:nvPr/>
        </p:nvPicPr>
        <p:blipFill>
          <a:blip r:embed="rId3"/>
          <a:stretch>
            <a:fillRect/>
          </a:stretch>
        </p:blipFill>
        <p:spPr>
          <a:xfrm>
            <a:off x="2271199" y="978408"/>
            <a:ext cx="7649297" cy="5468112"/>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SD-08 Hand-set switch (UC-08)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146</a:t>
            </a:r>
          </a:p>
        </p:txBody>
      </p:sp>
      <p:pic>
        <p:nvPicPr>
          <p:cNvPr id="7" name="Picture 6" descr="sd08_hand_set_switch_1.png"/>
          <p:cNvPicPr>
            <a:picLocks noChangeAspect="1"/>
          </p:cNvPicPr>
          <p:nvPr/>
        </p:nvPicPr>
        <p:blipFill>
          <a:blip r:embed="rId3"/>
          <a:stretch>
            <a:fillRect/>
          </a:stretch>
        </p:blipFill>
        <p:spPr>
          <a:xfrm>
            <a:off x="411480" y="1671259"/>
            <a:ext cx="11368734" cy="4082409"/>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SD-08 Hand-set switch (UC-08)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147</a:t>
            </a:r>
          </a:p>
        </p:txBody>
      </p:sp>
      <p:pic>
        <p:nvPicPr>
          <p:cNvPr id="7" name="Picture 6" descr="sd08_hand_set_switch_2.png"/>
          <p:cNvPicPr>
            <a:picLocks noChangeAspect="1"/>
          </p:cNvPicPr>
          <p:nvPr/>
        </p:nvPicPr>
        <p:blipFill>
          <a:blip r:embed="rId3"/>
          <a:stretch>
            <a:fillRect/>
          </a:stretch>
        </p:blipFill>
        <p:spPr>
          <a:xfrm>
            <a:off x="1352897" y="978408"/>
            <a:ext cx="9485900" cy="5468112"/>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SD-09 Run scan cycle (UC-09)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148</a:t>
            </a:r>
          </a:p>
        </p:txBody>
      </p:sp>
      <p:pic>
        <p:nvPicPr>
          <p:cNvPr id="7" name="Picture 6" descr="sd09_run_scan_cycle_1.png"/>
          <p:cNvPicPr>
            <a:picLocks noChangeAspect="1"/>
          </p:cNvPicPr>
          <p:nvPr/>
        </p:nvPicPr>
        <p:blipFill>
          <a:blip r:embed="rId3"/>
          <a:stretch>
            <a:fillRect/>
          </a:stretch>
        </p:blipFill>
        <p:spPr>
          <a:xfrm>
            <a:off x="411480" y="1894273"/>
            <a:ext cx="11368735" cy="3636382"/>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SD-09 Run scan cycle (UC-09)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149</a:t>
            </a:r>
          </a:p>
        </p:txBody>
      </p:sp>
      <p:pic>
        <p:nvPicPr>
          <p:cNvPr id="7" name="Picture 6" descr="sd09_run_scan_cycle_2.png"/>
          <p:cNvPicPr>
            <a:picLocks noChangeAspect="1"/>
          </p:cNvPicPr>
          <p:nvPr/>
        </p:nvPicPr>
        <p:blipFill>
          <a:blip r:embed="rId3"/>
          <a:stretch>
            <a:fillRect/>
          </a:stretch>
        </p:blipFill>
        <p:spPr>
          <a:xfrm>
            <a:off x="411480" y="1249238"/>
            <a:ext cx="11368735" cy="4926451"/>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100" b="1">
                <a:solidFill>
                  <a:srgbClr val="FFFFFF"/>
                </a:solidFill>
                <a:latin typeface="Segoe UI"/>
              </a:rPr>
              <a:t>SD-10 Receive speed and authority suggestions (UC-10)</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150</a:t>
            </a:r>
          </a:p>
        </p:txBody>
      </p:sp>
      <p:pic>
        <p:nvPicPr>
          <p:cNvPr id="7" name="Picture 6" descr="sd10_receive_suggestions.png"/>
          <p:cNvPicPr>
            <a:picLocks noChangeAspect="1"/>
          </p:cNvPicPr>
          <p:nvPr/>
        </p:nvPicPr>
        <p:blipFill>
          <a:blip r:embed="rId3"/>
          <a:stretch>
            <a:fillRect/>
          </a:stretch>
        </p:blipFill>
        <p:spPr>
          <a:xfrm>
            <a:off x="2546495" y="978408"/>
            <a:ext cx="7098705" cy="5468112"/>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SD-11 Receive closures and switch commands (UC-11)</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151</a:t>
            </a:r>
          </a:p>
        </p:txBody>
      </p:sp>
      <p:pic>
        <p:nvPicPr>
          <p:cNvPr id="7" name="Picture 6" descr="sd11_receive_closures_switch_commands.png"/>
          <p:cNvPicPr>
            <a:picLocks noChangeAspect="1"/>
          </p:cNvPicPr>
          <p:nvPr/>
        </p:nvPicPr>
        <p:blipFill>
          <a:blip r:embed="rId3"/>
          <a:stretch>
            <a:fillRect/>
          </a:stretch>
        </p:blipFill>
        <p:spPr>
          <a:xfrm>
            <a:off x="2808471" y="978408"/>
            <a:ext cx="6574753" cy="5468112"/>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SD-12 Receive track state (UC-12)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152</a:t>
            </a:r>
          </a:p>
        </p:txBody>
      </p:sp>
      <p:pic>
        <p:nvPicPr>
          <p:cNvPr id="7" name="Picture 6" descr="sd12_receive_track_state.png"/>
          <p:cNvPicPr>
            <a:picLocks noChangeAspect="1"/>
          </p:cNvPicPr>
          <p:nvPr/>
        </p:nvPicPr>
        <p:blipFill>
          <a:blip r:embed="rId3"/>
          <a:stretch>
            <a:fillRect/>
          </a:stretch>
        </p:blipFill>
        <p:spPr>
          <a:xfrm>
            <a:off x="1886402" y="978408"/>
            <a:ext cx="8418891" cy="5468112"/>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SD-13 Command switches (UC-13)</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153</a:t>
            </a:r>
          </a:p>
        </p:txBody>
      </p:sp>
      <p:pic>
        <p:nvPicPr>
          <p:cNvPr id="7" name="Picture 6" descr="sd13_command_switches.png"/>
          <p:cNvPicPr>
            <a:picLocks noChangeAspect="1"/>
          </p:cNvPicPr>
          <p:nvPr/>
        </p:nvPicPr>
        <p:blipFill>
          <a:blip r:embed="rId3"/>
          <a:stretch>
            <a:fillRect/>
          </a:stretch>
        </p:blipFill>
        <p:spPr>
          <a:xfrm>
            <a:off x="2001531" y="978408"/>
            <a:ext cx="8188633" cy="5468112"/>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SD-14 Set signal aspects (UC-14)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154</a:t>
            </a:r>
          </a:p>
        </p:txBody>
      </p:sp>
      <p:pic>
        <p:nvPicPr>
          <p:cNvPr id="7" name="Picture 6" descr="sd14_set_signal_aspects.png"/>
          <p:cNvPicPr>
            <a:picLocks noChangeAspect="1"/>
          </p:cNvPicPr>
          <p:nvPr/>
        </p:nvPicPr>
        <p:blipFill>
          <a:blip r:embed="rId3"/>
          <a:stretch>
            <a:fillRect/>
          </a:stretch>
        </p:blipFill>
        <p:spPr>
          <a:xfrm>
            <a:off x="2203838" y="978408"/>
            <a:ext cx="7784018" cy="5468112"/>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SD-15 Control railway crossings (UC-15)</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155</a:t>
            </a:r>
          </a:p>
        </p:txBody>
      </p:sp>
      <p:pic>
        <p:nvPicPr>
          <p:cNvPr id="7" name="Picture 6" descr="sd15_control_railway_crossings.png"/>
          <p:cNvPicPr>
            <a:picLocks noChangeAspect="1"/>
          </p:cNvPicPr>
          <p:nvPr/>
        </p:nvPicPr>
        <p:blipFill>
          <a:blip r:embed="rId3"/>
          <a:stretch>
            <a:fillRect/>
          </a:stretch>
        </p:blipFill>
        <p:spPr>
          <a:xfrm>
            <a:off x="1083411" y="978408"/>
            <a:ext cx="10024872" cy="5468112"/>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SD-16 Send speed and authority on track circuits (UC-16)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156</a:t>
            </a:r>
          </a:p>
        </p:txBody>
      </p:sp>
      <p:pic>
        <p:nvPicPr>
          <p:cNvPr id="7" name="Picture 6" descr="sd16_send_track_circuits_1.png"/>
          <p:cNvPicPr>
            <a:picLocks noChangeAspect="1"/>
          </p:cNvPicPr>
          <p:nvPr/>
        </p:nvPicPr>
        <p:blipFill>
          <a:blip r:embed="rId3"/>
          <a:stretch>
            <a:fillRect/>
          </a:stretch>
        </p:blipFill>
        <p:spPr>
          <a:xfrm>
            <a:off x="411480" y="1978967"/>
            <a:ext cx="11368734" cy="3466994"/>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SD-16 Send speed and authority on track circuits (UC-16)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157</a:t>
            </a:r>
          </a:p>
        </p:txBody>
      </p:sp>
      <p:pic>
        <p:nvPicPr>
          <p:cNvPr id="7" name="Picture 6" descr="sd16_send_track_circuits_2.png"/>
          <p:cNvPicPr>
            <a:picLocks noChangeAspect="1"/>
          </p:cNvPicPr>
          <p:nvPr/>
        </p:nvPicPr>
        <p:blipFill>
          <a:blip r:embed="rId3"/>
          <a:stretch>
            <a:fillRect/>
          </a:stretch>
        </p:blipFill>
        <p:spPr>
          <a:xfrm>
            <a:off x="411480" y="1396437"/>
            <a:ext cx="11368734" cy="4632054"/>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SD-17 Report occupancy, read-back and readiness (UC-17)</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158</a:t>
            </a:r>
          </a:p>
        </p:txBody>
      </p:sp>
      <p:pic>
        <p:nvPicPr>
          <p:cNvPr id="7" name="Picture 6" descr="sd17_report_to_ctc.png"/>
          <p:cNvPicPr>
            <a:picLocks noChangeAspect="1"/>
          </p:cNvPicPr>
          <p:nvPr/>
        </p:nvPicPr>
        <p:blipFill>
          <a:blip r:embed="rId3"/>
          <a:stretch>
            <a:fillRect/>
          </a:stretch>
        </p:blipFill>
        <p:spPr>
          <a:xfrm>
            <a:off x="2509618" y="978408"/>
            <a:ext cx="7172458" cy="5468112"/>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SD-18 Transmit nothing while not ready (UC-18)</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(SW)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159</a:t>
            </a:r>
          </a:p>
        </p:txBody>
      </p:sp>
      <p:pic>
        <p:nvPicPr>
          <p:cNvPr id="7" name="Picture 6" descr="sd18_transmit_nothing_while_not_ready.png"/>
          <p:cNvPicPr>
            <a:picLocks noChangeAspect="1"/>
          </p:cNvPicPr>
          <p:nvPr/>
        </p:nvPicPr>
        <p:blipFill>
          <a:blip r:embed="rId3"/>
          <a:stretch>
            <a:fillRect/>
          </a:stretch>
        </p:blipFill>
        <p:spPr>
          <a:xfrm>
            <a:off x="1348287" y="978408"/>
            <a:ext cx="9495120" cy="5468112"/>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Track Controller (HW)</a:t>
            </a:r>
          </a:p>
        </p:txBody>
      </p:sp>
      <p:sp>
        <p:nvSpPr>
          <p:cNvPr id="5" name="TextBox 4"/>
          <p:cNvSpPr txBox="1"/>
          <p:nvPr/>
        </p:nvSpPr>
        <p:spPr>
          <a:xfrm>
            <a:off x="822960" y="3474720"/>
            <a:ext cx="10515600" cy="914400"/>
          </a:xfrm>
          <a:prstGeom prst="rect">
            <a:avLst/>
          </a:prstGeom>
          <a:noFill/>
        </p:spPr>
        <p:txBody>
          <a:bodyPr wrap="square" anchor="t" lIns="45720" rIns="45720">
            <a:spAutoFit/>
          </a:bodyPr>
          <a:lstStyle/>
          <a:p>
            <a:pPr algn="l"/>
            <a:r>
              <a:rPr sz="2000" b="0">
                <a:solidFill>
                  <a:srgbClr val="5B6775"/>
                </a:solidFill>
                <a:latin typeface="Segoe UI"/>
              </a:rPr>
              <a:t>Braden Bosilovich · SDD Section 5.3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Track Controller (HW): what it does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161</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Runs every wayside controller of the Red Line (D021)</a:t>
            </a:r>
          </a:p>
          <a:p>
            <a:pPr>
              <a:spcAft>
                <a:spcPts val="800"/>
              </a:spcAft>
            </a:pPr>
            <a:r>
              <a:rPr sz="2400">
                <a:solidFill>
                  <a:srgbClr val="222B36"/>
                </a:solidFill>
                <a:latin typeface="Segoe UI"/>
              </a:rPr>
              <a:t>•  Each wayside: its own territory database and its own Boolean PLC program</a:t>
            </a:r>
          </a:p>
          <a:p>
            <a:pPr>
              <a:spcAft>
                <a:spcPts val="800"/>
              </a:spcAft>
            </a:pPr>
            <a:r>
              <a:rPr sz="2400">
                <a:solidFill>
                  <a:srgbClr val="222B36"/>
                </a:solidFill>
                <a:latin typeface="Segoe UI"/>
              </a:rPr>
              <a:t>•  Knows blocks, never trains: everything it exchanges is keyed by block</a:t>
            </a:r>
          </a:p>
          <a:p>
            <a:pPr>
              <a:spcAft>
                <a:spcPts val="800"/>
              </a:spcAft>
            </a:pPr>
            <a:r>
              <a:rPr sz="2400">
                <a:solidFill>
                  <a:srgbClr val="222B36"/>
                </a:solidFill>
                <a:latin typeface="Segoe UI"/>
              </a:rPr>
              <a:t>•  Core on a Raspberry Pi 5; window on the PC; one USB cable (D027)</a:t>
            </a:r>
          </a:p>
          <a:p>
            <a:pPr>
              <a:spcAft>
                <a:spcPts val="800"/>
              </a:spcAft>
            </a:pPr>
            <a:r>
              <a:rPr sz="2400">
                <a:solidFill>
                  <a:srgbClr val="222B36"/>
                </a:solidFill>
                <a:latin typeface="Segoe UI"/>
              </a:rPr>
              <a:t>•  Every statement compiled twice and run on two channels, compared every scan</a:t>
            </a:r>
          </a:p>
          <a:p>
            <a:pPr lvl="1">
              <a:spcAft>
                <a:spcPts val="400"/>
              </a:spcAft>
            </a:pPr>
            <a:r>
              <a:rPr sz="2100">
                <a:solidFill>
                  <a:srgbClr val="5B6775"/>
                </a:solidFill>
                <a:latin typeface="Segoe UI"/>
              </a:rPr>
              <a:t>–  Orange «planned» = designed, not built: the read-only vital PLC block</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Track Controller (HW): use case diagram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162</a:t>
            </a:r>
          </a:p>
        </p:txBody>
      </p:sp>
      <p:pic>
        <p:nvPicPr>
          <p:cNvPr id="7" name="Picture 6" descr="uc_track_ctrl_hw.png"/>
          <p:cNvPicPr>
            <a:picLocks noChangeAspect="1"/>
          </p:cNvPicPr>
          <p:nvPr/>
        </p:nvPicPr>
        <p:blipFill>
          <a:blip r:embed="rId3"/>
          <a:stretch>
            <a:fillRect/>
          </a:stretch>
        </p:blipFill>
        <p:spPr>
          <a:xfrm>
            <a:off x="1926746" y="978408"/>
            <a:ext cx="8338203" cy="5468112"/>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UC-01 Load wayside database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163</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Adds one wayside to the Track Controller, or replaces the wayside with the same ID.</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Wayside database (JSON): line, wayside ID, and per block the number, section, length, speed limit, switch and railway crossing. A cut of the course layout file.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Load database and picks a file.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PC parses the file and sends the territory to the Pi. The wayside appears in the header's picker, selected, and the header reads Not ready until it has a PLC program. A replaced wayside keeps its program if the program still fits; otherwise the program is unloaded with a notice.</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An unreadable or malformed file, a database for another line, or a block another wayside already governs: refused with a message; nothing changes.</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REQ-INTF-001.4, REQ-INTF-012, REQ-NFR-003, REQ-NFR-004</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SD-01</a:t>
                      </a:r>
                    </a:p>
                  </a:txBody>
                  <a:tcPr marL="73152" marR="73152" marT="27432" marB="27432">
                    <a:solidFill>
                      <a:srgbClr val="FFFFFF"/>
                    </a:solidFill>
                  </a:tcPr>
                </a:tc>
              </a:tr>
            </a:tbl>
          </a:graphicData>
        </a:graphic>
      </p:graphicFrame>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UC-02 Load PLC program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164</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Installs a PLC program on the selected wayside.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PLC source text, Boolean only: VAR_IN and VAR_OUT declarations, then NAME := expression over NOT, AND, XOR, OR, 0, 1 and parentheses.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New PLC (on the Wayside PLC strip or in the PLC details dialog) and picks a file.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program is compiled twice, once per channel, and checked against the names this wayside provides. It runs from the next scan; until then the wayside holds its outputs fail-safe. The window shows the file name, checksum and any warnings. Once every wayside has a program, the header reads Ready.</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syntax error, or a name that is not this wayside's input or output: refused; a dialog lists every problem with its line number, and the previous program keeps running. No wayside loaded: refused.</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6.6, 6.7; REQ-FUNC-050, REQ-FUNC-051</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SD-02</a:t>
                      </a:r>
                    </a:p>
                  </a:txBody>
                  <a:tcPr marL="73152" marR="73152" marT="27432" marB="27432">
                    <a:solidFill>
                      <a:srgbClr val="FFFFFF"/>
                    </a:solidFill>
                  </a:tcPr>
                </a:tc>
              </a:tr>
            </a:tbl>
          </a:graphicData>
        </a:graphic>
      </p:graphicFrame>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UC-03 Select wayside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165</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Chooses which loaded wayside the window shows.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Wayside ID.</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picks a wayside in the header.</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Every panel and dialog shows that wayside.</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REQ-INTF-001.4</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SD-03</a:t>
                      </a:r>
                    </a:p>
                  </a:txBody>
                  <a:tcPr marL="73152" marR="73152" marT="27432" marB="27432">
                    <a:solidFill>
                      <a:srgbClr val="F7F9FC"/>
                    </a:solidFill>
                  </a:tcPr>
                </a:tc>
              </a:tr>
            </a:tbl>
          </a:graphicData>
        </a:graphic>
      </p:graphicFrame>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UC-04 Monitor wayside state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166</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the live state of the selected wayside, in imperial units.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Territory diagram (blocks, switches with the set leg, signals, crossings); block table (section, block, length, speed limit, occupancy or closure, track-circuit speed and authority); CTC suggestions; switches (commanded, reported, CTC request, agreement); signals and crossings (commanded, reported); header (line, clock, ready, maintenance banner with closures and CTC switch commands).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Any tick; the window refreshes at most every 100 ms. Zoom and Fit on the diagram.</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Tables update in place; the diagram redraws.</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REQ-INTF-001.4, REQ-INTF-011; displays rubric 6.1 to 6.5</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SD-04</a:t>
                      </a:r>
                    </a:p>
                  </a:txBody>
                  <a:tcPr marL="73152" marR="73152" marT="27432" marB="27432">
                    <a:solidFill>
                      <a:srgbClr val="F7F9FC"/>
                    </a:solidFill>
                  </a:tcPr>
                </a:tc>
              </a:tr>
            </a:tbl>
          </a:graphicData>
        </a:graphic>
      </p:graphicFrame>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UC-05 View PLC program details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167</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the running program and the health of its two channels.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File, load time, checksum, Boolean and statement counts, warnings; channel A/B agreement, channel fault, why outputs are held. Planned: the vital block's checksum, shown read-only.</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i on the Wayside PLC strip.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PLC program details dialog opens; New PLC there starts UC-02.</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6.9; REQ-FUNC-050</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SD-05</a:t>
                      </a:r>
                    </a:p>
                  </a:txBody>
                  <a:tcPr marL="73152" marR="73152" marT="27432" marB="27432">
                    <a:solidFill>
                      <a:srgbClr val="F7F9FC"/>
                    </a:solidFill>
                  </a:tcPr>
                </a:tc>
              </a:tr>
            </a:tbl>
          </a:graphicData>
        </a:graphic>
      </p:graphicFrame>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UC-06 View last report to the CTC Office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168</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Programmer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Shows exactly what the selected wayside last sent the CTC Office.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Wayside ready, or why not; per block: occupancy, switch position, signal aspect, crossing state.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programmer clicks View on the CTC uplink strip.</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Last report dialog opens.</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6.4; REQ-FUNC-055</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SD-06</a:t>
                      </a:r>
                    </a:p>
                  </a:txBody>
                  <a:tcPr marL="73152" marR="73152" marT="27432" marB="27432">
                    <a:solidFill>
                      <a:srgbClr val="F7F9FC"/>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UC-07 Run scan cycle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169</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(primary); CTC Office and Track Model through it</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Once per tick, every wayside of the line runs its PLC program against that tick's inputs and drives the result onto the track.</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dt (fixed, 0.1 s), simulation time, the tick's inputs (UC-08 to UC-10).</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A step message from the harness.</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Before the next tick: track-circuit commands, switch, signal and crossing commands, and one report per wayside. Each statement runs on two independently written channels and both must agree; the vital block then runs the same way.</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Invalid dt or input: the whole tick is rejected before anything changes, and the harness logs it. Any wayside not ready: UC-16.</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6.1, 6.2, 6.6, 6.9; REQ-FUNC-058, REQ-INTF-013, REQ-NFR-002</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SD-07</a:t>
                      </a:r>
                    </a:p>
                  </a:txBody>
                  <a:tcPr marL="73152" marR="73152" marT="27432" marB="27432">
                    <a:solidFill>
                      <a:srgbClr val="FFFFFF"/>
                    </a:solidFill>
                  </a:tcPr>
                </a:tc>
              </a:tr>
            </a:tbl>
          </a:graphicData>
        </a:graphic>
      </p:graphicFrame>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UC-08 Receive speed and authority suggestions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170</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CTC Office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the CTC Office's suggested speed and authority for each block.</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Per block: speed in whole m/s (0 to 31), authority in blocks (D013).</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tick.</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speed enters the program as five bits, SPD_n_0..4; the authority waits for the program's AUTH_n. Blocks of other lines or no wayside are ignored.</a:t>
                      </a:r>
                    </a:p>
                  </a:txBody>
                  <a:tcPr marL="73152" marR="73152" marT="27432" marB="27432">
                    <a:solidFill>
                      <a:srgbClr val="F7F9FC"/>
                    </a:solidFill>
                  </a:tcPr>
                </a:tc>
              </a:tr>
              <a:tr h="320040">
                <a:tc>
                  <a:txBody>
                    <a:bodyPr wrap="square"/>
                    <a:lstStyle/>
                    <a:p>
                      <a:r>
                        <a:rPr sz="1600" b="1">
                          <a:solidFill>
                            <a:srgbClr val="FFFFFF"/>
                          </a:solidFill>
                          <a:latin typeface="Segoe UI"/>
                        </a:rPr>
                        <a:t>Alternatives</a:t>
                      </a:r>
                    </a:p>
                  </a:txBody>
                  <a:tcPr marL="73152" marR="73152" marT="27432" marB="27432">
                    <a:solidFill>
                      <a:srgbClr val="1F3A5F"/>
                    </a:solidFill>
                  </a:tcPr>
                </a:tc>
                <a:tc>
                  <a:txBody>
                    <a:bodyPr wrap="square"/>
                    <a:lstStyle/>
                    <a:p>
                      <a:r>
                        <a:rPr sz="1600" b="0">
                          <a:solidFill>
                            <a:srgbClr val="222B36"/>
                          </a:solidFill>
                          <a:latin typeface="Segoe UI"/>
                        </a:rPr>
                        <a:t>A negative, fractional or too-large value rejects the tick.</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6.0; REQ-FUNC-049, REQ-INTF-019</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SD-08</a:t>
                      </a:r>
                    </a:p>
                  </a:txBody>
                  <a:tcPr marL="73152" marR="73152" marT="27432" marB="27432">
                    <a:solidFill>
                      <a:srgbClr val="FFFF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UC-09 Receive closures and maintenance switch commands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171</a:t>
            </a:r>
          </a:p>
        </p:txBody>
      </p:sp>
      <p:graphicFrame>
        <p:nvGraphicFramePr>
          <p:cNvPr id="7" name="Table 6"/>
          <p:cNvGraphicFramePr>
            <a:graphicFrameLocks noGrp="1"/>
          </p:cNvGraphicFramePr>
          <p:nvPr/>
        </p:nvGraphicFramePr>
        <p:xfrm>
          <a:off x="411480" y="1097280"/>
          <a:ext cx="11368735" cy="192024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CTC Office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the blocks the dispatcher has closed and, in maintenance mode, the switch positions the dispatcher commands.</a:t>
                      </a:r>
                    </a:p>
                  </a:txBody>
                  <a:tcPr marL="73152" marR="73152" marT="27432" marB="27432">
                    <a:solidFill>
                      <a:srgbClr val="FFFFFF"/>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tick.</a:t>
                      </a:r>
                    </a:p>
                  </a:txBody>
                  <a:tcPr marL="73152" marR="73152" marT="27432" marB="27432">
                    <a:solidFill>
                      <a:srgbClr val="F7F9FC"/>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CLOSED_n, CTCSW_s and CTCREV_s inputs to the program. The window shows each command as "CTC asks" and lists closures and commands in the maintenance banner.</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6.8; REQ-FUNC-057, REQ-FUNC-012</a:t>
                      </a:r>
                    </a:p>
                  </a:txBody>
                  <a:tcPr marL="73152" marR="73152" marT="27432" marB="27432">
                    <a:solidFill>
                      <a:srgbClr val="F7F9FC"/>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SD-09</a:t>
                      </a:r>
                    </a:p>
                  </a:txBody>
                  <a:tcPr marL="73152" marR="73152" marT="27432" marB="27432">
                    <a:solidFill>
                      <a:srgbClr val="FFFFFF"/>
                    </a:solidFill>
                  </a:tcPr>
                </a:tc>
              </a:tr>
            </a:tbl>
          </a:graphicData>
        </a:graphic>
      </p:graphicFrame>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UC-10 Receive track state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172</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Takes occupancy and the actual state of the wayside's equipment.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Occupied blocks (a train or a failure, indistinguishable); switch positions; crossing states; signal aspects lit.</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Every tick.</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OCC_n and SWREV_s inputs to the program; the read-back goes into the report (UC-15). A failed block is protected exactly like an occupied one.</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6.3; REQ-FUNC-054, REQ-FUNC-059, REQ-INTF-018</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SD-10</a:t>
                      </a:r>
                    </a:p>
                  </a:txBody>
                  <a:tcPr marL="73152" marR="73152" marT="27432" marB="27432">
                    <a:solidFill>
                      <a:srgbClr val="F7F9FC"/>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UC-11 Command switches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173</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Drives each switch machine from the program's SW_s output.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SW_s: 1 reverse, 0 normal.</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 (UC-07).</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 switch command to the Track Model. The vital block holds a switch where it reports while a train is on its blocks.</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6.1, 6.8; REQ-FUNC-052</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SD-11</a:t>
                      </a:r>
                    </a:p>
                  </a:txBody>
                  <a:tcPr marL="73152" marR="73152" marT="27432" marB="27432">
                    <a:solidFill>
                      <a:srgbClr val="F7F9FC"/>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UC-12 Set signal aspects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174</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Lights each signal from the program's four aspect outputs.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SIG_s_R, _Y, _G, _SG. Red when _R is 1 or none is; otherwise the first lit of yellow, green, super green.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 signal command to the Track Model.</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6.2; REQ-FUNC-053</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SD-12</a:t>
                      </a:r>
                    </a:p>
                  </a:txBody>
                  <a:tcPr marL="73152" marR="73152" marT="27432" marB="27432">
                    <a:solidFill>
                      <a:srgbClr val="F7F9FC"/>
                    </a:solidFill>
                  </a:tcPr>
                </a:tc>
              </a:tr>
            </a:tbl>
          </a:graphicData>
        </a:graphic>
      </p:graphicFrame>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UC-13 Control railway crossings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175</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Activates each crossing from the program's XING_c output.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XING_c: 1 lights on and gates down.</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A crossing command to the Track Model.</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6.5; REQ-FUNC-056</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SD-13</a:t>
                      </a:r>
                    </a:p>
                  </a:txBody>
                  <a:tcPr marL="73152" marR="73152" marT="27432" marB="27432">
                    <a:solidFill>
                      <a:srgbClr val="F7F9FC"/>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UC-14 Send speed and authority on track circuits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176</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Model (delivers them to the train in the block)</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Sends each block that has a suggestion its commanded speed and authority.</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Speed from CMD_n_0..4 in whole m/s; authority is the CTC Office's count when AUTH_n is 1, else 0.</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One track-circuit command per block with a suggestion.</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6.0, 6.9; REQ-INTF-017, REQ-FUNC-058.1</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SD-14</a:t>
                      </a:r>
                    </a:p>
                  </a:txBody>
                  <a:tcPr marL="73152" marR="73152" marT="27432" marB="27432">
                    <a:solidFill>
                      <a:srgbClr val="F7F9FC"/>
                    </a:solidFill>
                  </a:tcPr>
                </a:tc>
              </a:tr>
            </a:tbl>
          </a:graphicData>
        </a:graphic>
      </p:graphicFrame>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UC-15 Report occupancy, state and readiness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177</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CTC Office (through the harness)</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Tells the CTC Office what each wayside sees, every tick.</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One report per wayside: line, wayside, time, ready and why not; per block: occupied, switch position, signal aspect, crossing state, as the Track Model reports them.</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Each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harness maps the reports into the CTC Office's inputs. The CTC Office dispatches nothing on a line until every wayside of it is ready.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6.4; REQ-FUNC-055, REQ-INTF-020</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SD-15</a:t>
                      </a:r>
                    </a:p>
                  </a:txBody>
                  <a:tcPr marL="73152" marR="73152" marT="27432" marB="27432">
                    <a:solidFill>
                      <a:srgbClr val="F7F9FC"/>
                    </a:solidFill>
                  </a:tcPr>
                </a:tc>
              </a:tr>
            </a:tbl>
          </a:graphicData>
        </a:graphic>
      </p:graphicFrame>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UC-16 Hold fail-safe outputs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178</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Central Harness (extends UC-07)</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Puts a wayside's outputs in their safe state whenever no trustworthy program runs.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Why: no program; a new program that has not scanned yet; channels A and B disagreed (latched until a new program is loaded); or another wayside of the line is not ready.</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Any of those conditions at a scan.</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Every signal red, every crossing active, speed 0 and authority 0 on every track circuit, switches left where they are. The report says not ready and why.</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Rubric 6.9; REQ-FUNC-058</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SD-16</a:t>
                      </a:r>
                    </a:p>
                  </a:txBody>
                  <a:tcPr marL="73152" marR="73152" marT="27432" marB="27432">
                    <a:solidFill>
                      <a:srgbClr val="F7F9FC"/>
                    </a:solidFill>
                  </a:tcPr>
                </a:tc>
              </a:tr>
            </a:tbl>
          </a:graphicData>
        </a:graphic>
      </p:graphicFrame>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Track Controller (HW) architecture (component view)</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Architecture</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179</a:t>
            </a:r>
          </a:p>
        </p:txBody>
      </p:sp>
      <p:pic>
        <p:nvPicPr>
          <p:cNvPr id="7" name="Picture 6" descr="architecture.png"/>
          <p:cNvPicPr>
            <a:picLocks noChangeAspect="1"/>
          </p:cNvPicPr>
          <p:nvPr/>
        </p:nvPicPr>
        <p:blipFill>
          <a:blip r:embed="rId3"/>
          <a:stretch>
            <a:fillRect/>
          </a:stretch>
        </p:blipFill>
        <p:spPr>
          <a:xfrm>
            <a:off x="987949" y="978408"/>
            <a:ext cx="10215796" cy="5468112"/>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Core classes: control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180</a:t>
            </a:r>
          </a:p>
        </p:txBody>
      </p:sp>
      <p:pic>
        <p:nvPicPr>
          <p:cNvPr id="7" name="Picture 6" descr="class_core_control.png"/>
          <p:cNvPicPr>
            <a:picLocks noChangeAspect="1"/>
          </p:cNvPicPr>
          <p:nvPr/>
        </p:nvPicPr>
        <p:blipFill>
          <a:blip r:embed="rId3"/>
          <a:stretch>
            <a:fillRect/>
          </a:stretch>
        </p:blipFill>
        <p:spPr>
          <a:xfrm>
            <a:off x="411480" y="978843"/>
            <a:ext cx="11368735" cy="5467241"/>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Core classes: PLC engine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181</a:t>
            </a:r>
          </a:p>
        </p:txBody>
      </p:sp>
      <p:pic>
        <p:nvPicPr>
          <p:cNvPr id="7" name="Picture 6" descr="class_core_plc.png"/>
          <p:cNvPicPr>
            <a:picLocks noChangeAspect="1"/>
          </p:cNvPicPr>
          <p:nvPr/>
        </p:nvPicPr>
        <p:blipFill>
          <a:blip r:embed="rId3"/>
          <a:stretch>
            <a:fillRect/>
          </a:stretch>
        </p:blipFill>
        <p:spPr>
          <a:xfrm>
            <a:off x="411480" y="1810193"/>
            <a:ext cx="11368735" cy="3804542"/>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Boundary types: inputs and outputs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182</a:t>
            </a:r>
          </a:p>
        </p:txBody>
      </p:sp>
      <p:pic>
        <p:nvPicPr>
          <p:cNvPr id="7" name="Picture 6" descr="class_boundary_io.png"/>
          <p:cNvPicPr>
            <a:picLocks noChangeAspect="1"/>
          </p:cNvPicPr>
          <p:nvPr/>
        </p:nvPicPr>
        <p:blipFill>
          <a:blip r:embed="rId3"/>
          <a:stretch>
            <a:fillRect/>
          </a:stretch>
        </p:blipFill>
        <p:spPr>
          <a:xfrm>
            <a:off x="2206889" y="978408"/>
            <a:ext cx="7777917" cy="5468112"/>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Boundary types: territory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183</a:t>
            </a:r>
          </a:p>
        </p:txBody>
      </p:sp>
      <p:pic>
        <p:nvPicPr>
          <p:cNvPr id="7" name="Picture 6" descr="class_boundary_territory.png"/>
          <p:cNvPicPr>
            <a:picLocks noChangeAspect="1"/>
          </p:cNvPicPr>
          <p:nvPr/>
        </p:nvPicPr>
        <p:blipFill>
          <a:blip r:embed="rId3"/>
          <a:stretch>
            <a:fillRect/>
          </a:stretch>
        </p:blipFill>
        <p:spPr>
          <a:xfrm>
            <a:off x="1609427" y="978408"/>
            <a:ext cx="8972841" cy="5468112"/>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Boundary types: snapshot</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184</a:t>
            </a:r>
          </a:p>
        </p:txBody>
      </p:sp>
      <p:pic>
        <p:nvPicPr>
          <p:cNvPr id="7" name="Picture 6" descr="class_boundary_snapshot.png"/>
          <p:cNvPicPr>
            <a:picLocks noChangeAspect="1"/>
          </p:cNvPicPr>
          <p:nvPr/>
        </p:nvPicPr>
        <p:blipFill>
          <a:blip r:embed="rId3"/>
          <a:stretch>
            <a:fillRect/>
          </a:stretch>
        </p:blipFill>
        <p:spPr>
          <a:xfrm>
            <a:off x="2162155" y="978408"/>
            <a:ext cx="7867385" cy="5468112"/>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Host-side classes: presentation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185</a:t>
            </a:r>
          </a:p>
        </p:txBody>
      </p:sp>
      <p:pic>
        <p:nvPicPr>
          <p:cNvPr id="7" name="Picture 6" descr="class_host_ui.png"/>
          <p:cNvPicPr>
            <a:picLocks noChangeAspect="1"/>
          </p:cNvPicPr>
          <p:nvPr/>
        </p:nvPicPr>
        <p:blipFill>
          <a:blip r:embed="rId3"/>
          <a:stretch>
            <a:fillRect/>
          </a:stretch>
        </p:blipFill>
        <p:spPr>
          <a:xfrm>
            <a:off x="411480" y="1393142"/>
            <a:ext cx="11368735" cy="4638643"/>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Host-side classes: link to the Pi</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186</a:t>
            </a:r>
          </a:p>
        </p:txBody>
      </p:sp>
      <p:pic>
        <p:nvPicPr>
          <p:cNvPr id="7" name="Picture 6" descr="class_host_link.png"/>
          <p:cNvPicPr>
            <a:picLocks noChangeAspect="1"/>
          </p:cNvPicPr>
          <p:nvPr/>
        </p:nvPicPr>
        <p:blipFill>
          <a:blip r:embed="rId3"/>
          <a:stretch>
            <a:fillRect/>
          </a:stretch>
        </p:blipFill>
        <p:spPr>
          <a:xfrm>
            <a:off x="411480" y="1329722"/>
            <a:ext cx="11368735" cy="4765484"/>
          </a:xfrm>
          <a:prstGeom prst="rect">
            <a:avLst/>
          </a:prstGeom>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500" b="1">
                <a:solidFill>
                  <a:srgbClr val="FFFFFF"/>
                </a:solidFill>
                <a:latin typeface="Segoe UI"/>
              </a:rPr>
              <a:t>SD-01 Load wayside database (UC-01)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187</a:t>
            </a:r>
          </a:p>
        </p:txBody>
      </p:sp>
      <p:pic>
        <p:nvPicPr>
          <p:cNvPr id="7" name="Picture 6" descr="sd01_load_database_1.png"/>
          <p:cNvPicPr>
            <a:picLocks noChangeAspect="1"/>
          </p:cNvPicPr>
          <p:nvPr/>
        </p:nvPicPr>
        <p:blipFill>
          <a:blip r:embed="rId3"/>
          <a:stretch>
            <a:fillRect/>
          </a:stretch>
        </p:blipFill>
        <p:spPr>
          <a:xfrm>
            <a:off x="411480" y="1878969"/>
            <a:ext cx="11368735" cy="3666990"/>
          </a:xfrm>
          <a:prstGeom prst="rect">
            <a:avLst/>
          </a:prstGeom>
        </p:spPr>
      </p:pic>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500" b="1">
                <a:solidFill>
                  <a:srgbClr val="FFFFFF"/>
                </a:solidFill>
                <a:latin typeface="Segoe UI"/>
              </a:rPr>
              <a:t>SD-01 Load wayside database (UC-01)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188</a:t>
            </a:r>
          </a:p>
        </p:txBody>
      </p:sp>
      <p:pic>
        <p:nvPicPr>
          <p:cNvPr id="7" name="Picture 6" descr="sd01_load_database_2.png"/>
          <p:cNvPicPr>
            <a:picLocks noChangeAspect="1"/>
          </p:cNvPicPr>
          <p:nvPr/>
        </p:nvPicPr>
        <p:blipFill>
          <a:blip r:embed="rId3"/>
          <a:stretch>
            <a:fillRect/>
          </a:stretch>
        </p:blipFill>
        <p:spPr>
          <a:xfrm>
            <a:off x="411480" y="1607143"/>
            <a:ext cx="11368735" cy="4210642"/>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SD-02 Load PLC program (UC-02)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189</a:t>
            </a:r>
          </a:p>
        </p:txBody>
      </p:sp>
      <p:pic>
        <p:nvPicPr>
          <p:cNvPr id="7" name="Picture 6" descr="sd02_load_program_1.png"/>
          <p:cNvPicPr>
            <a:picLocks noChangeAspect="1"/>
          </p:cNvPicPr>
          <p:nvPr/>
        </p:nvPicPr>
        <p:blipFill>
          <a:blip r:embed="rId3"/>
          <a:stretch>
            <a:fillRect/>
          </a:stretch>
        </p:blipFill>
        <p:spPr>
          <a:xfrm>
            <a:off x="411480" y="1223942"/>
            <a:ext cx="11368735" cy="4977043"/>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SD-02 Load PLC program (UC-02)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190</a:t>
            </a:r>
          </a:p>
        </p:txBody>
      </p:sp>
      <p:pic>
        <p:nvPicPr>
          <p:cNvPr id="7" name="Picture 6" descr="sd02_load_program_2.png"/>
          <p:cNvPicPr>
            <a:picLocks noChangeAspect="1"/>
          </p:cNvPicPr>
          <p:nvPr/>
        </p:nvPicPr>
        <p:blipFill>
          <a:blip r:embed="rId3"/>
          <a:stretch>
            <a:fillRect/>
          </a:stretch>
        </p:blipFill>
        <p:spPr>
          <a:xfrm>
            <a:off x="411480" y="1344216"/>
            <a:ext cx="11368735" cy="4736495"/>
          </a:xfrm>
          <a:prstGeom prst="rect">
            <a:avLst/>
          </a:prstGeom>
        </p:spPr>
      </p:pic>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SD-03 Select wayside (UC-03)</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191</a:t>
            </a:r>
          </a:p>
        </p:txBody>
      </p:sp>
      <p:pic>
        <p:nvPicPr>
          <p:cNvPr id="7" name="Picture 6" descr="sd03_select_wayside.png"/>
          <p:cNvPicPr>
            <a:picLocks noChangeAspect="1"/>
          </p:cNvPicPr>
          <p:nvPr/>
        </p:nvPicPr>
        <p:blipFill>
          <a:blip r:embed="rId3"/>
          <a:stretch>
            <a:fillRect/>
          </a:stretch>
        </p:blipFill>
        <p:spPr>
          <a:xfrm>
            <a:off x="2352166" y="978408"/>
            <a:ext cx="7487363" cy="5468112"/>
          </a:xfrm>
          <a:prstGeom prst="rect">
            <a:avLst/>
          </a:prstGeom>
        </p:spPr>
      </p:pic>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SD-04 Monitor wayside state (UC-04)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192</a:t>
            </a:r>
          </a:p>
        </p:txBody>
      </p:sp>
      <p:pic>
        <p:nvPicPr>
          <p:cNvPr id="7" name="Picture 6" descr="sd04_monitor.png"/>
          <p:cNvPicPr>
            <a:picLocks noChangeAspect="1"/>
          </p:cNvPicPr>
          <p:nvPr/>
        </p:nvPicPr>
        <p:blipFill>
          <a:blip r:embed="rId3"/>
          <a:stretch>
            <a:fillRect/>
          </a:stretch>
        </p:blipFill>
        <p:spPr>
          <a:xfrm>
            <a:off x="1400953" y="978408"/>
            <a:ext cx="9389789" cy="5468112"/>
          </a:xfrm>
          <a:prstGeom prst="rect">
            <a:avLst/>
          </a:prstGeom>
        </p:spPr>
      </p:pic>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SD-05 View PLC program details (UC-05)</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193</a:t>
            </a:r>
          </a:p>
        </p:txBody>
      </p:sp>
      <p:pic>
        <p:nvPicPr>
          <p:cNvPr id="7" name="Picture 6" descr="sd05_plc_details.png"/>
          <p:cNvPicPr>
            <a:picLocks noChangeAspect="1"/>
          </p:cNvPicPr>
          <p:nvPr/>
        </p:nvPicPr>
        <p:blipFill>
          <a:blip r:embed="rId3"/>
          <a:stretch>
            <a:fillRect/>
          </a:stretch>
        </p:blipFill>
        <p:spPr>
          <a:xfrm>
            <a:off x="2721275" y="978408"/>
            <a:ext cx="6749144" cy="5468112"/>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SD-06 View last report to the CTC Office (UC-06)</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194</a:t>
            </a:r>
          </a:p>
        </p:txBody>
      </p:sp>
      <p:pic>
        <p:nvPicPr>
          <p:cNvPr id="7" name="Picture 6" descr="sd06_last_report.png"/>
          <p:cNvPicPr>
            <a:picLocks noChangeAspect="1"/>
          </p:cNvPicPr>
          <p:nvPr/>
        </p:nvPicPr>
        <p:blipFill>
          <a:blip r:embed="rId3"/>
          <a:stretch>
            <a:fillRect/>
          </a:stretch>
        </p:blipFill>
        <p:spPr>
          <a:xfrm>
            <a:off x="1855744" y="978408"/>
            <a:ext cx="8480207" cy="5468112"/>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SD-07 Run scan cycle (UC-07)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195</a:t>
            </a:r>
          </a:p>
        </p:txBody>
      </p:sp>
      <p:pic>
        <p:nvPicPr>
          <p:cNvPr id="7" name="Picture 6" descr="sd07_run_scan_cycle_1.png"/>
          <p:cNvPicPr>
            <a:picLocks noChangeAspect="1"/>
          </p:cNvPicPr>
          <p:nvPr/>
        </p:nvPicPr>
        <p:blipFill>
          <a:blip r:embed="rId3"/>
          <a:stretch>
            <a:fillRect/>
          </a:stretch>
        </p:blipFill>
        <p:spPr>
          <a:xfrm>
            <a:off x="411480" y="1269183"/>
            <a:ext cx="11368735" cy="4886561"/>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SD-07 Run scan cycle (UC-07)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196</a:t>
            </a:r>
          </a:p>
        </p:txBody>
      </p:sp>
      <p:pic>
        <p:nvPicPr>
          <p:cNvPr id="7" name="Picture 6" descr="sd07_run_scan_cycle_2.png"/>
          <p:cNvPicPr>
            <a:picLocks noChangeAspect="1"/>
          </p:cNvPicPr>
          <p:nvPr/>
        </p:nvPicPr>
        <p:blipFill>
          <a:blip r:embed="rId3"/>
          <a:stretch>
            <a:fillRect/>
          </a:stretch>
        </p:blipFill>
        <p:spPr>
          <a:xfrm>
            <a:off x="1133740" y="978408"/>
            <a:ext cx="9924215" cy="5468112"/>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100" b="1">
                <a:solidFill>
                  <a:srgbClr val="FFFFFF"/>
                </a:solidFill>
                <a:latin typeface="Segoe UI"/>
              </a:rPr>
              <a:t>SD-08 Receive speed and authority suggestions (UC-08)</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197</a:t>
            </a:r>
          </a:p>
        </p:txBody>
      </p:sp>
      <p:pic>
        <p:nvPicPr>
          <p:cNvPr id="7" name="Picture 6" descr="sd08_suggestions.png"/>
          <p:cNvPicPr>
            <a:picLocks noChangeAspect="1"/>
          </p:cNvPicPr>
          <p:nvPr/>
        </p:nvPicPr>
        <p:blipFill>
          <a:blip r:embed="rId3"/>
          <a:stretch>
            <a:fillRect/>
          </a:stretch>
        </p:blipFill>
        <p:spPr>
          <a:xfrm>
            <a:off x="2607289" y="978408"/>
            <a:ext cx="6977116" cy="5468112"/>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SD-09 Receive closures and maintenance switch commands (UC-09)</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198</a:t>
            </a:r>
          </a:p>
        </p:txBody>
      </p:sp>
      <p:pic>
        <p:nvPicPr>
          <p:cNvPr id="7" name="Picture 6" descr="sd09_closures_switch_commands.png"/>
          <p:cNvPicPr>
            <a:picLocks noChangeAspect="1"/>
          </p:cNvPicPr>
          <p:nvPr/>
        </p:nvPicPr>
        <p:blipFill>
          <a:blip r:embed="rId3"/>
          <a:stretch>
            <a:fillRect/>
          </a:stretch>
        </p:blipFill>
        <p:spPr>
          <a:xfrm>
            <a:off x="2031287" y="978408"/>
            <a:ext cx="8129120" cy="5468112"/>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SD-10 Receive track state (UC-10)</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199</a:t>
            </a:r>
          </a:p>
        </p:txBody>
      </p:sp>
      <p:pic>
        <p:nvPicPr>
          <p:cNvPr id="7" name="Picture 6" descr="sd10_track_state.png"/>
          <p:cNvPicPr>
            <a:picLocks noChangeAspect="1"/>
          </p:cNvPicPr>
          <p:nvPr/>
        </p:nvPicPr>
        <p:blipFill>
          <a:blip r:embed="rId3"/>
          <a:stretch>
            <a:fillRect/>
          </a:stretch>
        </p:blipFill>
        <p:spPr>
          <a:xfrm>
            <a:off x="1759885" y="978408"/>
            <a:ext cx="8671925" cy="5468112"/>
          </a:xfrm>
          <a:prstGeom prst="rect">
            <a:avLst/>
          </a:prstGeom>
        </p:spPr>
      </p:pic>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SD-11 Command switches (UC-11)</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200</a:t>
            </a:r>
          </a:p>
        </p:txBody>
      </p:sp>
      <p:pic>
        <p:nvPicPr>
          <p:cNvPr id="7" name="Picture 6" descr="sd11_command_switches.png"/>
          <p:cNvPicPr>
            <a:picLocks noChangeAspect="1"/>
          </p:cNvPicPr>
          <p:nvPr/>
        </p:nvPicPr>
        <p:blipFill>
          <a:blip r:embed="rId3"/>
          <a:stretch>
            <a:fillRect/>
          </a:stretch>
        </p:blipFill>
        <p:spPr>
          <a:xfrm>
            <a:off x="3073287" y="978408"/>
            <a:ext cx="6045121" cy="5468112"/>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SD-12 Set signal aspects (UC-12)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201</a:t>
            </a:r>
          </a:p>
        </p:txBody>
      </p:sp>
      <p:pic>
        <p:nvPicPr>
          <p:cNvPr id="7" name="Picture 6" descr="sd12_signal_aspects.png"/>
          <p:cNvPicPr>
            <a:picLocks noChangeAspect="1"/>
          </p:cNvPicPr>
          <p:nvPr/>
        </p:nvPicPr>
        <p:blipFill>
          <a:blip r:embed="rId3"/>
          <a:stretch>
            <a:fillRect/>
          </a:stretch>
        </p:blipFill>
        <p:spPr>
          <a:xfrm>
            <a:off x="1373387" y="978408"/>
            <a:ext cx="9444920" cy="5468112"/>
          </a:xfrm>
          <a:prstGeom prst="rect">
            <a:avLst/>
          </a:prstGeom>
        </p:spPr>
      </p:pic>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SD-13 Control railway crossings (UC-13)</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202</a:t>
            </a:r>
          </a:p>
        </p:txBody>
      </p:sp>
      <p:pic>
        <p:nvPicPr>
          <p:cNvPr id="7" name="Picture 6" descr="sd13_crossings.png"/>
          <p:cNvPicPr>
            <a:picLocks noChangeAspect="1"/>
          </p:cNvPicPr>
          <p:nvPr/>
        </p:nvPicPr>
        <p:blipFill>
          <a:blip r:embed="rId3"/>
          <a:stretch>
            <a:fillRect/>
          </a:stretch>
        </p:blipFill>
        <p:spPr>
          <a:xfrm>
            <a:off x="2529344" y="978408"/>
            <a:ext cx="7133006" cy="5468112"/>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SD-14 Send speed and authority on track circuits (UC-14)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203</a:t>
            </a:r>
          </a:p>
        </p:txBody>
      </p:sp>
      <p:pic>
        <p:nvPicPr>
          <p:cNvPr id="7" name="Picture 6" descr="sd14_track_circuits.png"/>
          <p:cNvPicPr>
            <a:picLocks noChangeAspect="1"/>
          </p:cNvPicPr>
          <p:nvPr/>
        </p:nvPicPr>
        <p:blipFill>
          <a:blip r:embed="rId3"/>
          <a:stretch>
            <a:fillRect/>
          </a:stretch>
        </p:blipFill>
        <p:spPr>
          <a:xfrm>
            <a:off x="938123" y="978408"/>
            <a:ext cx="10315448" cy="5468112"/>
          </a:xfrm>
          <a:prstGeom prst="rect">
            <a:avLst/>
          </a:prstGeom>
        </p:spPr>
      </p:pic>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SD-15 Report occupancy, state and readiness (UC-15)</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204</a:t>
            </a:r>
          </a:p>
        </p:txBody>
      </p:sp>
      <p:pic>
        <p:nvPicPr>
          <p:cNvPr id="7" name="Picture 6" descr="sd15_report.png"/>
          <p:cNvPicPr>
            <a:picLocks noChangeAspect="1"/>
          </p:cNvPicPr>
          <p:nvPr/>
        </p:nvPicPr>
        <p:blipFill>
          <a:blip r:embed="rId3"/>
          <a:stretch>
            <a:fillRect/>
          </a:stretch>
        </p:blipFill>
        <p:spPr>
          <a:xfrm>
            <a:off x="2137587" y="978408"/>
            <a:ext cx="7916520" cy="5468112"/>
          </a:xfrm>
          <a:prstGeom prst="rect">
            <a:avLst/>
          </a:prstGeom>
        </p:spPr>
      </p:pic>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SD-16 Hold fail-safe outputs (UC-16)</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Controller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205</a:t>
            </a:r>
          </a:p>
        </p:txBody>
      </p:sp>
      <p:pic>
        <p:nvPicPr>
          <p:cNvPr id="7" name="Picture 6" descr="sd16_hold_fail_safe.png"/>
          <p:cNvPicPr>
            <a:picLocks noChangeAspect="1"/>
          </p:cNvPicPr>
          <p:nvPr/>
        </p:nvPicPr>
        <p:blipFill>
          <a:blip r:embed="rId3"/>
          <a:stretch>
            <a:fillRect/>
          </a:stretch>
        </p:blipFill>
        <p:spPr>
          <a:xfrm>
            <a:off x="3824403" y="978408"/>
            <a:ext cx="4542889" cy="5468112"/>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Track Model</a:t>
            </a:r>
          </a:p>
        </p:txBody>
      </p:sp>
      <p:sp>
        <p:nvSpPr>
          <p:cNvPr id="5" name="TextBox 4"/>
          <p:cNvSpPr txBox="1"/>
          <p:nvPr/>
        </p:nvSpPr>
        <p:spPr>
          <a:xfrm>
            <a:off x="822960" y="3474720"/>
            <a:ext cx="10515600" cy="914400"/>
          </a:xfrm>
          <a:prstGeom prst="rect">
            <a:avLst/>
          </a:prstGeom>
          <a:noFill/>
        </p:spPr>
        <p:txBody>
          <a:bodyPr wrap="square" anchor="t" lIns="45720" rIns="45720">
            <a:spAutoFit/>
          </a:bodyPr>
          <a:lstStyle/>
          <a:p>
            <a:pPr algn="l"/>
            <a:r>
              <a:rPr sz="2000" b="0">
                <a:solidFill>
                  <a:srgbClr val="5B6775"/>
                </a:solidFill>
                <a:latin typeface="Segoe UI"/>
              </a:rPr>
              <a:t>Deni Ephraim · SDD Section 5.4</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Track Model: what it does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207</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Simulates the physical track of the Green and Red Lines from the layout files</a:t>
            </a:r>
          </a:p>
          <a:p>
            <a:pPr>
              <a:spcAft>
                <a:spcPts val="800"/>
              </a:spcAft>
            </a:pPr>
            <a:r>
              <a:rPr sz="2400">
                <a:solidFill>
                  <a:srgbClr val="222B36"/>
                </a:solidFill>
                <a:latin typeface="Segoe UI"/>
              </a:rPr>
              <a:t>•  Places trains from the Train Model's block and offset; derives occupancy</a:t>
            </a:r>
          </a:p>
          <a:p>
            <a:pPr>
              <a:spcAft>
                <a:spcPts val="800"/>
              </a:spcAft>
            </a:pPr>
            <a:r>
              <a:rPr sz="2400">
                <a:solidFill>
                  <a:srgbClr val="222B36"/>
                </a:solidFill>
                <a:latin typeface="Segoe UI"/>
              </a:rPr>
              <a:t>•  Carries each block's speed and authority on its track circuit; beacons; the signal light ahead</a:t>
            </a:r>
          </a:p>
          <a:p>
            <a:pPr>
              <a:spcAft>
                <a:spcPts val="800"/>
              </a:spcAft>
            </a:pPr>
            <a:r>
              <a:rPr sz="2400">
                <a:solidFill>
                  <a:srgbClr val="222B36"/>
                </a:solidFill>
                <a:latin typeface="Segoe UI"/>
              </a:rPr>
              <a:t>•  Applies switch, signal and crossing commands and reports their actual state</a:t>
            </a:r>
          </a:p>
          <a:p>
            <a:pPr>
              <a:spcAft>
                <a:spcPts val="800"/>
              </a:spcAft>
            </a:pPr>
            <a:r>
              <a:rPr sz="2400">
                <a:solidFill>
                  <a:srgbClr val="222B36"/>
                </a:solidFill>
                <a:latin typeface="Segoe UI"/>
              </a:rPr>
              <a:t>•  Stations: ticket sales to the CTC Office, boarding; temperature and track heaters</a:t>
            </a:r>
          </a:p>
          <a:p>
            <a:pPr>
              <a:spcAft>
                <a:spcPts val="800"/>
              </a:spcAft>
            </a:pPr>
            <a:r>
              <a:rPr sz="2400">
                <a:solidFill>
                  <a:srgbClr val="222B36"/>
                </a:solidFill>
                <a:latin typeface="Segoe UI"/>
              </a:rPr>
              <a:t>•  Murphy injects broken rail, track circuit and power failures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Use case diagram: Track Model, all actors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208</a:t>
            </a:r>
          </a:p>
        </p:txBody>
      </p:sp>
      <p:pic>
        <p:nvPicPr>
          <p:cNvPr id="7" name="Picture 6" descr="03_usecase.png"/>
          <p:cNvPicPr>
            <a:picLocks noChangeAspect="1"/>
          </p:cNvPicPr>
          <p:nvPr/>
        </p:nvPicPr>
        <p:blipFill>
          <a:blip r:embed="rId3"/>
          <a:stretch>
            <a:fillRect/>
          </a:stretch>
        </p:blipFill>
        <p:spPr>
          <a:xfrm>
            <a:off x="3484130" y="978408"/>
            <a:ext cx="5223435" cy="5468112"/>
          </a:xfrm>
          <a:prstGeom prst="rect">
            <a:avLst/>
          </a:prstGeom>
        </p:spPr>
      </p:pic>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900" b="1">
                <a:solidFill>
                  <a:srgbClr val="FFFFFF"/>
                </a:solidFill>
                <a:latin typeface="Segoe UI"/>
              </a:rPr>
              <a:t>Use case diagram: Track Model, all actors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209</a:t>
            </a:r>
          </a:p>
        </p:txBody>
      </p:sp>
      <p:pic>
        <p:nvPicPr>
          <p:cNvPr id="6" name="Picture 5" descr="03_usecase_0_0_1900_1054.png"/>
          <p:cNvPicPr>
            <a:picLocks noChangeAspect="1"/>
          </p:cNvPicPr>
          <p:nvPr/>
        </p:nvPicPr>
        <p:blipFill>
          <a:blip r:embed="rId3"/>
          <a:stretch>
            <a:fillRect/>
          </a:stretch>
        </p:blipFill>
        <p:spPr>
          <a:xfrm>
            <a:off x="796405" y="868680"/>
            <a:ext cx="10598885" cy="5879592"/>
          </a:xfrm>
          <a:prstGeom prst="rect">
            <a:avLst/>
          </a:prstGeom>
        </p:spPr>
      </p:pic>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900" b="1">
                <a:solidFill>
                  <a:srgbClr val="FFFFFF"/>
                </a:solidFill>
                <a:latin typeface="Segoe UI"/>
              </a:rPr>
              <a:t>Use case diagram: Track Model, all actors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210</a:t>
            </a:r>
          </a:p>
        </p:txBody>
      </p:sp>
      <p:pic>
        <p:nvPicPr>
          <p:cNvPr id="6" name="Picture 5" descr="03_usecase_0_934_1900_1989.png"/>
          <p:cNvPicPr>
            <a:picLocks noChangeAspect="1"/>
          </p:cNvPicPr>
          <p:nvPr/>
        </p:nvPicPr>
        <p:blipFill>
          <a:blip r:embed="rId3"/>
          <a:stretch>
            <a:fillRect/>
          </a:stretch>
        </p:blipFill>
        <p:spPr>
          <a:xfrm>
            <a:off x="801428" y="868680"/>
            <a:ext cx="10588838" cy="5879592"/>
          </a:xfrm>
          <a:prstGeom prst="rect">
            <a:avLst/>
          </a:prstGeom>
        </p:spPr>
      </p:pic>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Track Builder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211</a:t>
            </a:r>
          </a:p>
        </p:txBody>
      </p:sp>
      <p:pic>
        <p:nvPicPr>
          <p:cNvPr id="7" name="Picture 6" descr="uc_track_builder.png"/>
          <p:cNvPicPr>
            <a:picLocks noChangeAspect="1"/>
          </p:cNvPicPr>
          <p:nvPr/>
        </p:nvPicPr>
        <p:blipFill>
          <a:blip r:embed="rId3"/>
          <a:stretch>
            <a:fillRect/>
          </a:stretch>
        </p:blipFill>
        <p:spPr>
          <a:xfrm>
            <a:off x="411480" y="2442791"/>
            <a:ext cx="11368735" cy="2539346"/>
          </a:xfrm>
          <a:prstGeom prst="rect">
            <a:avLst/>
          </a:prstGeom>
        </p:spPr>
      </p:pic>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Murphy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212</a:t>
            </a:r>
          </a:p>
        </p:txBody>
      </p:sp>
      <p:pic>
        <p:nvPicPr>
          <p:cNvPr id="7" name="Picture 6" descr="uc_murphy.png"/>
          <p:cNvPicPr>
            <a:picLocks noChangeAspect="1"/>
          </p:cNvPicPr>
          <p:nvPr/>
        </p:nvPicPr>
        <p:blipFill>
          <a:blip r:embed="rId3"/>
          <a:stretch>
            <a:fillRect/>
          </a:stretch>
        </p:blipFill>
        <p:spPr>
          <a:xfrm>
            <a:off x="411480" y="2198926"/>
            <a:ext cx="11368734" cy="3027076"/>
          </a:xfrm>
          <a:prstGeom prst="rect">
            <a:avLst/>
          </a:prstGeom>
        </p:spPr>
      </p:pic>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Track Controller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213</a:t>
            </a:r>
          </a:p>
        </p:txBody>
      </p:sp>
      <p:pic>
        <p:nvPicPr>
          <p:cNvPr id="7" name="Picture 6" descr="uc_track_controller.png"/>
          <p:cNvPicPr>
            <a:picLocks noChangeAspect="1"/>
          </p:cNvPicPr>
          <p:nvPr/>
        </p:nvPicPr>
        <p:blipFill>
          <a:blip r:embed="rId3"/>
          <a:stretch>
            <a:fillRect/>
          </a:stretch>
        </p:blipFill>
        <p:spPr>
          <a:xfrm>
            <a:off x="411480" y="999006"/>
            <a:ext cx="11368735" cy="5426915"/>
          </a:xfrm>
          <a:prstGeom prst="rect">
            <a:avLst/>
          </a:prstGeom>
        </p:spPr>
      </p:pic>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Train Model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214</a:t>
            </a:r>
          </a:p>
        </p:txBody>
      </p:sp>
      <p:pic>
        <p:nvPicPr>
          <p:cNvPr id="7" name="Picture 6" descr="uc_train_model.png"/>
          <p:cNvPicPr>
            <a:picLocks noChangeAspect="1"/>
          </p:cNvPicPr>
          <p:nvPr/>
        </p:nvPicPr>
        <p:blipFill>
          <a:blip r:embed="rId3"/>
          <a:stretch>
            <a:fillRect/>
          </a:stretch>
        </p:blipFill>
        <p:spPr>
          <a:xfrm>
            <a:off x="411480" y="1563396"/>
            <a:ext cx="11368735" cy="4298136"/>
          </a:xfrm>
          <a:prstGeom prst="rect">
            <a:avLst/>
          </a:prstGeom>
        </p:spPr>
      </p:pic>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Train Controller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215</a:t>
            </a:r>
          </a:p>
        </p:txBody>
      </p:sp>
      <p:pic>
        <p:nvPicPr>
          <p:cNvPr id="7" name="Picture 6" descr="uc_train_controller.png"/>
          <p:cNvPicPr>
            <a:picLocks noChangeAspect="1"/>
          </p:cNvPicPr>
          <p:nvPr/>
        </p:nvPicPr>
        <p:blipFill>
          <a:blip r:embed="rId3"/>
          <a:stretch>
            <a:fillRect/>
          </a:stretch>
        </p:blipFill>
        <p:spPr>
          <a:xfrm>
            <a:off x="411480" y="2183246"/>
            <a:ext cx="11368735" cy="3058436"/>
          </a:xfrm>
          <a:prstGeom prst="rect">
            <a:avLst/>
          </a:prstGeom>
        </p:spPr>
      </p:pic>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Use cases of the CTC Office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216</a:t>
            </a:r>
          </a:p>
        </p:txBody>
      </p:sp>
      <p:pic>
        <p:nvPicPr>
          <p:cNvPr id="7" name="Picture 6" descr="uc_ctc_office.png"/>
          <p:cNvPicPr>
            <a:picLocks noChangeAspect="1"/>
          </p:cNvPicPr>
          <p:nvPr/>
        </p:nvPicPr>
        <p:blipFill>
          <a:blip r:embed="rId3"/>
          <a:stretch>
            <a:fillRect/>
          </a:stretch>
        </p:blipFill>
        <p:spPr>
          <a:xfrm>
            <a:off x="411480" y="1783647"/>
            <a:ext cx="11368735" cy="3857633"/>
          </a:xfrm>
          <a:prstGeom prst="rect">
            <a:avLst/>
          </a:prstGeom>
        </p:spPr>
      </p:pic>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 Load Track Layout</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217</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Builder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The builder chooses a layout JSON file with Load track... (2) The module reads each block and its infrastructure, converts grade and speed to backend units, finds switches, signals and beacons and builds the track graph. (3) The file replaces the loaded line of the same name or adds a new line, and the module restarts. At startup the module loads each *_line.json file beside it.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layout file. Out: loaded line, or an error message.</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File chosen. A bad file changes nothing and shows why.</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SD-01</a:t>
                      </a:r>
                    </a:p>
                  </a:txBody>
                  <a:tcPr marL="73152" marR="73152" marT="27432" marB="27432">
                    <a:solidFill>
                      <a:srgbClr val="F7F9FC"/>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2: Display Track Properties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218</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Builder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The user selects a block. (2) The window shows its length, grade, speed limit, elevation, commanded speed, authority, station, platform, direction of travel, beacon, heater, track temperature, underground flag, crossing, signal, switch and occupancy, in imperial units.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selected block. Out: block table and detail panel.</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Block selected. All properties are shown.</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SD-02</a:t>
                      </a:r>
                    </a:p>
                  </a:txBody>
                  <a:tcPr marL="73152" marR="73152" marT="27432" marB="27432">
                    <a:solidFill>
                      <a:srgbClr val="F7F9FC"/>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3: Track Train Position and Occupancy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219</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Train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Each tick the Train Model reports each train's block and offset. (2) The Track Model adds the offset to the distance it kept from earlier blocks and moves the train to the next block when that passes the block length, or back when it goes below 0, following the switches as set. (3) A block is occupied when a train is in it or its track circuit has failed.</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TrainReport per train. Out: occupancy.</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Tick. Occupancy matches the train positions.</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SD-03</a:t>
                      </a:r>
                    </a:p>
                  </a:txBody>
                  <a:tcPr marL="73152" marR="73152" marT="27432" marB="27432">
                    <a:solidFill>
                      <a:srgbClr val="F7F9FC"/>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4: Report State to Track Controller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220</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Controller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Every tick the Track Model builds the actual state of every device: block occupancy, switch positions, crossing gates, signal aspects, failure status, heater states and track temperature. (2) It returns it for the Track controller. The CTC office reads it through the Track controller.</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Out: TrackControllerOutputs.</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Tick or failure injected. The read-back shows the actual state, which a failure can make differ from the command.</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SD-04</a:t>
                      </a:r>
                    </a:p>
                  </a:txBody>
                  <a:tcPr marL="73152" marR="73152" marT="27432" marB="27432">
                    <a:solidFill>
                      <a:srgbClr val="F7F9FC"/>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5: Apply Switch Position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221</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Controller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The Track controller commands a switch position. (2) The switch moves to it unless its block has lost power. (3) The actual position is reported.</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switch commands. Out: switch states.</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Command received. The switch shows its actual position.</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SD-05</a:t>
                      </a:r>
                    </a:p>
                  </a:txBody>
                  <a:tcPr marL="73152" marR="73152" marT="27432" marB="27432">
                    <a:solidFill>
                      <a:srgbClr val="F7F9FC"/>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500" b="1">
                <a:solidFill>
                  <a:srgbClr val="FFFFFF"/>
                </a:solidFill>
                <a:latin typeface="Segoe UI"/>
              </a:rPr>
              <a:t>UC 6: Apply Signal Lights and Crossing Gates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222</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Controller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The Track controller commands signal aspects and crossing gates. (2) A light shows its commanded aspect, or RED without power. A gate is down when commanded, or without power.</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signal and crossing commands. Out: signal and gate states.</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Command received. Lights and gates show the new state.</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SD-06</a:t>
                      </a:r>
                    </a:p>
                  </a:txBody>
                  <a:tcPr marL="73152" marR="73152" marT="27432" marB="27432">
                    <a:solidFill>
                      <a:srgbClr val="F7F9FC"/>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7: Deliver Track Circuit Signal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223</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Track Controller, Train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The Track controller sends a speed (whole m/s) and an authority (blocks) for each block. (2) The Track Model stores them as the signal of that block's track circuit. (3) Each train receives the signal of the block it is in. A failed circuit, or a block never commanded, carries speed 0 and authority 0.</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speed and authority per block. Out: TrackSignal in the train feed.</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Tick. The train gets the signal of its block.</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SD-07</a:t>
                      </a:r>
                    </a:p>
                  </a:txBody>
                  <a:tcPr marL="73152" marR="73152" marT="27432" marB="27432">
                    <a:solidFill>
                      <a:srgbClr val="F7F9FC"/>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8: Send Beacon Data</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224</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Train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Beacons stand on the blocks next to a station block. (2) When a train is in a beacon block, its feed carries the station name, platform side and underground flag.</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Out: Beacon in the train feed.</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Train in a beacon block. The feed carries the beacon.</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SD-08</a:t>
                      </a:r>
                    </a:p>
                  </a:txBody>
                  <a:tcPr marL="73152" marR="73152" marT="27432" marB="27432">
                    <a:solidFill>
                      <a:srgbClr val="F7F9FC"/>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UC 9: Send Signal Light to Train Controller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225</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A signal stands on the block before each switch. (2) On the tick a train enters such a block, the Track Model reports the light's colour for that train; on every other tick it reports none. (3) The harness sends it to the Train controller, which keeps it.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Out: signal_seen per train.</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Train enters a signal block. The Train controller receives the colour once.</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SD-09</a:t>
                      </a:r>
                    </a:p>
                  </a:txBody>
                  <a:tcPr marL="73152" marR="73152" marT="27432" marB="27432">
                    <a:solidFill>
                      <a:srgbClr val="F7F9FC"/>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10: Sell Tickets and Board Passengers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226</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Train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Each station may sell one ticket per tick, at a configured probability, and keeps a queue of waiting passengers. (2) A train that is stopped in a station block with a door open takes min(waiting, capacity) passengers. (3) The count is returned in the train feed.</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speed, doors, capacity. Out: passengers boarded.</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Train stopped with a door open. The waiting count falls and the train is told how many boarded.</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SD-10</a:t>
                      </a:r>
                    </a:p>
                  </a:txBody>
                  <a:tcPr marL="73152" marR="73152" marT="27432" marB="27432">
                    <a:solidFill>
                      <a:srgbClr val="F7F9FC"/>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11: Report Ticket Sales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227</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CTC Office</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Every tick the Track Model reports the tickets sold on that tick, by station. (2) It keeps no running total and sends none. (3) The harness sends the sales to the CTC office as (count, station) pairs.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Out: tickets_sold_now.</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Tick. The CTC office receives the sales of that tick.</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SD-11</a:t>
                      </a:r>
                    </a:p>
                  </a:txBody>
                  <a:tcPr marL="73152" marR="73152" marT="27432" marB="27432">
                    <a:solidFill>
                      <a:srgbClr val="F7F9FC"/>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12: Set Ambient Temperature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228</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Murphy</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Murphy enters a temperature in °F in the Track Model window. (2) It replaces the temperature the harness or test UI sends, until the module restarts.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temperature. Out: displayed ambient temperature.</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Value entered. Track temperature follows it.</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SD-12</a:t>
                      </a:r>
                    </a:p>
                  </a:txBody>
                  <a:tcPr marL="73152" marR="73152" marT="27432" marB="27432">
                    <a:solidFill>
                      <a:srgbClr val="F7F9FC"/>
                    </a:solidFill>
                  </a:tcPr>
                </a:tc>
              </a:tr>
            </a:tbl>
          </a:graphicData>
        </a:graphic>
      </p:graphicFrame>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13: Switch Track Heaters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229</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Murphy (indirect)</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The Track Model switches each section's heaters itself (D026). (2) Each section's track temperature eases toward ambient, or toward ambient plus 10 °C while its heaters run. (3) A power failure in any block of the section stops its heaters.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ambient temperature. Out: heater state and track temperature per section.</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Temperature change. Heater states and track temperatures change.</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SD-13</a:t>
                      </a:r>
                    </a:p>
                  </a:txBody>
                  <a:tcPr marL="73152" marR="73152" marT="27432" marB="27432">
                    <a:solidFill>
                      <a:srgbClr val="F7F9FC"/>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14: Inject or Clear Failure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230</a:t>
            </a:r>
          </a:p>
        </p:txBody>
      </p:sp>
      <p:graphicFrame>
        <p:nvGraphicFramePr>
          <p:cNvPr id="7" name="Table 6"/>
          <p:cNvGraphicFramePr>
            <a:graphicFrameLocks noGrp="1"/>
          </p:cNvGraphicFramePr>
          <p:nvPr/>
        </p:nvGraphicFramePr>
        <p:xfrm>
          <a:off x="411480" y="1097280"/>
          <a:ext cx="11368735" cy="160020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Murphy</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(1) Murphy selects a block and a failure: broken rail, track circuit or power. (2) The block reads occupied and its track circuit carries nothing, so a train in it gets speed 0 and authority 0. (3) A power failure also holds the block's switch, shows its light RED, drops its crossing gates and stops its section's heaters.</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 block and failure. Out: failure shown in the window and in the read-back.</a:t>
                      </a:r>
                    </a:p>
                  </a:txBody>
                  <a:tcPr marL="73152" marR="73152" marT="27432" marB="27432">
                    <a:solidFill>
                      <a:srgbClr val="F7F9FC"/>
                    </a:solidFill>
                  </a:tcPr>
                </a:tc>
              </a:tr>
              <a:tr h="320040">
                <a:tc>
                  <a:txBody>
                    <a:bodyPr wrap="square"/>
                    <a:lstStyle/>
                    <a:p>
                      <a:r>
                        <a:rPr sz="1600" b="1">
                          <a:solidFill>
                            <a:srgbClr val="FFFFFF"/>
                          </a:solidFill>
                          <a:latin typeface="Segoe UI"/>
                        </a:rPr>
                        <a:t>Stimulus and response</a:t>
                      </a:r>
                    </a:p>
                  </a:txBody>
                  <a:tcPr marL="73152" marR="73152" marT="27432" marB="27432">
                    <a:solidFill>
                      <a:srgbClr val="1F3A5F"/>
                    </a:solidFill>
                  </a:tcPr>
                </a:tc>
                <a:tc>
                  <a:txBody>
                    <a:bodyPr wrap="square"/>
                    <a:lstStyle/>
                    <a:p>
                      <a:r>
                        <a:rPr sz="1600" b="0">
                          <a:solidFill>
                            <a:srgbClr val="222B36"/>
                          </a:solidFill>
                          <a:latin typeface="Segoe UI"/>
                        </a:rPr>
                        <a:t>Failure selected. The Track controller sees it at once, between ticks.</a:t>
                      </a:r>
                    </a:p>
                  </a:txBody>
                  <a:tcPr marL="73152" marR="73152" marT="27432" marB="27432">
                    <a:solidFill>
                      <a:srgbClr val="FFFFFF"/>
                    </a:solidFill>
                  </a:tcPr>
                </a:tc>
              </a:tr>
              <a:tr h="320040">
                <a:tc>
                  <a:txBody>
                    <a:bodyPr wrap="square"/>
                    <a:lstStyle/>
                    <a:p>
                      <a:r>
                        <a:rPr sz="1600" b="1">
                          <a:solidFill>
                            <a:srgbClr val="FFFFFF"/>
                          </a:solidFill>
                          <a:latin typeface="Segoe UI"/>
                        </a:rPr>
                        <a:t>Sequence</a:t>
                      </a:r>
                    </a:p>
                  </a:txBody>
                  <a:tcPr marL="73152" marR="73152" marT="27432" marB="27432">
                    <a:solidFill>
                      <a:srgbClr val="1F3A5F"/>
                    </a:solidFill>
                  </a:tcPr>
                </a:tc>
                <a:tc>
                  <a:txBody>
                    <a:bodyPr wrap="square"/>
                    <a:lstStyle/>
                    <a:p>
                      <a:r>
                        <a:rPr sz="1600" b="0">
                          <a:solidFill>
                            <a:srgbClr val="222B36"/>
                          </a:solidFill>
                          <a:latin typeface="Segoe UI"/>
                        </a:rPr>
                        <a:t>SD-14</a:t>
                      </a:r>
                    </a:p>
                  </a:txBody>
                  <a:tcPr marL="73152" marR="73152" marT="27432" marB="27432">
                    <a:solidFill>
                      <a:srgbClr val="F7F9FC"/>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Track Model architecture (component view)</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Architecture</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231</a:t>
            </a:r>
          </a:p>
        </p:txBody>
      </p:sp>
      <p:pic>
        <p:nvPicPr>
          <p:cNvPr id="7" name="Picture 6" descr="06_component.png"/>
          <p:cNvPicPr>
            <a:picLocks noChangeAspect="1"/>
          </p:cNvPicPr>
          <p:nvPr/>
        </p:nvPicPr>
        <p:blipFill>
          <a:blip r:embed="rId3"/>
          <a:stretch>
            <a:fillRect/>
          </a:stretch>
        </p:blipFill>
        <p:spPr>
          <a:xfrm>
            <a:off x="2279046" y="978408"/>
            <a:ext cx="7633603" cy="5468112"/>
          </a:xfrm>
          <a:prstGeom prst="rect">
            <a:avLst/>
          </a:prstGeom>
        </p:spPr>
      </p:pic>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Boundary types of the Track Model (`track_model/interface.py`)</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232</a:t>
            </a:r>
          </a:p>
        </p:txBody>
      </p:sp>
      <p:pic>
        <p:nvPicPr>
          <p:cNvPr id="7" name="Picture 6" descr="16_types.png"/>
          <p:cNvPicPr>
            <a:picLocks noChangeAspect="1"/>
          </p:cNvPicPr>
          <p:nvPr/>
        </p:nvPicPr>
        <p:blipFill>
          <a:blip r:embed="rId3"/>
          <a:stretch>
            <a:fillRect/>
          </a:stretch>
        </p:blipFill>
        <p:spPr>
          <a:xfrm>
            <a:off x="411480" y="1833939"/>
            <a:ext cx="11368735" cy="3757049"/>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Class diagram 1: module core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233</a:t>
            </a:r>
          </a:p>
        </p:txBody>
      </p:sp>
      <p:pic>
        <p:nvPicPr>
          <p:cNvPr id="7" name="Picture 6" descr="04_class_core.png"/>
          <p:cNvPicPr>
            <a:picLocks noChangeAspect="1"/>
          </p:cNvPicPr>
          <p:nvPr/>
        </p:nvPicPr>
        <p:blipFill>
          <a:blip r:embed="rId3"/>
          <a:stretch>
            <a:fillRect/>
          </a:stretch>
        </p:blipFill>
        <p:spPr>
          <a:xfrm>
            <a:off x="2511081" y="978408"/>
            <a:ext cx="7169533" cy="5468112"/>
          </a:xfrm>
          <a:prstGeom prst="rect">
            <a:avLst/>
          </a:prstGeom>
        </p:spPr>
      </p:pic>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Class diagram 2: window and test link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234</a:t>
            </a:r>
          </a:p>
        </p:txBody>
      </p:sp>
      <p:pic>
        <p:nvPicPr>
          <p:cNvPr id="7" name="Picture 6" descr="05_class_ui.png"/>
          <p:cNvPicPr>
            <a:picLocks noChangeAspect="1"/>
          </p:cNvPicPr>
          <p:nvPr/>
        </p:nvPicPr>
        <p:blipFill>
          <a:blip r:embed="rId3"/>
          <a:stretch>
            <a:fillRect/>
          </a:stretch>
        </p:blipFill>
        <p:spPr>
          <a:xfrm>
            <a:off x="3614592" y="978408"/>
            <a:ext cx="4962510" cy="5468112"/>
          </a:xfrm>
          <a:prstGeom prst="rect">
            <a:avLst/>
          </a:prstGeom>
        </p:spPr>
      </p:pic>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The `TrackModel` Protocol and the harness edge functions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235</a:t>
            </a:r>
          </a:p>
        </p:txBody>
      </p:sp>
      <p:pic>
        <p:nvPicPr>
          <p:cNvPr id="7" name="Picture 6" descr="17_protocols.png"/>
          <p:cNvPicPr>
            <a:picLocks noChangeAspect="1"/>
          </p:cNvPicPr>
          <p:nvPr/>
        </p:nvPicPr>
        <p:blipFill>
          <a:blip r:embed="rId3"/>
          <a:stretch>
            <a:fillRect/>
          </a:stretch>
        </p:blipFill>
        <p:spPr>
          <a:xfrm>
            <a:off x="411480" y="2059939"/>
            <a:ext cx="11368735" cy="3305049"/>
          </a:xfrm>
          <a:prstGeom prst="rect">
            <a:avLst/>
          </a:prstGeom>
        </p:spPr>
      </p:pic>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Block state machine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236</a:t>
            </a:r>
          </a:p>
        </p:txBody>
      </p:sp>
      <p:pic>
        <p:nvPicPr>
          <p:cNvPr id="7" name="Picture 6" descr="13_state_block.png"/>
          <p:cNvPicPr>
            <a:picLocks noChangeAspect="1"/>
          </p:cNvPicPr>
          <p:nvPr/>
        </p:nvPicPr>
        <p:blipFill>
          <a:blip r:embed="rId3"/>
          <a:stretch>
            <a:fillRect/>
          </a:stretch>
        </p:blipFill>
        <p:spPr>
          <a:xfrm>
            <a:off x="2049711" y="978408"/>
            <a:ext cx="8092272" cy="5468112"/>
          </a:xfrm>
          <a:prstGeom prst="rect">
            <a:avLst/>
          </a:prstGeom>
        </p:spPr>
      </p:pic>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SD-01 Load a track layout (UC-1)</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237</a:t>
            </a:r>
          </a:p>
        </p:txBody>
      </p:sp>
      <p:pic>
        <p:nvPicPr>
          <p:cNvPr id="7" name="Picture 6" descr="sd01_load.png"/>
          <p:cNvPicPr>
            <a:picLocks noChangeAspect="1"/>
          </p:cNvPicPr>
          <p:nvPr/>
        </p:nvPicPr>
        <p:blipFill>
          <a:blip r:embed="rId3"/>
          <a:stretch>
            <a:fillRect/>
          </a:stretch>
        </p:blipFill>
        <p:spPr>
          <a:xfrm>
            <a:off x="1723069" y="978408"/>
            <a:ext cx="8745556" cy="5468112"/>
          </a:xfrm>
          <a:prstGeom prst="rect">
            <a:avLst/>
          </a:prstGeom>
        </p:spPr>
      </p:pic>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SD-02 Display track properties (UC-2)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238</a:t>
            </a:r>
          </a:p>
        </p:txBody>
      </p:sp>
      <p:pic>
        <p:nvPicPr>
          <p:cNvPr id="7" name="Picture 6" descr="sd02_display.png"/>
          <p:cNvPicPr>
            <a:picLocks noChangeAspect="1"/>
          </p:cNvPicPr>
          <p:nvPr/>
        </p:nvPicPr>
        <p:blipFill>
          <a:blip r:embed="rId3"/>
          <a:stretch>
            <a:fillRect/>
          </a:stretch>
        </p:blipFill>
        <p:spPr>
          <a:xfrm>
            <a:off x="411480" y="1711884"/>
            <a:ext cx="11368735" cy="4001159"/>
          </a:xfrm>
          <a:prstGeom prst="rect">
            <a:avLst/>
          </a:prstGeom>
        </p:spPr>
      </p:pic>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SD-03 Track train position and occupancy (UC-3)</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239</a:t>
            </a:r>
          </a:p>
        </p:txBody>
      </p:sp>
      <p:pic>
        <p:nvPicPr>
          <p:cNvPr id="7" name="Picture 6" descr="sd03_position.png"/>
          <p:cNvPicPr>
            <a:picLocks noChangeAspect="1"/>
          </p:cNvPicPr>
          <p:nvPr/>
        </p:nvPicPr>
        <p:blipFill>
          <a:blip r:embed="rId3"/>
          <a:stretch>
            <a:fillRect/>
          </a:stretch>
        </p:blipFill>
        <p:spPr>
          <a:xfrm>
            <a:off x="411480" y="1126356"/>
            <a:ext cx="11368735" cy="5172216"/>
          </a:xfrm>
          <a:prstGeom prst="rect">
            <a:avLst/>
          </a:prstGeom>
        </p:spPr>
      </p:pic>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SD-04 Report state to the Track Controller (UC-4)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240</a:t>
            </a:r>
          </a:p>
        </p:txBody>
      </p:sp>
      <p:pic>
        <p:nvPicPr>
          <p:cNvPr id="7" name="Picture 6" descr="sd04_report.png"/>
          <p:cNvPicPr>
            <a:picLocks noChangeAspect="1"/>
          </p:cNvPicPr>
          <p:nvPr/>
        </p:nvPicPr>
        <p:blipFill>
          <a:blip r:embed="rId3"/>
          <a:stretch>
            <a:fillRect/>
          </a:stretch>
        </p:blipFill>
        <p:spPr>
          <a:xfrm>
            <a:off x="411480" y="1629788"/>
            <a:ext cx="11368735" cy="4165351"/>
          </a:xfrm>
          <a:prstGeom prst="rect">
            <a:avLst/>
          </a:prstGeom>
        </p:spPr>
      </p:pic>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SD-05 Apply a switch position (UC-5)</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241</a:t>
            </a:r>
          </a:p>
        </p:txBody>
      </p:sp>
      <p:pic>
        <p:nvPicPr>
          <p:cNvPr id="7" name="Picture 6" descr="sd05_switch.png"/>
          <p:cNvPicPr>
            <a:picLocks noChangeAspect="1"/>
          </p:cNvPicPr>
          <p:nvPr/>
        </p:nvPicPr>
        <p:blipFill>
          <a:blip r:embed="rId3"/>
          <a:stretch>
            <a:fillRect/>
          </a:stretch>
        </p:blipFill>
        <p:spPr>
          <a:xfrm>
            <a:off x="411480" y="1478043"/>
            <a:ext cx="11368735" cy="4468842"/>
          </a:xfrm>
          <a:prstGeom prst="rect">
            <a:avLst/>
          </a:prstGeom>
        </p:spPr>
      </p:pic>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SD-06 Apply signal lights and crossing gates (UC-6)</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242</a:t>
            </a:r>
          </a:p>
        </p:txBody>
      </p:sp>
      <p:pic>
        <p:nvPicPr>
          <p:cNvPr id="7" name="Picture 6" descr="sd06_signal.png"/>
          <p:cNvPicPr>
            <a:picLocks noChangeAspect="1"/>
          </p:cNvPicPr>
          <p:nvPr/>
        </p:nvPicPr>
        <p:blipFill>
          <a:blip r:embed="rId3"/>
          <a:stretch>
            <a:fillRect/>
          </a:stretch>
        </p:blipFill>
        <p:spPr>
          <a:xfrm>
            <a:off x="411480" y="1599349"/>
            <a:ext cx="11368735" cy="4226229"/>
          </a:xfrm>
          <a:prstGeom prst="rect">
            <a:avLst/>
          </a:prstGeom>
        </p:spPr>
      </p:pic>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SD-07 Deliver the track circuit signal (UC-7)</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243</a:t>
            </a:r>
          </a:p>
        </p:txBody>
      </p:sp>
      <p:pic>
        <p:nvPicPr>
          <p:cNvPr id="7" name="Picture 6" descr="sd07_circuit.png"/>
          <p:cNvPicPr>
            <a:picLocks noChangeAspect="1"/>
          </p:cNvPicPr>
          <p:nvPr/>
        </p:nvPicPr>
        <p:blipFill>
          <a:blip r:embed="rId3"/>
          <a:stretch>
            <a:fillRect/>
          </a:stretch>
        </p:blipFill>
        <p:spPr>
          <a:xfrm>
            <a:off x="411480" y="1234972"/>
            <a:ext cx="11368735" cy="4954984"/>
          </a:xfrm>
          <a:prstGeom prst="rect">
            <a:avLst/>
          </a:prstGeom>
        </p:spPr>
      </p:pic>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SD-08 Send beacon data (UC-8)</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244</a:t>
            </a:r>
          </a:p>
        </p:txBody>
      </p:sp>
      <p:pic>
        <p:nvPicPr>
          <p:cNvPr id="7" name="Picture 6" descr="sd08_beacon.png"/>
          <p:cNvPicPr>
            <a:picLocks noChangeAspect="1"/>
          </p:cNvPicPr>
          <p:nvPr/>
        </p:nvPicPr>
        <p:blipFill>
          <a:blip r:embed="rId3"/>
          <a:stretch>
            <a:fillRect/>
          </a:stretch>
        </p:blipFill>
        <p:spPr>
          <a:xfrm>
            <a:off x="692729" y="978408"/>
            <a:ext cx="10806237" cy="5468112"/>
          </a:xfrm>
          <a:prstGeom prst="rect">
            <a:avLst/>
          </a:prstGeom>
        </p:spPr>
      </p:pic>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900" b="1">
                <a:solidFill>
                  <a:srgbClr val="FFFFFF"/>
                </a:solidFill>
                <a:latin typeface="Segoe UI"/>
              </a:rPr>
              <a:t>SD-09 Send the signal light to the Train Controller (UC-9)</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245</a:t>
            </a:r>
          </a:p>
        </p:txBody>
      </p:sp>
      <p:pic>
        <p:nvPicPr>
          <p:cNvPr id="7" name="Picture 6" descr="sd09_signalseen.png"/>
          <p:cNvPicPr>
            <a:picLocks noChangeAspect="1"/>
          </p:cNvPicPr>
          <p:nvPr/>
        </p:nvPicPr>
        <p:blipFill>
          <a:blip r:embed="rId3"/>
          <a:stretch>
            <a:fillRect/>
          </a:stretch>
        </p:blipFill>
        <p:spPr>
          <a:xfrm>
            <a:off x="776156" y="978408"/>
            <a:ext cx="10639383" cy="5468112"/>
          </a:xfrm>
          <a:prstGeom prst="rect">
            <a:avLst/>
          </a:prstGeom>
        </p:spPr>
      </p:pic>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SD-10 Sell tickets and board passengers (UC-10)</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246</a:t>
            </a:r>
          </a:p>
        </p:txBody>
      </p:sp>
      <p:pic>
        <p:nvPicPr>
          <p:cNvPr id="7" name="Picture 6" descr="sd10_boarding.png"/>
          <p:cNvPicPr>
            <a:picLocks noChangeAspect="1"/>
          </p:cNvPicPr>
          <p:nvPr/>
        </p:nvPicPr>
        <p:blipFill>
          <a:blip r:embed="rId3"/>
          <a:stretch>
            <a:fillRect/>
          </a:stretch>
        </p:blipFill>
        <p:spPr>
          <a:xfrm>
            <a:off x="1180656" y="978408"/>
            <a:ext cx="9830382" cy="5468112"/>
          </a:xfrm>
          <a:prstGeom prst="rect">
            <a:avLst/>
          </a:prstGeom>
        </p:spPr>
      </p:pic>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SD-11 Report ticket sales (UC-11)</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247</a:t>
            </a:r>
          </a:p>
        </p:txBody>
      </p:sp>
      <p:pic>
        <p:nvPicPr>
          <p:cNvPr id="7" name="Picture 6" descr="sd11_tickets.png"/>
          <p:cNvPicPr>
            <a:picLocks noChangeAspect="1"/>
          </p:cNvPicPr>
          <p:nvPr/>
        </p:nvPicPr>
        <p:blipFill>
          <a:blip r:embed="rId3"/>
          <a:stretch>
            <a:fillRect/>
          </a:stretch>
        </p:blipFill>
        <p:spPr>
          <a:xfrm>
            <a:off x="411480" y="2151431"/>
            <a:ext cx="11368735" cy="3122065"/>
          </a:xfrm>
          <a:prstGeom prst="rect">
            <a:avLst/>
          </a:prstGeom>
        </p:spPr>
      </p:pic>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SD-12 Set the ambient temperature (UC-12)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248</a:t>
            </a:r>
          </a:p>
        </p:txBody>
      </p:sp>
      <p:pic>
        <p:nvPicPr>
          <p:cNvPr id="7" name="Picture 6" descr="sd12_temperature.png"/>
          <p:cNvPicPr>
            <a:picLocks noChangeAspect="1"/>
          </p:cNvPicPr>
          <p:nvPr/>
        </p:nvPicPr>
        <p:blipFill>
          <a:blip r:embed="rId3"/>
          <a:stretch>
            <a:fillRect/>
          </a:stretch>
        </p:blipFill>
        <p:spPr>
          <a:xfrm>
            <a:off x="411480" y="1653130"/>
            <a:ext cx="11368735" cy="4118667"/>
          </a:xfrm>
          <a:prstGeom prst="rect">
            <a:avLst/>
          </a:prstGeom>
        </p:spPr>
      </p:pic>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SD-13 Switch the track heaters (UC-13)</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249</a:t>
            </a:r>
          </a:p>
        </p:txBody>
      </p:sp>
      <p:pic>
        <p:nvPicPr>
          <p:cNvPr id="7" name="Picture 6" descr="sd13_heaters.png"/>
          <p:cNvPicPr>
            <a:picLocks noChangeAspect="1"/>
          </p:cNvPicPr>
          <p:nvPr/>
        </p:nvPicPr>
        <p:blipFill>
          <a:blip r:embed="rId3"/>
          <a:stretch>
            <a:fillRect/>
          </a:stretch>
        </p:blipFill>
        <p:spPr>
          <a:xfrm>
            <a:off x="411480" y="980047"/>
            <a:ext cx="11368735" cy="5464833"/>
          </a:xfrm>
          <a:prstGeom prst="rect">
            <a:avLst/>
          </a:prstGeom>
        </p:spPr>
      </p:pic>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SD-14 Inject or clear a failure (UC-14)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250</a:t>
            </a:r>
          </a:p>
        </p:txBody>
      </p:sp>
      <p:pic>
        <p:nvPicPr>
          <p:cNvPr id="7" name="Picture 6" descr="sd14_failure.png"/>
          <p:cNvPicPr>
            <a:picLocks noChangeAspect="1"/>
          </p:cNvPicPr>
          <p:nvPr/>
        </p:nvPicPr>
        <p:blipFill>
          <a:blip r:embed="rId3"/>
          <a:stretch>
            <a:fillRect/>
          </a:stretch>
        </p:blipFill>
        <p:spPr>
          <a:xfrm>
            <a:off x="411480" y="1811345"/>
            <a:ext cx="11368735" cy="3802238"/>
          </a:xfrm>
          <a:prstGeom prst="rect">
            <a:avLst/>
          </a:prstGeom>
        </p:spPr>
      </p:pic>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500" b="1">
                <a:solidFill>
                  <a:srgbClr val="FFFFFF"/>
                </a:solidFill>
                <a:latin typeface="Segoe UI"/>
              </a:rPr>
              <a:t>SD-15 One tick in the Track Model (overview)</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251</a:t>
            </a:r>
          </a:p>
        </p:txBody>
      </p:sp>
      <p:pic>
        <p:nvPicPr>
          <p:cNvPr id="7" name="Picture 6" descr="sd15_tick.png"/>
          <p:cNvPicPr>
            <a:picLocks noChangeAspect="1"/>
          </p:cNvPicPr>
          <p:nvPr/>
        </p:nvPicPr>
        <p:blipFill>
          <a:blip r:embed="rId3"/>
          <a:stretch>
            <a:fillRect/>
          </a:stretch>
        </p:blipFill>
        <p:spPr>
          <a:xfrm>
            <a:off x="1971043" y="978408"/>
            <a:ext cx="8249608" cy="5468112"/>
          </a:xfrm>
          <a:prstGeom prst="rect">
            <a:avLst/>
          </a:prstGeom>
        </p:spPr>
      </p:pic>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SD-16 Dispatch a train (system level)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Track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252</a:t>
            </a:r>
          </a:p>
        </p:txBody>
      </p:sp>
      <p:pic>
        <p:nvPicPr>
          <p:cNvPr id="7" name="Picture 6" descr="sd16_dispatch.png"/>
          <p:cNvPicPr>
            <a:picLocks noChangeAspect="1"/>
          </p:cNvPicPr>
          <p:nvPr/>
        </p:nvPicPr>
        <p:blipFill>
          <a:blip r:embed="rId3"/>
          <a:stretch>
            <a:fillRect/>
          </a:stretch>
        </p:blipFill>
        <p:spPr>
          <a:xfrm>
            <a:off x="453787" y="978408"/>
            <a:ext cx="11284120" cy="5468112"/>
          </a:xfrm>
          <a:prstGeom prst="rect">
            <a:avLst/>
          </a:prstGeom>
        </p:spPr>
      </p:pic>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Train Model</a:t>
            </a:r>
          </a:p>
        </p:txBody>
      </p:sp>
      <p:sp>
        <p:nvSpPr>
          <p:cNvPr id="5" name="TextBox 4"/>
          <p:cNvSpPr txBox="1"/>
          <p:nvPr/>
        </p:nvSpPr>
        <p:spPr>
          <a:xfrm>
            <a:off x="822960" y="3474720"/>
            <a:ext cx="10515600" cy="914400"/>
          </a:xfrm>
          <a:prstGeom prst="rect">
            <a:avLst/>
          </a:prstGeom>
          <a:noFill/>
        </p:spPr>
        <p:txBody>
          <a:bodyPr wrap="square" anchor="t" lIns="45720" rIns="45720">
            <a:spAutoFit/>
          </a:bodyPr>
          <a:lstStyle/>
          <a:p>
            <a:pPr algn="l"/>
            <a:r>
              <a:rPr sz="2000" b="0">
                <a:solidFill>
                  <a:srgbClr val="5B6775"/>
                </a:solidFill>
                <a:latin typeface="Segoe UI"/>
              </a:rPr>
              <a:t>Kevin Schillinger · SDD Section 5.5</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Train Model: what it does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254</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Physics of every train: power, grade, rolling resistance and brakes give its motion</a:t>
            </a:r>
          </a:p>
          <a:p>
            <a:pPr>
              <a:spcAft>
                <a:spcPts val="800"/>
              </a:spcAft>
            </a:pPr>
            <a:r>
              <a:rPr sz="2400">
                <a:solidFill>
                  <a:srgbClr val="222B36"/>
                </a:solidFill>
                <a:latin typeface="Segoe UI"/>
              </a:rPr>
              <a:t>•  Five-car Bombardier Flexity 2; passengers change its mass</a:t>
            </a:r>
          </a:p>
          <a:p>
            <a:pPr>
              <a:spcAft>
                <a:spcPts val="800"/>
              </a:spcAft>
            </a:pPr>
            <a:r>
              <a:rPr sz="2400">
                <a:solidFill>
                  <a:srgbClr val="222B36"/>
                </a:solidFill>
                <a:latin typeface="Segoe UI"/>
              </a:rPr>
              <a:t>•  Doors, lights, cabin temperature and announcements follow the Train Controller</a:t>
            </a:r>
          </a:p>
          <a:p>
            <a:pPr>
              <a:spcAft>
                <a:spcPts val="800"/>
              </a:spcAft>
            </a:pPr>
            <a:r>
              <a:rPr sz="2400">
                <a:solidFill>
                  <a:srgbClr val="222B36"/>
                </a:solidFill>
                <a:latin typeface="Segoe UI"/>
              </a:rPr>
              <a:t>•  Passes the track circuit and beacon on to the Train Controller</a:t>
            </a:r>
          </a:p>
          <a:p>
            <a:pPr>
              <a:spcAft>
                <a:spcPts val="800"/>
              </a:spcAft>
            </a:pPr>
            <a:r>
              <a:rPr sz="2400">
                <a:solidFill>
                  <a:srgbClr val="222B36"/>
                </a:solidFill>
                <a:latin typeface="Segoe UI"/>
              </a:rPr>
              <a:t>•  Reports each train's block and offset to the Track Model</a:t>
            </a:r>
          </a:p>
          <a:p>
            <a:pPr>
              <a:spcAft>
                <a:spcPts val="800"/>
              </a:spcAft>
            </a:pPr>
            <a:r>
              <a:rPr sz="2400">
                <a:solidFill>
                  <a:srgbClr val="222B36"/>
                </a:solidFill>
                <a:latin typeface="Segoe UI"/>
              </a:rPr>
              <a:t>•  Murphy injects engine, signal pickup and brake failures; passengers pull the emergency brake</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Train Model use case diagram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255</a:t>
            </a:r>
          </a:p>
        </p:txBody>
      </p:sp>
      <p:pic>
        <p:nvPicPr>
          <p:cNvPr id="7" name="Picture 6" descr="01_use-case.png"/>
          <p:cNvPicPr>
            <a:picLocks noChangeAspect="1"/>
          </p:cNvPicPr>
          <p:nvPr/>
        </p:nvPicPr>
        <p:blipFill>
          <a:blip r:embed="rId3"/>
          <a:stretch>
            <a:fillRect/>
          </a:stretch>
        </p:blipFill>
        <p:spPr>
          <a:xfrm>
            <a:off x="462362" y="978408"/>
            <a:ext cx="11266971" cy="5468112"/>
          </a:xfrm>
          <a:prstGeom prst="rect">
            <a:avLst/>
          </a:prstGeom>
        </p:spPr>
      </p:pic>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Train Model: use cases by role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256</a:t>
            </a:r>
          </a:p>
        </p:txBody>
      </p:sp>
      <p:pic>
        <p:nvPicPr>
          <p:cNvPr id="7" name="Picture 6" descr="02_use-cases-by-role.png"/>
          <p:cNvPicPr>
            <a:picLocks noChangeAspect="1"/>
          </p:cNvPicPr>
          <p:nvPr/>
        </p:nvPicPr>
        <p:blipFill>
          <a:blip r:embed="rId3"/>
          <a:stretch>
            <a:fillRect/>
          </a:stretch>
        </p:blipFill>
        <p:spPr>
          <a:xfrm>
            <a:off x="411480" y="1110606"/>
            <a:ext cx="11368735" cy="5203716"/>
          </a:xfrm>
          <a:prstGeom prst="rect">
            <a:avLst/>
          </a:prstGeom>
        </p:spPr>
      </p:pic>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UC-TM-01 Advance physical motion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257</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Primary actor</a:t>
                      </a:r>
                    </a:p>
                  </a:txBody>
                  <a:tcPr marL="73152" marR="73152" marT="27432" marB="27432">
                    <a:solidFill>
                      <a:srgbClr val="1F3A5F"/>
                    </a:solidFill>
                  </a:tcPr>
                </a:tc>
                <a:tc>
                  <a:txBody>
                    <a:bodyPr wrap="square"/>
                    <a:lstStyle/>
                    <a:p>
                      <a:r>
                        <a:rPr sz="1600" b="0">
                          <a:solidFill>
                            <a:srgbClr val="222B36"/>
                          </a:solidFill>
                          <a:latin typeface="Segoe UI"/>
                        </a:rPr>
                        <a:t>Harness / simulation clock.</a:t>
                      </a:r>
                    </a:p>
                  </a:txBody>
                  <a:tcPr marL="73152" marR="73152" marT="27432" marB="27432">
                    <a:solidFill>
                      <a:srgbClr val="F7F9FC"/>
                    </a:solidFill>
                  </a:tcPr>
                </a:tc>
              </a:tr>
              <a:tr h="320040">
                <a:tc>
                  <a:txBody>
                    <a:bodyPr wrap="square"/>
                    <a:lstStyle/>
                    <a:p>
                      <a:r>
                        <a:rPr sz="1600" b="1">
                          <a:solidFill>
                            <a:srgbClr val="FFFFFF"/>
                          </a:solidFill>
                          <a:latin typeface="Segoe UI"/>
                        </a:rPr>
                        <a:t>Supporting actors</a:t>
                      </a:r>
                    </a:p>
                  </a:txBody>
                  <a:tcPr marL="73152" marR="73152" marT="27432" marB="27432">
                    <a:solidFill>
                      <a:srgbClr val="1F3A5F"/>
                    </a:solidFill>
                  </a:tcPr>
                </a:tc>
                <a:tc>
                  <a:txBody>
                    <a:bodyPr wrap="square"/>
                    <a:lstStyle/>
                    <a:p>
                      <a:r>
                        <a:rPr sz="1600" b="0">
                          <a:solidFill>
                            <a:srgbClr val="222B36"/>
                          </a:solidFill>
                          <a:latin typeface="Segoe UI"/>
                        </a:rPr>
                        <a:t>Train Controller and Track Model.</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REQ-FUNC-039, REQ-INTF-013.</a:t>
                      </a:r>
                    </a:p>
                  </a:txBody>
                  <a:tcPr marL="73152" marR="73152" marT="27432" marB="27432">
                    <a:solidFill>
                      <a:srgbClr val="F7F9FC"/>
                    </a:solidFill>
                  </a:tcPr>
                </a:tc>
              </a:tr>
              <a:tr h="320040">
                <a:tc>
                  <a:txBody>
                    <a:bodyPr wrap="square"/>
                    <a:lstStyle/>
                    <a:p>
                      <a:r>
                        <a:rPr sz="1600" b="1">
                          <a:solidFill>
                            <a:srgbClr val="FFFFFF"/>
                          </a:solidFill>
                          <a:latin typeface="Segoe UI"/>
                        </a:rPr>
                        <a:t>Preconditions</a:t>
                      </a:r>
                    </a:p>
                  </a:txBody>
                  <a:tcPr marL="73152" marR="73152" marT="27432" marB="27432">
                    <a:solidFill>
                      <a:srgbClr val="1F3A5F"/>
                    </a:solidFill>
                  </a:tcPr>
                </a:tc>
                <a:tc>
                  <a:txBody>
                    <a:bodyPr wrap="square"/>
                    <a:lstStyle/>
                    <a:p>
                      <a:r>
                        <a:rPr sz="1600" b="0">
                          <a:solidFill>
                            <a:srgbClr val="222B36"/>
                          </a:solidFill>
                          <a:latin typeface="Segoe UI"/>
                        </a:rPr>
                        <a:t>A train exists and has valid controller and track inputs.</a:t>
                      </a:r>
                    </a:p>
                  </a:txBody>
                  <a:tcPr marL="73152" marR="73152" marT="27432" marB="27432">
                    <a:solidFill>
                      <a:srgbClr val="FFFFFF"/>
                    </a:solidFill>
                  </a:tcPr>
                </a:tc>
              </a:tr>
              <a:tr h="320040">
                <a:tc>
                  <a:txBody>
                    <a:bodyPr wrap="square"/>
                    <a:lstStyle/>
                    <a:p>
                      <a:r>
                        <a:rPr sz="1600" b="1">
                          <a:solidFill>
                            <a:srgbClr val="FFFFFF"/>
                          </a:solidFill>
                          <a:latin typeface="Segoe UI"/>
                        </a:rPr>
                        <a:t>Trigger</a:t>
                      </a:r>
                    </a:p>
                  </a:txBody>
                  <a:tcPr marL="73152" marR="73152" marT="27432" marB="27432">
                    <a:solidFill>
                      <a:srgbClr val="1F3A5F"/>
                    </a:solidFill>
                  </a:tcPr>
                </a:tc>
                <a:tc>
                  <a:txBody>
                    <a:bodyPr wrap="square"/>
                    <a:lstStyle/>
                    <a:p>
                      <a:r>
                        <a:rPr sz="1600" b="0">
                          <a:solidFill>
                            <a:srgbClr val="222B36"/>
                          </a:solidFill>
                          <a:latin typeface="Segoe UI"/>
                        </a:rPr>
                        <a:t>A fixed-duration tick arrives.</a:t>
                      </a:r>
                    </a:p>
                  </a:txBody>
                  <a:tcPr marL="73152" marR="73152" marT="27432" marB="27432">
                    <a:solidFill>
                      <a:srgbClr val="F7F9FC"/>
                    </a:solidFill>
                  </a:tcPr>
                </a:tc>
              </a:tr>
              <a:tr h="320040">
                <a:tc>
                  <a:txBody>
                    <a:bodyPr wrap="square"/>
                    <a:lstStyle/>
                    <a:p>
                      <a:r>
                        <a:rPr sz="1600" b="1">
                          <a:solidFill>
                            <a:srgbClr val="FFFFFF"/>
                          </a:solidFill>
                          <a:latin typeface="Segoe UI"/>
                        </a:rPr>
                        <a:t>Main success scenario</a:t>
                      </a:r>
                    </a:p>
                  </a:txBody>
                  <a:tcPr marL="73152" marR="73152" marT="27432" marB="27432">
                    <a:solidFill>
                      <a:srgbClr val="1F3A5F"/>
                    </a:solidFill>
                  </a:tcPr>
                </a:tc>
                <a:tc>
                  <a:txBody>
                    <a:bodyPr wrap="square"/>
                    <a:lstStyle/>
                    <a:p>
                      <a:r>
                        <a:rPr sz="1600" b="0">
                          <a:solidFill>
                            <a:srgbClr val="222B36"/>
                          </a:solidFill>
                          <a:latin typeface="Segoe UI"/>
                        </a:rPr>
                        <a:t>Validate inputs; determine operating mass and active forces; integrate signed motion; update temperature and elapsed time; return controller and track outputs. The window refreshes the train's readouts.</a:t>
                      </a:r>
                    </a:p>
                  </a:txBody>
                  <a:tcPr marL="73152" marR="73152" marT="27432" marB="27432">
                    <a:solidFill>
                      <a:srgbClr val="FFFFFF"/>
                    </a:solidFill>
                  </a:tcPr>
                </a:tc>
              </a:tr>
              <a:tr h="320040">
                <a:tc>
                  <a:txBody>
                    <a:bodyPr wrap="square"/>
                    <a:lstStyle/>
                    <a:p>
                      <a:r>
                        <a:rPr sz="1600" b="1">
                          <a:solidFill>
                            <a:srgbClr val="FFFFFF"/>
                          </a:solidFill>
                          <a:latin typeface="Segoe UI"/>
                        </a:rPr>
                        <a:t>Alternate flows</a:t>
                      </a:r>
                    </a:p>
                  </a:txBody>
                  <a:tcPr marL="73152" marR="73152" marT="27432" marB="27432">
                    <a:solidFill>
                      <a:srgbClr val="1F3A5F"/>
                    </a:solidFill>
                  </a:tcPr>
                </a:tc>
                <a:tc>
                  <a:txBody>
                    <a:bodyPr wrap="square"/>
                    <a:lstStyle/>
                    <a:p>
                      <a:r>
                        <a:rPr sz="1600" b="0">
                          <a:solidFill>
                            <a:srgbClr val="222B36"/>
                          </a:solidFill>
                          <a:latin typeface="Segoe UI"/>
                        </a:rPr>
                        <a:t>Invalid input rejects that train's step without changing its physical state. Engine failure removes traction. A grade may hold the train or cause rollback. Pause produces no new physical step.</a:t>
                      </a:r>
                    </a:p>
                  </a:txBody>
                  <a:tcPr marL="73152" marR="73152" marT="27432" marB="27432">
                    <a:solidFill>
                      <a:srgbClr val="F7F9FC"/>
                    </a:solidFill>
                  </a:tcPr>
                </a:tc>
              </a:tr>
              <a:tr h="320040">
                <a:tc>
                  <a:txBody>
                    <a:bodyPr wrap="square"/>
                    <a:lstStyle/>
                    <a:p>
                      <a:r>
                        <a:rPr sz="1600" b="1">
                          <a:solidFill>
                            <a:srgbClr val="FFFFFF"/>
                          </a:solidFill>
                          <a:latin typeface="Segoe UI"/>
                        </a:rPr>
                        <a:t>Postcondition</a:t>
                      </a:r>
                    </a:p>
                  </a:txBody>
                  <a:tcPr marL="73152" marR="73152" marT="27432" marB="27432">
                    <a:solidFill>
                      <a:srgbClr val="1F3A5F"/>
                    </a:solidFill>
                  </a:tcPr>
                </a:tc>
                <a:tc>
                  <a:txBody>
                    <a:bodyPr wrap="square"/>
                    <a:lstStyle/>
                    <a:p>
                      <a:r>
                        <a:rPr sz="1600" b="0">
                          <a:solidFill>
                            <a:srgbClr val="222B36"/>
                          </a:solidFill>
                          <a:latin typeface="Segoe UI"/>
                        </a:rPr>
                        <a:t>Accepted outputs describe the end of the tick.</a:t>
                      </a:r>
                    </a:p>
                  </a:txBody>
                  <a:tcPr marL="73152" marR="73152" marT="27432" marB="27432">
                    <a:solidFill>
                      <a:srgbClr val="FFFF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UC-TM-02 View and select a train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258</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Primary actor</a:t>
                      </a:r>
                    </a:p>
                  </a:txBody>
                  <a:tcPr marL="73152" marR="73152" marT="27432" marB="27432">
                    <a:solidFill>
                      <a:srgbClr val="1F3A5F"/>
                    </a:solidFill>
                  </a:tcPr>
                </a:tc>
                <a:tc>
                  <a:txBody>
                    <a:bodyPr wrap="square"/>
                    <a:lstStyle/>
                    <a:p>
                      <a:r>
                        <a:rPr sz="1600" b="0">
                          <a:solidFill>
                            <a:srgbClr val="222B36"/>
                          </a:solidFill>
                          <a:latin typeface="Segoe UI"/>
                        </a:rPr>
                        <a:t>Observer.</a:t>
                      </a:r>
                    </a:p>
                  </a:txBody>
                  <a:tcPr marL="73152" marR="73152" marT="27432" marB="27432">
                    <a:solidFill>
                      <a:srgbClr val="F7F9FC"/>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REQ-FUNC-040.1 through 040.6, REQ-FUNC-041.1/041.2, REQ-INTF-001.3.</a:t>
                      </a:r>
                    </a:p>
                  </a:txBody>
                  <a:tcPr marL="73152" marR="73152" marT="27432" marB="27432">
                    <a:solidFill>
                      <a:srgbClr val="FFFFFF"/>
                    </a:solidFill>
                  </a:tcPr>
                </a:tc>
              </a:tr>
              <a:tr h="320040">
                <a:tc>
                  <a:txBody>
                    <a:bodyPr wrap="square"/>
                    <a:lstStyle/>
                    <a:p>
                      <a:r>
                        <a:rPr sz="1600" b="1">
                          <a:solidFill>
                            <a:srgbClr val="FFFFFF"/>
                          </a:solidFill>
                          <a:latin typeface="Segoe UI"/>
                        </a:rPr>
                        <a:t>Preconditions</a:t>
                      </a:r>
                    </a:p>
                  </a:txBody>
                  <a:tcPr marL="73152" marR="73152" marT="27432" marB="27432">
                    <a:solidFill>
                      <a:srgbClr val="1F3A5F"/>
                    </a:solidFill>
                  </a:tcPr>
                </a:tc>
                <a:tc>
                  <a:txBody>
                    <a:bodyPr wrap="square"/>
                    <a:lstStyle/>
                    <a:p>
                      <a:r>
                        <a:rPr sz="1600" b="0">
                          <a:solidFill>
                            <a:srgbClr val="222B36"/>
                          </a:solidFill>
                          <a:latin typeface="Segoe UI"/>
                        </a:rPr>
                        <a:t>The module window is open.</a:t>
                      </a:r>
                    </a:p>
                  </a:txBody>
                  <a:tcPr marL="73152" marR="73152" marT="27432" marB="27432">
                    <a:solidFill>
                      <a:srgbClr val="F7F9FC"/>
                    </a:solidFill>
                  </a:tcPr>
                </a:tc>
              </a:tr>
              <a:tr h="320040">
                <a:tc>
                  <a:txBody>
                    <a:bodyPr wrap="square"/>
                    <a:lstStyle/>
                    <a:p>
                      <a:r>
                        <a:rPr sz="1600" b="1">
                          <a:solidFill>
                            <a:srgbClr val="FFFFFF"/>
                          </a:solidFill>
                          <a:latin typeface="Segoe UI"/>
                        </a:rPr>
                        <a:t>Trigger</a:t>
                      </a:r>
                    </a:p>
                  </a:txBody>
                  <a:tcPr marL="73152" marR="73152" marT="27432" marB="27432">
                    <a:solidFill>
                      <a:srgbClr val="1F3A5F"/>
                    </a:solidFill>
                  </a:tcPr>
                </a:tc>
                <a:tc>
                  <a:txBody>
                    <a:bodyPr wrap="square"/>
                    <a:lstStyle/>
                    <a:p>
                      <a:r>
                        <a:rPr sz="1600" b="0">
                          <a:solidFill>
                            <a:srgbClr val="222B36"/>
                          </a:solidFill>
                          <a:latin typeface="Segoe UI"/>
                        </a:rPr>
                        <a:t>A train is selected or its state changes.</a:t>
                      </a:r>
                    </a:p>
                  </a:txBody>
                  <a:tcPr marL="73152" marR="73152" marT="27432" marB="27432">
                    <a:solidFill>
                      <a:srgbClr val="FFFFFF"/>
                    </a:solidFill>
                  </a:tcPr>
                </a:tc>
              </a:tr>
              <a:tr h="320040">
                <a:tc>
                  <a:txBody>
                    <a:bodyPr wrap="square"/>
                    <a:lstStyle/>
                    <a:p>
                      <a:r>
                        <a:rPr sz="1600" b="1">
                          <a:solidFill>
                            <a:srgbClr val="FFFFFF"/>
                          </a:solidFill>
                          <a:latin typeface="Segoe UI"/>
                        </a:rPr>
                        <a:t>Main success scenario</a:t>
                      </a:r>
                    </a:p>
                  </a:txBody>
                  <a:tcPr marL="73152" marR="73152" marT="27432" marB="27432">
                    <a:solidFill>
                      <a:srgbClr val="1F3A5F"/>
                    </a:solidFill>
                  </a:tcPr>
                </a:tc>
                <a:tc>
                  <a:txBody>
                    <a:bodyPr wrap="square"/>
                    <a:lstStyle/>
                    <a:p>
                      <a:r>
                        <a:rPr sz="1600" b="0">
                          <a:solidFill>
                            <a:srgbClr val="222B36"/>
                          </a:solidFill>
                          <a:latin typeface="Segoe UI"/>
                        </a:rPr>
                        <a:t>Select a fleet entry; bind to its state; display dimensions, operating mass, acceleration, speed, crew/passenger counts, power command, doors, brakes, lights, cabin temperature, position, and station data. Convert values only for display.</a:t>
                      </a:r>
                    </a:p>
                  </a:txBody>
                  <a:tcPr marL="73152" marR="73152" marT="27432" marB="27432">
                    <a:solidFill>
                      <a:srgbClr val="F7F9FC"/>
                    </a:solidFill>
                  </a:tcPr>
                </a:tc>
              </a:tr>
              <a:tr h="320040">
                <a:tc>
                  <a:txBody>
                    <a:bodyPr wrap="square"/>
                    <a:lstStyle/>
                    <a:p>
                      <a:r>
                        <a:rPr sz="1600" b="1">
                          <a:solidFill>
                            <a:srgbClr val="FFFFFF"/>
                          </a:solidFill>
                          <a:latin typeface="Segoe UI"/>
                        </a:rPr>
                        <a:t>Alternate flows</a:t>
                      </a:r>
                    </a:p>
                  </a:txBody>
                  <a:tcPr marL="73152" marR="73152" marT="27432" marB="27432">
                    <a:solidFill>
                      <a:srgbClr val="1F3A5F"/>
                    </a:solidFill>
                  </a:tcPr>
                </a:tc>
                <a:tc>
                  <a:txBody>
                    <a:bodyPr wrap="square"/>
                    <a:lstStyle/>
                    <a:p>
                      <a:r>
                        <a:rPr sz="1600" b="0">
                          <a:solidFill>
                            <a:srgbClr val="222B36"/>
                          </a:solidFill>
                          <a:latin typeface="Segoe UI"/>
                        </a:rPr>
                        <a:t>An empty fleet displays the idle state. Removing the selected train selects another remaining entry. Arrival time is omitted from the intended window; station name and platform-side information remain. Selecting an unknown ID is ignored.</a:t>
                      </a:r>
                    </a:p>
                  </a:txBody>
                  <a:tcPr marL="73152" marR="73152" marT="27432" marB="27432">
                    <a:solidFill>
                      <a:srgbClr val="FFFFFF"/>
                    </a:solidFill>
                  </a:tcPr>
                </a:tc>
              </a:tr>
              <a:tr h="320040">
                <a:tc>
                  <a:txBody>
                    <a:bodyPr wrap="square"/>
                    <a:lstStyle/>
                    <a:p>
                      <a:r>
                        <a:rPr sz="1600" b="1">
                          <a:solidFill>
                            <a:srgbClr val="FFFFFF"/>
                          </a:solidFill>
                          <a:latin typeface="Segoe UI"/>
                        </a:rPr>
                        <a:t>Postcondition</a:t>
                      </a:r>
                    </a:p>
                  </a:txBody>
                  <a:tcPr marL="73152" marR="73152" marT="27432" marB="27432">
                    <a:solidFill>
                      <a:srgbClr val="1F3A5F"/>
                    </a:solidFill>
                  </a:tcPr>
                </a:tc>
                <a:tc>
                  <a:txBody>
                    <a:bodyPr wrap="square"/>
                    <a:lstStyle/>
                    <a:p>
                      <a:r>
                        <a:rPr sz="1600" b="0">
                          <a:solidFill>
                            <a:srgbClr val="222B36"/>
                          </a:solidFill>
                          <a:latin typeface="Segoe UI"/>
                        </a:rPr>
                        <a:t>The window observes the selected train; every active train continues to be stepped independently.</a:t>
                      </a:r>
                    </a:p>
                  </a:txBody>
                  <a:tcPr marL="73152" marR="73152" marT="27432" marB="27432">
                    <a:solidFill>
                      <a:srgbClr val="F7F9FC"/>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UC-TM-03 Apply onboard equipment commands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259</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Primary actor</a:t>
                      </a:r>
                    </a:p>
                  </a:txBody>
                  <a:tcPr marL="73152" marR="73152" marT="27432" marB="27432">
                    <a:solidFill>
                      <a:srgbClr val="1F3A5F"/>
                    </a:solidFill>
                  </a:tcPr>
                </a:tc>
                <a:tc>
                  <a:txBody>
                    <a:bodyPr wrap="square"/>
                    <a:lstStyle/>
                    <a:p>
                      <a:r>
                        <a:rPr sz="1600" b="0">
                          <a:solidFill>
                            <a:srgbClr val="222B36"/>
                          </a:solidFill>
                          <a:latin typeface="Segoe UI"/>
                        </a:rPr>
                        <a:t>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Supporting actor</a:t>
                      </a:r>
                    </a:p>
                  </a:txBody>
                  <a:tcPr marL="73152" marR="73152" marT="27432" marB="27432">
                    <a:solidFill>
                      <a:srgbClr val="1F3A5F"/>
                    </a:solidFill>
                  </a:tcPr>
                </a:tc>
                <a:tc>
                  <a:txBody>
                    <a:bodyPr wrap="square"/>
                    <a:lstStyle/>
                    <a:p>
                      <a:r>
                        <a:rPr sz="1600" b="0">
                          <a:solidFill>
                            <a:srgbClr val="222B36"/>
                          </a:solidFill>
                          <a:latin typeface="Segoe UI"/>
                        </a:rPr>
                        <a:t>Passenger.</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REQ-FUNC-043, 044, 045.</a:t>
                      </a:r>
                    </a:p>
                  </a:txBody>
                  <a:tcPr marL="73152" marR="73152" marT="27432" marB="27432">
                    <a:solidFill>
                      <a:srgbClr val="F7F9FC"/>
                    </a:solidFill>
                  </a:tcPr>
                </a:tc>
              </a:tr>
              <a:tr h="320040">
                <a:tc>
                  <a:txBody>
                    <a:bodyPr wrap="square"/>
                    <a:lstStyle/>
                    <a:p>
                      <a:r>
                        <a:rPr sz="1600" b="1">
                          <a:solidFill>
                            <a:srgbClr val="FFFFFF"/>
                          </a:solidFill>
                          <a:latin typeface="Segoe UI"/>
                        </a:rPr>
                        <a:t>Preconditions</a:t>
                      </a:r>
                    </a:p>
                  </a:txBody>
                  <a:tcPr marL="73152" marR="73152" marT="27432" marB="27432">
                    <a:solidFill>
                      <a:srgbClr val="1F3A5F"/>
                    </a:solidFill>
                  </a:tcPr>
                </a:tc>
                <a:tc>
                  <a:txBody>
                    <a:bodyPr wrap="square"/>
                    <a:lstStyle/>
                    <a:p>
                      <a:r>
                        <a:rPr sz="1600" b="0">
                          <a:solidFill>
                            <a:srgbClr val="222B36"/>
                          </a:solidFill>
                          <a:latin typeface="Segoe UI"/>
                        </a:rPr>
                        <a:t>Valid equipment commands are available.</a:t>
                      </a:r>
                    </a:p>
                  </a:txBody>
                  <a:tcPr marL="73152" marR="73152" marT="27432" marB="27432">
                    <a:solidFill>
                      <a:srgbClr val="FFFFFF"/>
                    </a:solidFill>
                  </a:tcPr>
                </a:tc>
              </a:tr>
              <a:tr h="320040">
                <a:tc>
                  <a:txBody>
                    <a:bodyPr wrap="square"/>
                    <a:lstStyle/>
                    <a:p>
                      <a:r>
                        <a:rPr sz="1600" b="1">
                          <a:solidFill>
                            <a:srgbClr val="FFFFFF"/>
                          </a:solidFill>
                          <a:latin typeface="Segoe UI"/>
                        </a:rPr>
                        <a:t>Trigger</a:t>
                      </a:r>
                    </a:p>
                  </a:txBody>
                  <a:tcPr marL="73152" marR="73152" marT="27432" marB="27432">
                    <a:solidFill>
                      <a:srgbClr val="1F3A5F"/>
                    </a:solidFill>
                  </a:tcPr>
                </a:tc>
                <a:tc>
                  <a:txBody>
                    <a:bodyPr wrap="square"/>
                    <a:lstStyle/>
                    <a:p>
                      <a:r>
                        <a:rPr sz="1600" b="0">
                          <a:solidFill>
                            <a:srgbClr val="222B36"/>
                          </a:solidFill>
                          <a:latin typeface="Segoe UI"/>
                        </a:rPr>
                        <a:t>A tick contains new or held door, light, temperature, or announcement commands.</a:t>
                      </a:r>
                    </a:p>
                  </a:txBody>
                  <a:tcPr marL="73152" marR="73152" marT="27432" marB="27432">
                    <a:solidFill>
                      <a:srgbClr val="F7F9FC"/>
                    </a:solidFill>
                  </a:tcPr>
                </a:tc>
              </a:tr>
              <a:tr h="320040">
                <a:tc>
                  <a:txBody>
                    <a:bodyPr wrap="square"/>
                    <a:lstStyle/>
                    <a:p>
                      <a:r>
                        <a:rPr sz="1600" b="1">
                          <a:solidFill>
                            <a:srgbClr val="FFFFFF"/>
                          </a:solidFill>
                          <a:latin typeface="Segoe UI"/>
                        </a:rPr>
                        <a:t>Main success scenario</a:t>
                      </a:r>
                    </a:p>
                  </a:txBody>
                  <a:tcPr marL="73152" marR="73152" marT="27432" marB="27432">
                    <a:solidFill>
                      <a:srgbClr val="1F3A5F"/>
                    </a:solidFill>
                  </a:tcPr>
                </a:tc>
                <a:tc>
                  <a:txBody>
                    <a:bodyPr wrap="square"/>
                    <a:lstStyle/>
                    <a:p>
                      <a:r>
                        <a:rPr sz="1600" b="0">
                          <a:solidFill>
                            <a:srgbClr val="222B36"/>
                          </a:solidFill>
                          <a:latin typeface="Segoe UI"/>
                        </a:rPr>
                        <a:t>Apply door and light states; move cabin temperature toward the target; report resulting states; show each new announcement in a passenger popup.</a:t>
                      </a:r>
                    </a:p>
                  </a:txBody>
                  <a:tcPr marL="73152" marR="73152" marT="27432" marB="27432">
                    <a:solidFill>
                      <a:srgbClr val="FFFFFF"/>
                    </a:solidFill>
                  </a:tcPr>
                </a:tc>
              </a:tr>
              <a:tr h="320040">
                <a:tc>
                  <a:txBody>
                    <a:bodyPr wrap="square"/>
                    <a:lstStyle/>
                    <a:p>
                      <a:r>
                        <a:rPr sz="1600" b="1">
                          <a:solidFill>
                            <a:srgbClr val="FFFFFF"/>
                          </a:solidFill>
                          <a:latin typeface="Segoe UI"/>
                        </a:rPr>
                        <a:t>Alternate flows</a:t>
                      </a:r>
                    </a:p>
                  </a:txBody>
                  <a:tcPr marL="73152" marR="73152" marT="27432" marB="27432">
                    <a:solidFill>
                      <a:srgbClr val="1F3A5F"/>
                    </a:solidFill>
                  </a:tcPr>
                </a:tc>
                <a:tc>
                  <a:txBody>
                    <a:bodyPr wrap="square"/>
                    <a:lstStyle/>
                    <a:p>
                      <a:r>
                        <a:rPr sz="1600" b="0">
                          <a:solidFill>
                            <a:srgbClr val="222B36"/>
                          </a:solidFill>
                          <a:latin typeface="Segoe UI"/>
                        </a:rPr>
                        <a:t>Invalid flags or values reject the step. The Train Model follows door commands at any speed; the Train Controller owns the door interlock.</a:t>
                      </a:r>
                    </a:p>
                  </a:txBody>
                  <a:tcPr marL="73152" marR="73152" marT="27432" marB="27432">
                    <a:solidFill>
                      <a:srgbClr val="F7F9FC"/>
                    </a:solidFill>
                  </a:tcPr>
                </a:tc>
              </a:tr>
              <a:tr h="320040">
                <a:tc>
                  <a:txBody>
                    <a:bodyPr wrap="square"/>
                    <a:lstStyle/>
                    <a:p>
                      <a:r>
                        <a:rPr sz="1600" b="1">
                          <a:solidFill>
                            <a:srgbClr val="FFFFFF"/>
                          </a:solidFill>
                          <a:latin typeface="Segoe UI"/>
                        </a:rPr>
                        <a:t>Postcondition</a:t>
                      </a:r>
                    </a:p>
                  </a:txBody>
                  <a:tcPr marL="73152" marR="73152" marT="27432" marB="27432">
                    <a:solidFill>
                      <a:srgbClr val="1F3A5F"/>
                    </a:solidFill>
                  </a:tcPr>
                </a:tc>
                <a:tc>
                  <a:txBody>
                    <a:bodyPr wrap="square"/>
                    <a:lstStyle/>
                    <a:p>
                      <a:r>
                        <a:rPr sz="1600" b="0">
                          <a:solidFill>
                            <a:srgbClr val="222B36"/>
                          </a:solidFill>
                          <a:latin typeface="Segoe UI"/>
                        </a:rPr>
                        <a:t>Feedback represents equipment state and temperature; the UI presents the announcement without advancing physics independently.</a:t>
                      </a:r>
                    </a:p>
                  </a:txBody>
                  <a:tcPr marL="73152" marR="73152" marT="27432" marB="27432">
                    <a:solidFill>
                      <a:srgbClr val="FFFF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UC-TM-04 Receive track circuit, terrain, and beacon data</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260</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Primary actor</a:t>
                      </a:r>
                    </a:p>
                  </a:txBody>
                  <a:tcPr marL="73152" marR="73152" marT="27432" marB="27432">
                    <a:solidFill>
                      <a:srgbClr val="1F3A5F"/>
                    </a:solidFill>
                  </a:tcPr>
                </a:tc>
                <a:tc>
                  <a:txBody>
                    <a:bodyPr wrap="square"/>
                    <a:lstStyle/>
                    <a:p>
                      <a:r>
                        <a:rPr sz="1600" b="0">
                          <a:solidFill>
                            <a:srgbClr val="222B36"/>
                          </a:solidFill>
                          <a:latin typeface="Segoe UI"/>
                        </a:rPr>
                        <a:t>Track Model.</a:t>
                      </a:r>
                    </a:p>
                  </a:txBody>
                  <a:tcPr marL="73152" marR="73152" marT="27432" marB="27432">
                    <a:solidFill>
                      <a:srgbClr val="F7F9FC"/>
                    </a:solidFill>
                  </a:tcPr>
                </a:tc>
              </a:tr>
              <a:tr h="320040">
                <a:tc>
                  <a:txBody>
                    <a:bodyPr wrap="square"/>
                    <a:lstStyle/>
                    <a:p>
                      <a:r>
                        <a:rPr sz="1600" b="1">
                          <a:solidFill>
                            <a:srgbClr val="FFFFFF"/>
                          </a:solidFill>
                          <a:latin typeface="Segoe UI"/>
                        </a:rPr>
                        <a:t>Supporting actor</a:t>
                      </a:r>
                    </a:p>
                  </a:txBody>
                  <a:tcPr marL="73152" marR="73152" marT="27432" marB="27432">
                    <a:solidFill>
                      <a:srgbClr val="1F3A5F"/>
                    </a:solidFill>
                  </a:tcPr>
                </a:tc>
                <a:tc>
                  <a:txBody>
                    <a:bodyPr wrap="square"/>
                    <a:lstStyle/>
                    <a:p>
                      <a:r>
                        <a:rPr sz="1600" b="0">
                          <a:solidFill>
                            <a:srgbClr val="222B36"/>
                          </a:solidFill>
                          <a:latin typeface="Segoe UI"/>
                        </a:rPr>
                        <a:t>Train Controller.</a:t>
                      </a:r>
                    </a:p>
                  </a:txBody>
                  <a:tcPr marL="73152" marR="73152" marT="27432" marB="27432">
                    <a:solidFill>
                      <a:srgbClr val="FFFFFF"/>
                    </a:solidFill>
                  </a:tcPr>
                </a:tc>
              </a:tr>
              <a:tr h="320040">
                <a:tc>
                  <a:txBody>
                    <a:bodyPr wrap="square"/>
                    <a:lstStyle/>
                    <a:p>
                      <a:r>
                        <a:rPr sz="1600" b="1">
                          <a:solidFill>
                            <a:srgbClr val="FFFFFF"/>
                          </a:solidFill>
                          <a:latin typeface="Segoe UI"/>
                        </a:rPr>
                        <a:t>Requirements</a:t>
                      </a:r>
                    </a:p>
                  </a:txBody>
                  <a:tcPr marL="73152" marR="73152" marT="27432" marB="27432">
                    <a:solidFill>
                      <a:srgbClr val="1F3A5F"/>
                    </a:solidFill>
                  </a:tcPr>
                </a:tc>
                <a:tc>
                  <a:txBody>
                    <a:bodyPr wrap="square"/>
                    <a:lstStyle/>
                    <a:p>
                      <a:r>
                        <a:rPr sz="1600" b="0">
                          <a:solidFill>
                            <a:srgbClr val="222B36"/>
                          </a:solidFill>
                          <a:latin typeface="Segoe UI"/>
                        </a:rPr>
                        <a:t>REQ-FUNC-042, 046.</a:t>
                      </a:r>
                    </a:p>
                  </a:txBody>
                  <a:tcPr marL="73152" marR="73152" marT="27432" marB="27432">
                    <a:solidFill>
                      <a:srgbClr val="F7F9FC"/>
                    </a:solidFill>
                  </a:tcPr>
                </a:tc>
              </a:tr>
              <a:tr h="320040">
                <a:tc>
                  <a:txBody>
                    <a:bodyPr wrap="square"/>
                    <a:lstStyle/>
                    <a:p>
                      <a:r>
                        <a:rPr sz="1600" b="1">
                          <a:solidFill>
                            <a:srgbClr val="FFFFFF"/>
                          </a:solidFill>
                          <a:latin typeface="Segoe UI"/>
                        </a:rPr>
                        <a:t>Preconditions</a:t>
                      </a:r>
                    </a:p>
                  </a:txBody>
                  <a:tcPr marL="73152" marR="73152" marT="27432" marB="27432">
                    <a:solidFill>
                      <a:srgbClr val="1F3A5F"/>
                    </a:solidFill>
                  </a:tcPr>
                </a:tc>
                <a:tc>
                  <a:txBody>
                    <a:bodyPr wrap="square"/>
                    <a:lstStyle/>
                    <a:p>
                      <a:r>
                        <a:rPr sz="1600" b="0">
                          <a:solidFill>
                            <a:srgbClr val="222B36"/>
                          </a:solidFill>
                          <a:latin typeface="Segoe UI"/>
                        </a:rPr>
                        <a:t>Valid block data and any current beacon are supplied.</a:t>
                      </a:r>
                    </a:p>
                  </a:txBody>
                  <a:tcPr marL="73152" marR="73152" marT="27432" marB="27432">
                    <a:solidFill>
                      <a:srgbClr val="FFFFFF"/>
                    </a:solidFill>
                  </a:tcPr>
                </a:tc>
              </a:tr>
              <a:tr h="320040">
                <a:tc>
                  <a:txBody>
                    <a:bodyPr wrap="square"/>
                    <a:lstStyle/>
                    <a:p>
                      <a:r>
                        <a:rPr sz="1600" b="1">
                          <a:solidFill>
                            <a:srgbClr val="FFFFFF"/>
                          </a:solidFill>
                          <a:latin typeface="Segoe UI"/>
                        </a:rPr>
                        <a:t>Trigger</a:t>
                      </a:r>
                    </a:p>
                  </a:txBody>
                  <a:tcPr marL="73152" marR="73152" marT="27432" marB="27432">
                    <a:solidFill>
                      <a:srgbClr val="1F3A5F"/>
                    </a:solidFill>
                  </a:tcPr>
                </a:tc>
                <a:tc>
                  <a:txBody>
                    <a:bodyPr wrap="square"/>
                    <a:lstStyle/>
                    <a:p>
                      <a:r>
                        <a:rPr sz="1600" b="0">
                          <a:solidFill>
                            <a:srgbClr val="222B36"/>
                          </a:solidFill>
                          <a:latin typeface="Segoe UI"/>
                        </a:rPr>
                        <a:t>A track input accompanies a tick.</a:t>
                      </a:r>
                    </a:p>
                  </a:txBody>
                  <a:tcPr marL="73152" marR="73152" marT="27432" marB="27432">
                    <a:solidFill>
                      <a:srgbClr val="F7F9FC"/>
                    </a:solidFill>
                  </a:tcPr>
                </a:tc>
              </a:tr>
              <a:tr h="320040">
                <a:tc>
                  <a:txBody>
                    <a:bodyPr wrap="square"/>
                    <a:lstStyle/>
                    <a:p>
                      <a:r>
                        <a:rPr sz="1600" b="1">
                          <a:solidFill>
                            <a:srgbClr val="FFFFFF"/>
                          </a:solidFill>
                          <a:latin typeface="Segoe UI"/>
                        </a:rPr>
                        <a:t>Main success scenario</a:t>
                      </a:r>
                    </a:p>
                  </a:txBody>
                  <a:tcPr marL="73152" marR="73152" marT="27432" marB="27432">
                    <a:solidFill>
                      <a:srgbClr val="1F3A5F"/>
                    </a:solidFill>
                  </a:tcPr>
                </a:tc>
                <a:tc>
                  <a:txBody>
                    <a:bodyPr wrap="square"/>
                    <a:lstStyle/>
                    <a:p>
                      <a:r>
                        <a:rPr sz="1600" b="0">
                          <a:solidFill>
                            <a:srgbClr val="222B36"/>
                          </a:solidFill>
                          <a:latin typeface="Segoe UI"/>
                        </a:rPr>
                        <a:t>Use grade in the force balance; detect a block transition from polarity; pass commanded speed, authority, speed limit, and the current beacon to controller outputs; publish block, offset, and transition flag to the Track Model.</a:t>
                      </a:r>
                    </a:p>
                  </a:txBody>
                  <a:tcPr marL="73152" marR="73152" marT="27432" marB="27432">
                    <a:solidFill>
                      <a:srgbClr val="FFFFFF"/>
                    </a:solidFill>
                  </a:tcPr>
                </a:tc>
              </a:tr>
              <a:tr h="320040">
                <a:tc>
                  <a:txBody>
                    <a:bodyPr wrap="square"/>
                    <a:lstStyle/>
                    <a:p>
                      <a:r>
                        <a:rPr sz="1600" b="1">
                          <a:solidFill>
                            <a:srgbClr val="FFFFFF"/>
                          </a:solidFill>
                          <a:latin typeface="Segoe UI"/>
                        </a:rPr>
                        <a:t>Alternate flows</a:t>
                      </a:r>
                    </a:p>
                  </a:txBody>
                  <a:tcPr marL="73152" marR="73152" marT="27432" marB="27432">
                    <a:solidFill>
                      <a:srgbClr val="1F3A5F"/>
                    </a:solidFill>
                  </a:tcPr>
                </a:tc>
                <a:tc>
                  <a:txBody>
                    <a:bodyPr wrap="square"/>
                    <a:lstStyle/>
                    <a:p>
                      <a:r>
                        <a:rPr sz="1600" b="0">
                          <a:solidFill>
                            <a:srgbClr val="222B36"/>
                          </a:solidFill>
                          <a:latin typeface="Segoe UI"/>
                        </a:rPr>
                        <a:t>The first polarity sample establishes a baseline. Under pickup failure, commanded speed and authority become zero; terrain and beacon pass-through remain available. A tick without a beacon reports None.</a:t>
                      </a:r>
                    </a:p>
                  </a:txBody>
                  <a:tcPr marL="73152" marR="73152" marT="27432" marB="27432">
                    <a:solidFill>
                      <a:srgbClr val="F7F9FC"/>
                    </a:solidFill>
                  </a:tcPr>
                </a:tc>
              </a:tr>
              <a:tr h="320040">
                <a:tc>
                  <a:txBody>
                    <a:bodyPr wrap="square"/>
                    <a:lstStyle/>
                    <a:p>
                      <a:r>
                        <a:rPr sz="1600" b="1">
                          <a:solidFill>
                            <a:srgbClr val="FFFFFF"/>
                          </a:solidFill>
                          <a:latin typeface="Segoe UI"/>
                        </a:rPr>
                        <a:t>Postcondition</a:t>
                      </a:r>
                    </a:p>
                  </a:txBody>
                  <a:tcPr marL="73152" marR="73152" marT="27432" marB="27432">
                    <a:solidFill>
                      <a:srgbClr val="1F3A5F"/>
                    </a:solidFill>
                  </a:tcPr>
                </a:tc>
                <a:tc>
                  <a:txBody>
                    <a:bodyPr wrap="square"/>
                    <a:lstStyle/>
                    <a:p>
                      <a:r>
                        <a:rPr sz="1600" b="0">
                          <a:solidFill>
                            <a:srgbClr val="222B36"/>
                          </a:solidFill>
                          <a:latin typeface="Segoe UI"/>
                        </a:rPr>
                        <a:t>The controller receives the modeled pickup information, and the Track Model receives current position feedback.</a:t>
                      </a:r>
                    </a:p>
                  </a:txBody>
                  <a:tcPr marL="73152" marR="73152" marT="27432" marB="27432">
                    <a:solidFill>
                      <a:srgbClr val="FFFF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UC-TM-05 Board and disembark passengers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261</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Primary actors</a:t>
                      </a:r>
                    </a:p>
                  </a:txBody>
                  <a:tcPr marL="73152" marR="73152" marT="27432" marB="27432">
                    <a:solidFill>
                      <a:srgbClr val="1F3A5F"/>
                    </a:solidFill>
                  </a:tcPr>
                </a:tc>
                <a:tc>
                  <a:txBody>
                    <a:bodyPr wrap="square"/>
                    <a:lstStyle/>
                    <a:p>
                      <a:r>
                        <a:rPr sz="1600" b="0">
                          <a:solidFill>
                            <a:srgbClr val="222B36"/>
                          </a:solidFill>
                          <a:latin typeface="Segoe UI"/>
                        </a:rPr>
                        <a:t>Passenger and Track Model.</a:t>
                      </a:r>
                    </a:p>
                  </a:txBody>
                  <a:tcPr marL="73152" marR="73152" marT="27432" marB="27432">
                    <a:solidFill>
                      <a:srgbClr val="F7F9FC"/>
                    </a:solidFill>
                  </a:tcPr>
                </a:tc>
              </a:tr>
              <a:tr h="320040">
                <a:tc>
                  <a:txBody>
                    <a:bodyPr wrap="square"/>
                    <a:lstStyle/>
                    <a:p>
                      <a:r>
                        <a:rPr sz="1600" b="1">
                          <a:solidFill>
                            <a:srgbClr val="FFFFFF"/>
                          </a:solidFill>
                          <a:latin typeface="Segoe UI"/>
                        </a:rPr>
                        <a:t>Requirement</a:t>
                      </a:r>
                    </a:p>
                  </a:txBody>
                  <a:tcPr marL="73152" marR="73152" marT="27432" marB="27432">
                    <a:solidFill>
                      <a:srgbClr val="1F3A5F"/>
                    </a:solidFill>
                  </a:tcPr>
                </a:tc>
                <a:tc>
                  <a:txBody>
                    <a:bodyPr wrap="square"/>
                    <a:lstStyle/>
                    <a:p>
                      <a:r>
                        <a:rPr sz="1600" b="0">
                          <a:solidFill>
                            <a:srgbClr val="222B36"/>
                          </a:solidFill>
                          <a:latin typeface="Segoe UI"/>
                        </a:rPr>
                        <a:t>REQ-FUNC-041; passenger exchange supports the displayed count and physical mass.</a:t>
                      </a:r>
                    </a:p>
                  </a:txBody>
                  <a:tcPr marL="73152" marR="73152" marT="27432" marB="27432">
                    <a:solidFill>
                      <a:srgbClr val="FFFFFF"/>
                    </a:solidFill>
                  </a:tcPr>
                </a:tc>
              </a:tr>
              <a:tr h="320040">
                <a:tc>
                  <a:txBody>
                    <a:bodyPr wrap="square"/>
                    <a:lstStyle/>
                    <a:p>
                      <a:r>
                        <a:rPr sz="1600" b="1">
                          <a:solidFill>
                            <a:srgbClr val="FFFFFF"/>
                          </a:solidFill>
                          <a:latin typeface="Segoe UI"/>
                        </a:rPr>
                        <a:t>Preconditions</a:t>
                      </a:r>
                    </a:p>
                  </a:txBody>
                  <a:tcPr marL="73152" marR="73152" marT="27432" marB="27432">
                    <a:solidFill>
                      <a:srgbClr val="1F3A5F"/>
                    </a:solidFill>
                  </a:tcPr>
                </a:tc>
                <a:tc>
                  <a:txBody>
                    <a:bodyPr wrap="square"/>
                    <a:lstStyle/>
                    <a:p>
                      <a:r>
                        <a:rPr sz="1600" b="0">
                          <a:solidFill>
                            <a:srgbClr val="222B36"/>
                          </a:solidFill>
                          <a:latin typeface="Segoe UI"/>
                        </a:rPr>
                        <a:t>The train is stopped with at least one door open.</a:t>
                      </a:r>
                    </a:p>
                  </a:txBody>
                  <a:tcPr marL="73152" marR="73152" marT="27432" marB="27432">
                    <a:solidFill>
                      <a:srgbClr val="F7F9FC"/>
                    </a:solidFill>
                  </a:tcPr>
                </a:tc>
              </a:tr>
              <a:tr h="320040">
                <a:tc>
                  <a:txBody>
                    <a:bodyPr wrap="square"/>
                    <a:lstStyle/>
                    <a:p>
                      <a:r>
                        <a:rPr sz="1600" b="1">
                          <a:solidFill>
                            <a:srgbClr val="FFFFFF"/>
                          </a:solidFill>
                          <a:latin typeface="Segoe UI"/>
                        </a:rPr>
                        <a:t>Trigger</a:t>
                      </a:r>
                    </a:p>
                  </a:txBody>
                  <a:tcPr marL="73152" marR="73152" marT="27432" marB="27432">
                    <a:solidFill>
                      <a:srgbClr val="1F3A5F"/>
                    </a:solidFill>
                  </a:tcPr>
                </a:tc>
                <a:tc>
                  <a:txBody>
                    <a:bodyPr wrap="square"/>
                    <a:lstStyle/>
                    <a:p>
                      <a:r>
                        <a:rPr sz="1600" b="0">
                          <a:solidFill>
                            <a:srgbClr val="222B36"/>
                          </a:solidFill>
                          <a:latin typeface="Segoe UI"/>
                        </a:rPr>
                        <a:t>An eligible stopped tick, optionally containing a boarding event.</a:t>
                      </a:r>
                    </a:p>
                  </a:txBody>
                  <a:tcPr marL="73152" marR="73152" marT="27432" marB="27432">
                    <a:solidFill>
                      <a:srgbClr val="FFFFFF"/>
                    </a:solidFill>
                  </a:tcPr>
                </a:tc>
              </a:tr>
              <a:tr h="320040">
                <a:tc>
                  <a:txBody>
                    <a:bodyPr wrap="square"/>
                    <a:lstStyle/>
                    <a:p>
                      <a:r>
                        <a:rPr sz="1600" b="1">
                          <a:solidFill>
                            <a:srgbClr val="FFFFFF"/>
                          </a:solidFill>
                          <a:latin typeface="Segoe UI"/>
                        </a:rPr>
                        <a:t>Main success scenario</a:t>
                      </a:r>
                    </a:p>
                  </a:txBody>
                  <a:tcPr marL="73152" marR="73152" marT="27432" marB="27432">
                    <a:solidFill>
                      <a:srgbClr val="1F3A5F"/>
                    </a:solidFill>
                  </a:tcPr>
                </a:tc>
                <a:tc>
                  <a:txBody>
                    <a:bodyPr wrap="square"/>
                    <a:lstStyle/>
                    <a:p>
                      <a:r>
                        <a:rPr sz="1600" b="0">
                          <a:solidFill>
                            <a:srgbClr val="222B36"/>
                          </a:solidFill>
                          <a:latin typeface="Segoe UI"/>
                        </a:rPr>
                        <a:t>Draw the disembark count once for the stop; subtract those passengers; add the received boarding count up to remaining capacity; recompute operating mass; return remaining capacity and update the window count.</a:t>
                      </a:r>
                    </a:p>
                  </a:txBody>
                  <a:tcPr marL="73152" marR="73152" marT="27432" marB="27432">
                    <a:solidFill>
                      <a:srgbClr val="F7F9FC"/>
                    </a:solidFill>
                  </a:tcPr>
                </a:tc>
              </a:tr>
              <a:tr h="320040">
                <a:tc>
                  <a:txBody>
                    <a:bodyPr wrap="square"/>
                    <a:lstStyle/>
                    <a:p>
                      <a:r>
                        <a:rPr sz="1600" b="1">
                          <a:solidFill>
                            <a:srgbClr val="FFFFFF"/>
                          </a:solidFill>
                          <a:latin typeface="Segoe UI"/>
                        </a:rPr>
                        <a:t>Alternate flows</a:t>
                      </a:r>
                    </a:p>
                  </a:txBody>
                  <a:tcPr marL="73152" marR="73152" marT="27432" marB="27432">
                    <a:solidFill>
                      <a:srgbClr val="1F3A5F"/>
                    </a:solidFill>
                  </a:tcPr>
                </a:tc>
                <a:tc>
                  <a:txBody>
                    <a:bodyPr wrap="square"/>
                    <a:lstStyle/>
                    <a:p>
                      <a:r>
                        <a:rPr sz="1600" b="0">
                          <a:solidFill>
                            <a:srgbClr val="222B36"/>
                          </a:solidFill>
                          <a:latin typeface="Segoe UI"/>
                        </a:rPr>
                        <a:t>A boarding event while moving or with both doors shut is ignored and not deferred. Negative or out-of-range counts reject the step. Door reopening during the same stop does not cause another disembark draw.</a:t>
                      </a:r>
                    </a:p>
                  </a:txBody>
                  <a:tcPr marL="73152" marR="73152" marT="27432" marB="27432">
                    <a:solidFill>
                      <a:srgbClr val="FFFFFF"/>
                    </a:solidFill>
                  </a:tcPr>
                </a:tc>
              </a:tr>
              <a:tr h="320040">
                <a:tc>
                  <a:txBody>
                    <a:bodyPr wrap="square"/>
                    <a:lstStyle/>
                    <a:p>
                      <a:r>
                        <a:rPr sz="1600" b="1">
                          <a:solidFill>
                            <a:srgbClr val="FFFFFF"/>
                          </a:solidFill>
                          <a:latin typeface="Segoe UI"/>
                        </a:rPr>
                        <a:t>Postcondition</a:t>
                      </a:r>
                    </a:p>
                  </a:txBody>
                  <a:tcPr marL="73152" marR="73152" marT="27432" marB="27432">
                    <a:solidFill>
                      <a:srgbClr val="1F3A5F"/>
                    </a:solidFill>
                  </a:tcPr>
                </a:tc>
                <a:tc>
                  <a:txBody>
                    <a:bodyPr wrap="square"/>
                    <a:lstStyle/>
                    <a:p>
                      <a:r>
                        <a:rPr sz="1600" b="0">
                          <a:solidFill>
                            <a:srgbClr val="222B36"/>
                          </a:solidFill>
                          <a:latin typeface="Segoe UI"/>
                        </a:rPr>
                        <a:t>Passenger count stays within 0 to 222, with mass consistent with that count. Station scheduling and the 45 s dwell remain control/test duties.</a:t>
                      </a:r>
                    </a:p>
                  </a:txBody>
                  <a:tcPr marL="73152" marR="73152" marT="27432" marB="27432">
                    <a:solidFill>
                      <a:srgbClr val="F7F9FC"/>
                    </a:solidFill>
                  </a:tcPr>
                </a:tc>
              </a:tr>
            </a:tbl>
          </a:graphicData>
        </a:graphic>
      </p:graphicFrame>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UC-TM-06 Pull and release the passenger emergency 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262</a:t>
            </a:r>
          </a:p>
        </p:txBody>
      </p:sp>
      <p:graphicFrame>
        <p:nvGraphicFramePr>
          <p:cNvPr id="7" name="Table 6"/>
          <p:cNvGraphicFramePr>
            <a:graphicFrameLocks noGrp="1"/>
          </p:cNvGraphicFramePr>
          <p:nvPr/>
        </p:nvGraphicFramePr>
        <p:xfrm>
          <a:off x="411480" y="1097280"/>
          <a:ext cx="11368735" cy="256032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Primary actor</a:t>
                      </a:r>
                    </a:p>
                  </a:txBody>
                  <a:tcPr marL="73152" marR="73152" marT="27432" marB="27432">
                    <a:solidFill>
                      <a:srgbClr val="1F3A5F"/>
                    </a:solidFill>
                  </a:tcPr>
                </a:tc>
                <a:tc>
                  <a:txBody>
                    <a:bodyPr wrap="square"/>
                    <a:lstStyle/>
                    <a:p>
                      <a:r>
                        <a:rPr sz="1600" b="0">
                          <a:solidFill>
                            <a:srgbClr val="222B36"/>
                          </a:solidFill>
                          <a:latin typeface="Segoe UI"/>
                        </a:rPr>
                        <a:t>Passenger.</a:t>
                      </a:r>
                    </a:p>
                  </a:txBody>
                  <a:tcPr marL="73152" marR="73152" marT="27432" marB="27432">
                    <a:solidFill>
                      <a:srgbClr val="F7F9FC"/>
                    </a:solidFill>
                  </a:tcPr>
                </a:tc>
              </a:tr>
              <a:tr h="320040">
                <a:tc>
                  <a:txBody>
                    <a:bodyPr wrap="square"/>
                    <a:lstStyle/>
                    <a:p>
                      <a:r>
                        <a:rPr sz="1600" b="1">
                          <a:solidFill>
                            <a:srgbClr val="FFFFFF"/>
                          </a:solidFill>
                          <a:latin typeface="Segoe UI"/>
                        </a:rPr>
                        <a:t>Supporting actor</a:t>
                      </a:r>
                    </a:p>
                  </a:txBody>
                  <a:tcPr marL="73152" marR="73152" marT="27432" marB="27432">
                    <a:solidFill>
                      <a:srgbClr val="1F3A5F"/>
                    </a:solidFill>
                  </a:tcPr>
                </a:tc>
                <a:tc>
                  <a:txBody>
                    <a:bodyPr wrap="square"/>
                    <a:lstStyle/>
                    <a:p>
                      <a:r>
                        <a:rPr sz="1600" b="0">
                          <a:solidFill>
                            <a:srgbClr val="222B36"/>
                          </a:solidFill>
                          <a:latin typeface="Segoe UI"/>
                        </a:rPr>
                        <a:t>Train Controller.</a:t>
                      </a:r>
                    </a:p>
                  </a:txBody>
                  <a:tcPr marL="73152" marR="73152" marT="27432" marB="27432">
                    <a:solidFill>
                      <a:srgbClr val="FFFFFF"/>
                    </a:solidFill>
                  </a:tcPr>
                </a:tc>
              </a:tr>
              <a:tr h="320040">
                <a:tc>
                  <a:txBody>
                    <a:bodyPr wrap="square"/>
                    <a:lstStyle/>
                    <a:p>
                      <a:r>
                        <a:rPr sz="1600" b="1">
                          <a:solidFill>
                            <a:srgbClr val="FFFFFF"/>
                          </a:solidFill>
                          <a:latin typeface="Segoe UI"/>
                        </a:rPr>
                        <a:t>Requirement</a:t>
                      </a:r>
                    </a:p>
                  </a:txBody>
                  <a:tcPr marL="73152" marR="73152" marT="27432" marB="27432">
                    <a:solidFill>
                      <a:srgbClr val="1F3A5F"/>
                    </a:solidFill>
                  </a:tcPr>
                </a:tc>
                <a:tc>
                  <a:txBody>
                    <a:bodyPr wrap="square"/>
                    <a:lstStyle/>
                    <a:p>
                      <a:r>
                        <a:rPr sz="1600" b="0">
                          <a:solidFill>
                            <a:srgbClr val="222B36"/>
                          </a:solidFill>
                          <a:latin typeface="Segoe UI"/>
                        </a:rPr>
                        <a:t>REQ-FUNC-047; promoted passenger-brake-release signal.</a:t>
                      </a:r>
                    </a:p>
                  </a:txBody>
                  <a:tcPr marL="73152" marR="73152" marT="27432" marB="27432">
                    <a:solidFill>
                      <a:srgbClr val="F7F9FC"/>
                    </a:solidFill>
                  </a:tcPr>
                </a:tc>
              </a:tr>
              <a:tr h="320040">
                <a:tc>
                  <a:txBody>
                    <a:bodyPr wrap="square"/>
                    <a:lstStyle/>
                    <a:p>
                      <a:r>
                        <a:rPr sz="1600" b="1">
                          <a:solidFill>
                            <a:srgbClr val="FFFFFF"/>
                          </a:solidFill>
                          <a:latin typeface="Segoe UI"/>
                        </a:rPr>
                        <a:t>Preconditions</a:t>
                      </a:r>
                    </a:p>
                  </a:txBody>
                  <a:tcPr marL="73152" marR="73152" marT="27432" marB="27432">
                    <a:solidFill>
                      <a:srgbClr val="1F3A5F"/>
                    </a:solidFill>
                  </a:tcPr>
                </a:tc>
                <a:tc>
                  <a:txBody>
                    <a:bodyPr wrap="square"/>
                    <a:lstStyle/>
                    <a:p>
                      <a:r>
                        <a:rPr sz="1600" b="0">
                          <a:solidFill>
                            <a:srgbClr val="222B36"/>
                          </a:solidFill>
                          <a:latin typeface="Segoe UI"/>
                        </a:rPr>
                        <a:t>The selected train exists.</a:t>
                      </a:r>
                    </a:p>
                  </a:txBody>
                  <a:tcPr marL="73152" marR="73152" marT="27432" marB="27432">
                    <a:solidFill>
                      <a:srgbClr val="FFFFFF"/>
                    </a:solidFill>
                  </a:tcPr>
                </a:tc>
              </a:tr>
              <a:tr h="320040">
                <a:tc>
                  <a:txBody>
                    <a:bodyPr wrap="square"/>
                    <a:lstStyle/>
                    <a:p>
                      <a:r>
                        <a:rPr sz="1600" b="1">
                          <a:solidFill>
                            <a:srgbClr val="FFFFFF"/>
                          </a:solidFill>
                          <a:latin typeface="Segoe UI"/>
                        </a:rPr>
                        <a:t>Trigger</a:t>
                      </a:r>
                    </a:p>
                  </a:txBody>
                  <a:tcPr marL="73152" marR="73152" marT="27432" marB="27432">
                    <a:solidFill>
                      <a:srgbClr val="1F3A5F"/>
                    </a:solidFill>
                  </a:tcPr>
                </a:tc>
                <a:tc>
                  <a:txBody>
                    <a:bodyPr wrap="square"/>
                    <a:lstStyle/>
                    <a:p>
                      <a:r>
                        <a:rPr sz="1600" b="0">
                          <a:solidFill>
                            <a:srgbClr val="222B36"/>
                          </a:solidFill>
                          <a:latin typeface="Segoe UI"/>
                        </a:rPr>
                        <a:t>The passenger activates the emergency-brake button in the Train Model window.</a:t>
                      </a:r>
                    </a:p>
                  </a:txBody>
                  <a:tcPr marL="73152" marR="73152" marT="27432" marB="27432">
                    <a:solidFill>
                      <a:srgbClr val="F7F9FC"/>
                    </a:solidFill>
                  </a:tcPr>
                </a:tc>
              </a:tr>
              <a:tr h="320040">
                <a:tc>
                  <a:txBody>
                    <a:bodyPr wrap="square"/>
                    <a:lstStyle/>
                    <a:p>
                      <a:r>
                        <a:rPr sz="1600" b="1">
                          <a:solidFill>
                            <a:srgbClr val="FFFFFF"/>
                          </a:solidFill>
                          <a:latin typeface="Segoe UI"/>
                        </a:rPr>
                        <a:t>Main success scenario</a:t>
                      </a:r>
                    </a:p>
                  </a:txBody>
                  <a:tcPr marL="73152" marR="73152" marT="27432" marB="27432">
                    <a:solidFill>
                      <a:srgbClr val="1F3A5F"/>
                    </a:solidFill>
                  </a:tcPr>
                </a:tc>
                <a:tc>
                  <a:txBody>
                    <a:bodyPr wrap="square"/>
                    <a:lstStyle/>
                    <a:p>
                      <a:r>
                        <a:rPr sz="1600" b="0">
                          <a:solidFill>
                            <a:srgbClr val="222B36"/>
                          </a:solidFill>
                          <a:latin typeface="Segoe UI"/>
                        </a:rPr>
                        <a:t>Latch the passenger pull; report emergency brake active immediately; apply its physical braking force on subsequent steps. The Train Controller later sends a one-shot passenger_brake_release to clear the pull.</a:t>
                      </a:r>
                    </a:p>
                  </a:txBody>
                  <a:tcPr marL="73152" marR="73152" marT="27432" marB="27432">
                    <a:solidFill>
                      <a:srgbClr val="FFFFFF"/>
                    </a:solidFill>
                  </a:tcPr>
                </a:tc>
              </a:tr>
              <a:tr h="320040">
                <a:tc>
                  <a:txBody>
                    <a:bodyPr wrap="square"/>
                    <a:lstStyle/>
                    <a:p>
                      <a:r>
                        <a:rPr sz="1600" b="1">
                          <a:solidFill>
                            <a:srgbClr val="FFFFFF"/>
                          </a:solidFill>
                          <a:latin typeface="Segoe UI"/>
                        </a:rPr>
                        <a:t>Alternate flows</a:t>
                      </a:r>
                    </a:p>
                  </a:txBody>
                  <a:tcPr marL="73152" marR="73152" marT="27432" marB="27432">
                    <a:solidFill>
                      <a:srgbClr val="1F3A5F"/>
                    </a:solidFill>
                  </a:tcPr>
                </a:tc>
                <a:tc>
                  <a:txBody>
                    <a:bodyPr wrap="square"/>
                    <a:lstStyle/>
                    <a:p>
                      <a:r>
                        <a:rPr sz="1600" b="0">
                          <a:solidFill>
                            <a:srgbClr val="222B36"/>
                          </a:solidFill>
                          <a:latin typeface="Segoe UI"/>
                        </a:rPr>
                        <a:t>A brake failure does not disable the emergency brake. A held controller emergency command keeps emergency braking active after passenger release. The module window provides no passenger-release action.</a:t>
                      </a:r>
                    </a:p>
                  </a:txBody>
                  <a:tcPr marL="73152" marR="73152" marT="27432" marB="27432">
                    <a:solidFill>
                      <a:srgbClr val="F7F9FC"/>
                    </a:solidFill>
                  </a:tcPr>
                </a:tc>
              </a:tr>
              <a:tr h="320040">
                <a:tc>
                  <a:txBody>
                    <a:bodyPr wrap="square"/>
                    <a:lstStyle/>
                    <a:p>
                      <a:r>
                        <a:rPr sz="1600" b="1">
                          <a:solidFill>
                            <a:srgbClr val="FFFFFF"/>
                          </a:solidFill>
                          <a:latin typeface="Segoe UI"/>
                        </a:rPr>
                        <a:t>Postcondition</a:t>
                      </a:r>
                    </a:p>
                  </a:txBody>
                  <a:tcPr marL="73152" marR="73152" marT="27432" marB="27432">
                    <a:solidFill>
                      <a:srgbClr val="1F3A5F"/>
                    </a:solidFill>
                  </a:tcPr>
                </a:tc>
                <a:tc>
                  <a:txBody>
                    <a:bodyPr wrap="square"/>
                    <a:lstStyle/>
                    <a:p>
                      <a:r>
                        <a:rPr sz="1600" b="0">
                          <a:solidFill>
                            <a:srgbClr val="222B36"/>
                          </a:solidFill>
                          <a:latin typeface="Segoe UI"/>
                        </a:rPr>
                        <a:t>The pull remains latched until the release command is accepted.</a:t>
                      </a:r>
                    </a:p>
                  </a:txBody>
                  <a:tcPr marL="73152" marR="73152" marT="27432" marB="27432">
                    <a:solidFill>
                      <a:srgbClr val="FFFF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UC-TM-07 Inject or clear a failure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263</a:t>
            </a:r>
          </a:p>
        </p:txBody>
      </p:sp>
      <p:graphicFrame>
        <p:nvGraphicFramePr>
          <p:cNvPr id="7" name="Table 6"/>
          <p:cNvGraphicFramePr>
            <a:graphicFrameLocks noGrp="1"/>
          </p:cNvGraphicFramePr>
          <p:nvPr/>
        </p:nvGraphicFramePr>
        <p:xfrm>
          <a:off x="411480" y="1097280"/>
          <a:ext cx="11368735" cy="128016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Failure</a:t>
                      </a:r>
                    </a:p>
                  </a:txBody>
                  <a:tcPr marL="73152" marR="73152" marT="27432" marB="27432">
                    <a:solidFill>
                      <a:srgbClr val="1F3A5F"/>
                    </a:solidFill>
                  </a:tcPr>
                </a:tc>
                <a:tc>
                  <a:txBody>
                    <a:bodyPr wrap="square"/>
                    <a:lstStyle/>
                    <a:p>
                      <a:r>
                        <a:rPr sz="1600" b="0">
                          <a:solidFill>
                            <a:srgbClr val="222B36"/>
                          </a:solidFill>
                          <a:latin typeface="Segoe UI"/>
                        </a:rPr>
                        <a:t>Simulated effect</a:t>
                      </a:r>
                    </a:p>
                  </a:txBody>
                  <a:tcPr marL="73152" marR="73152" marT="27432" marB="27432">
                    <a:solidFill>
                      <a:srgbClr val="F7F9FC"/>
                    </a:solidFill>
                  </a:tcPr>
                </a:tc>
              </a:tr>
              <a:tr h="320040">
                <a:tc>
                  <a:txBody>
                    <a:bodyPr wrap="square"/>
                    <a:lstStyle/>
                    <a:p>
                      <a:r>
                        <a:rPr sz="1600" b="1">
                          <a:solidFill>
                            <a:srgbClr val="FFFFFF"/>
                          </a:solidFill>
                          <a:latin typeface="Segoe UI"/>
                        </a:rPr>
                        <a:t>Engine</a:t>
                      </a:r>
                    </a:p>
                  </a:txBody>
                  <a:tcPr marL="73152" marR="73152" marT="27432" marB="27432">
                    <a:solidFill>
                      <a:srgbClr val="1F3A5F"/>
                    </a:solidFill>
                  </a:tcPr>
                </a:tc>
                <a:tc>
                  <a:txBody>
                    <a:bodyPr wrap="square"/>
                    <a:lstStyle/>
                    <a:p>
                      <a:r>
                        <a:rPr sz="1600" b="0">
                          <a:solidFill>
                            <a:srgbClr val="222B36"/>
                          </a:solidFill>
                          <a:latin typeface="Segoe UI"/>
                        </a:rPr>
                        <a:t>Zero traction despite a nonzero power command.</a:t>
                      </a:r>
                    </a:p>
                  </a:txBody>
                  <a:tcPr marL="73152" marR="73152" marT="27432" marB="27432">
                    <a:solidFill>
                      <a:srgbClr val="FFFFFF"/>
                    </a:solidFill>
                  </a:tcPr>
                </a:tc>
              </a:tr>
              <a:tr h="320040">
                <a:tc>
                  <a:txBody>
                    <a:bodyPr wrap="square"/>
                    <a:lstStyle/>
                    <a:p>
                      <a:r>
                        <a:rPr sz="1600" b="1">
                          <a:solidFill>
                            <a:srgbClr val="FFFFFF"/>
                          </a:solidFill>
                          <a:latin typeface="Segoe UI"/>
                        </a:rPr>
                        <a:t>Signal pickup</a:t>
                      </a:r>
                    </a:p>
                  </a:txBody>
                  <a:tcPr marL="73152" marR="73152" marT="27432" marB="27432">
                    <a:solidFill>
                      <a:srgbClr val="1F3A5F"/>
                    </a:solidFill>
                  </a:tcPr>
                </a:tc>
                <a:tc>
                  <a:txBody>
                    <a:bodyPr wrap="square"/>
                    <a:lstStyle/>
                    <a:p>
                      <a:r>
                        <a:rPr sz="1600" b="0">
                          <a:solidFill>
                            <a:srgbClr val="222B36"/>
                          </a:solidFill>
                          <a:latin typeface="Segoe UI"/>
                        </a:rPr>
                        <a:t>Zero commanded speed and authority in controller feedback.</a:t>
                      </a:r>
                    </a:p>
                  </a:txBody>
                  <a:tcPr marL="73152" marR="73152" marT="27432" marB="27432">
                    <a:solidFill>
                      <a:srgbClr val="F7F9FC"/>
                    </a:solidFill>
                  </a:tcPr>
                </a:tc>
              </a:tr>
              <a:tr h="320040">
                <a:tc>
                  <a:txBody>
                    <a:bodyPr wrap="square"/>
                    <a:lstStyle/>
                    <a:p>
                      <a:r>
                        <a:rPr sz="1600" b="1">
                          <a:solidFill>
                            <a:srgbClr val="FFFFFF"/>
                          </a:solidFill>
                          <a:latin typeface="Segoe UI"/>
                        </a:rPr>
                        <a:t>Brake</a:t>
                      </a:r>
                    </a:p>
                  </a:txBody>
                  <a:tcPr marL="73152" marR="73152" marT="27432" marB="27432">
                    <a:solidFill>
                      <a:srgbClr val="1F3A5F"/>
                    </a:solidFill>
                  </a:tcPr>
                </a:tc>
                <a:tc>
                  <a:txBody>
                    <a:bodyPr wrap="square"/>
                    <a:lstStyle/>
                    <a:p>
                      <a:r>
                        <a:rPr sz="1600" b="0">
                          <a:solidFill>
                            <a:srgbClr val="222B36"/>
                          </a:solidFill>
                          <a:latin typeface="Segoe UI"/>
                        </a:rPr>
                        <a:t>Block service braking; emergency braking remains available.</a:t>
                      </a:r>
                    </a:p>
                  </a:txBody>
                  <a:tcPr marL="73152" marR="73152" marT="27432" marB="27432">
                    <a:solidFill>
                      <a:srgbClr val="FFFFFF"/>
                    </a:solidFill>
                  </a:tcPr>
                </a:tc>
              </a:tr>
            </a:tbl>
          </a:graphicData>
        </a:graphic>
      </p:graphicFrame>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Train Model class diagram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264</a:t>
            </a:r>
          </a:p>
        </p:txBody>
      </p:sp>
      <p:pic>
        <p:nvPicPr>
          <p:cNvPr id="7" name="Picture 6" descr="04_class.png"/>
          <p:cNvPicPr>
            <a:picLocks noChangeAspect="1"/>
          </p:cNvPicPr>
          <p:nvPr/>
        </p:nvPicPr>
        <p:blipFill>
          <a:blip r:embed="rId3"/>
          <a:stretch>
            <a:fillRect/>
          </a:stretch>
        </p:blipFill>
        <p:spPr>
          <a:xfrm>
            <a:off x="411480" y="1339164"/>
            <a:ext cx="11368735" cy="4746600"/>
          </a:xfrm>
          <a:prstGeom prst="rect">
            <a:avLst/>
          </a:prstGeom>
        </p:spPr>
      </p:pic>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Train Model class diagram (detail 1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265</a:t>
            </a:r>
          </a:p>
        </p:txBody>
      </p:sp>
      <p:pic>
        <p:nvPicPr>
          <p:cNvPr id="6" name="Picture 5" descr="04_class_0_0_2543_1062.png"/>
          <p:cNvPicPr>
            <a:picLocks noChangeAspect="1"/>
          </p:cNvPicPr>
          <p:nvPr/>
        </p:nvPicPr>
        <p:blipFill>
          <a:blip r:embed="rId3"/>
          <a:stretch>
            <a:fillRect/>
          </a:stretch>
        </p:blipFill>
        <p:spPr>
          <a:xfrm>
            <a:off x="411480" y="1434588"/>
            <a:ext cx="11368735" cy="4747776"/>
          </a:xfrm>
          <a:prstGeom prst="rect">
            <a:avLst/>
          </a:prstGeom>
        </p:spPr>
      </p:pic>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Train Model class diagram (detail 2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266</a:t>
            </a:r>
          </a:p>
        </p:txBody>
      </p:sp>
      <p:pic>
        <p:nvPicPr>
          <p:cNvPr id="6" name="Picture 5" descr="04_class_2081_0_4625_1062.png"/>
          <p:cNvPicPr>
            <a:picLocks noChangeAspect="1"/>
          </p:cNvPicPr>
          <p:nvPr/>
        </p:nvPicPr>
        <p:blipFill>
          <a:blip r:embed="rId3"/>
          <a:stretch>
            <a:fillRect/>
          </a:stretch>
        </p:blipFill>
        <p:spPr>
          <a:xfrm>
            <a:off x="411480" y="1435521"/>
            <a:ext cx="11368735" cy="4745910"/>
          </a:xfrm>
          <a:prstGeom prst="rect">
            <a:avLst/>
          </a:prstGeom>
        </p:spPr>
      </p:pic>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Train Model class diagram (detail 3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267</a:t>
            </a:r>
          </a:p>
        </p:txBody>
      </p:sp>
      <p:pic>
        <p:nvPicPr>
          <p:cNvPr id="6" name="Picture 5" descr="04_class_0_868_2543_1931.png"/>
          <p:cNvPicPr>
            <a:picLocks noChangeAspect="1"/>
          </p:cNvPicPr>
          <p:nvPr/>
        </p:nvPicPr>
        <p:blipFill>
          <a:blip r:embed="rId3"/>
          <a:stretch>
            <a:fillRect/>
          </a:stretch>
        </p:blipFill>
        <p:spPr>
          <a:xfrm>
            <a:off x="411480" y="1432352"/>
            <a:ext cx="11368735" cy="4752247"/>
          </a:xfrm>
          <a:prstGeom prst="rect">
            <a:avLst/>
          </a:prstGeom>
        </p:spPr>
      </p:pic>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Train Model class diagram (detail 4 of 4)</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Class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268</a:t>
            </a:r>
          </a:p>
        </p:txBody>
      </p:sp>
      <p:pic>
        <p:nvPicPr>
          <p:cNvPr id="6" name="Picture 5" descr="04_class_2081_868_4625_1931.png"/>
          <p:cNvPicPr>
            <a:picLocks noChangeAspect="1"/>
          </p:cNvPicPr>
          <p:nvPr/>
        </p:nvPicPr>
        <p:blipFill>
          <a:blip r:embed="rId3"/>
          <a:stretch>
            <a:fillRect/>
          </a:stretch>
        </p:blipFill>
        <p:spPr>
          <a:xfrm>
            <a:off x="411480" y="1433286"/>
            <a:ext cx="11368735" cy="4750379"/>
          </a:xfrm>
          <a:prstGeom prst="rect">
            <a:avLst/>
          </a:prstGeom>
        </p:spPr>
      </p:pic>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UC-TM-01 Advance physical motion: One accepted or rejected Train Model tick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269</a:t>
            </a:r>
          </a:p>
        </p:txBody>
      </p:sp>
      <p:pic>
        <p:nvPicPr>
          <p:cNvPr id="7" name="Picture 6" descr="05_sequence-advance-one-simulation-step.png"/>
          <p:cNvPicPr>
            <a:picLocks noChangeAspect="1"/>
          </p:cNvPicPr>
          <p:nvPr/>
        </p:nvPicPr>
        <p:blipFill>
          <a:blip r:embed="rId3"/>
          <a:stretch>
            <a:fillRect/>
          </a:stretch>
        </p:blipFill>
        <p:spPr>
          <a:xfrm>
            <a:off x="1466325" y="978408"/>
            <a:ext cx="9259045" cy="5468112"/>
          </a:xfrm>
          <a:prstGeom prst="rect">
            <a:avLst/>
          </a:prstGeom>
        </p:spPr>
      </p:pic>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UC-TM-01 Advance physical motion: validate step inputs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270</a:t>
            </a:r>
          </a:p>
        </p:txBody>
      </p:sp>
      <p:pic>
        <p:nvPicPr>
          <p:cNvPr id="7" name="Picture 6" descr="15_sequence-validate-step-inputs.png"/>
          <p:cNvPicPr>
            <a:picLocks noChangeAspect="1"/>
          </p:cNvPicPr>
          <p:nvPr/>
        </p:nvPicPr>
        <p:blipFill>
          <a:blip r:embed="rId3"/>
          <a:stretch>
            <a:fillRect/>
          </a:stretch>
        </p:blipFill>
        <p:spPr>
          <a:xfrm>
            <a:off x="411480" y="1205501"/>
            <a:ext cx="11368735" cy="5013926"/>
          </a:xfrm>
          <a:prstGeom prst="rect">
            <a:avLst/>
          </a:prstGeom>
        </p:spPr>
      </p:pic>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UC-TM-01 Advance physical motion: compute train motion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271</a:t>
            </a:r>
          </a:p>
        </p:txBody>
      </p:sp>
      <p:pic>
        <p:nvPicPr>
          <p:cNvPr id="7" name="Picture 6" descr="16_sequence-compute-train-motion.png"/>
          <p:cNvPicPr>
            <a:picLocks noChangeAspect="1"/>
          </p:cNvPicPr>
          <p:nvPr/>
        </p:nvPicPr>
        <p:blipFill>
          <a:blip r:embed="rId3"/>
          <a:stretch>
            <a:fillRect/>
          </a:stretch>
        </p:blipFill>
        <p:spPr>
          <a:xfrm>
            <a:off x="2417680" y="978408"/>
            <a:ext cx="7356334" cy="5468112"/>
          </a:xfrm>
          <a:prstGeom prst="rect">
            <a:avLst/>
          </a:prstGeom>
        </p:spPr>
      </p:pic>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UC-TM-01 Advance physical motion: update passengers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272</a:t>
            </a:r>
          </a:p>
        </p:txBody>
      </p:sp>
      <p:pic>
        <p:nvPicPr>
          <p:cNvPr id="7" name="Picture 6" descr="17_sequence-update-passengers.png"/>
          <p:cNvPicPr>
            <a:picLocks noChangeAspect="1"/>
          </p:cNvPicPr>
          <p:nvPr/>
        </p:nvPicPr>
        <p:blipFill>
          <a:blip r:embed="rId3"/>
          <a:stretch>
            <a:fillRect/>
          </a:stretch>
        </p:blipFill>
        <p:spPr>
          <a:xfrm>
            <a:off x="411480" y="1522804"/>
            <a:ext cx="11368735" cy="4379320"/>
          </a:xfrm>
          <a:prstGeom prst="rect">
            <a:avLst/>
          </a:prstGeom>
        </p:spPr>
      </p:pic>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100" b="1">
                <a:solidFill>
                  <a:srgbClr val="FFFFFF"/>
                </a:solidFill>
                <a:latin typeface="Segoe UI"/>
              </a:rPr>
              <a:t>UC-TM-01 Advance physical motion: detect block change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273</a:t>
            </a:r>
          </a:p>
        </p:txBody>
      </p:sp>
      <p:pic>
        <p:nvPicPr>
          <p:cNvPr id="7" name="Picture 6" descr="18_sequence-detect-block-change.png"/>
          <p:cNvPicPr>
            <a:picLocks noChangeAspect="1"/>
          </p:cNvPicPr>
          <p:nvPr/>
        </p:nvPicPr>
        <p:blipFill>
          <a:blip r:embed="rId3"/>
          <a:stretch>
            <a:fillRect/>
          </a:stretch>
        </p:blipFill>
        <p:spPr>
          <a:xfrm>
            <a:off x="411480" y="1365106"/>
            <a:ext cx="11368735" cy="4694715"/>
          </a:xfrm>
          <a:prstGeom prst="rect">
            <a:avLst/>
          </a:prstGeom>
        </p:spPr>
      </p:pic>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900" b="1">
                <a:solidFill>
                  <a:srgbClr val="FFFFFF"/>
                </a:solidFill>
                <a:latin typeface="Segoe UI"/>
              </a:rPr>
              <a:t>UC-TM-01 Advance physical motion: update cabin temperature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274</a:t>
            </a:r>
          </a:p>
        </p:txBody>
      </p:sp>
      <p:pic>
        <p:nvPicPr>
          <p:cNvPr id="7" name="Picture 6" descr="19_sequence-update-cabin-temperature.png"/>
          <p:cNvPicPr>
            <a:picLocks noChangeAspect="1"/>
          </p:cNvPicPr>
          <p:nvPr/>
        </p:nvPicPr>
        <p:blipFill>
          <a:blip r:embed="rId3"/>
          <a:stretch>
            <a:fillRect/>
          </a:stretch>
        </p:blipFill>
        <p:spPr>
          <a:xfrm>
            <a:off x="411480" y="2164391"/>
            <a:ext cx="11368735" cy="3096145"/>
          </a:xfrm>
          <a:prstGeom prst="rect">
            <a:avLst/>
          </a:prstGeom>
        </p:spPr>
      </p:pic>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UC-TM-01 Advance physical motion: publish outputs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275</a:t>
            </a:r>
          </a:p>
        </p:txBody>
      </p:sp>
      <p:pic>
        <p:nvPicPr>
          <p:cNvPr id="7" name="Picture 6" descr="20_sequence-publish-outputs.png"/>
          <p:cNvPicPr>
            <a:picLocks noChangeAspect="1"/>
          </p:cNvPicPr>
          <p:nvPr/>
        </p:nvPicPr>
        <p:blipFill>
          <a:blip r:embed="rId3"/>
          <a:stretch>
            <a:fillRect/>
          </a:stretch>
        </p:blipFill>
        <p:spPr>
          <a:xfrm>
            <a:off x="411480" y="981072"/>
            <a:ext cx="11368735" cy="5462784"/>
          </a:xfrm>
          <a:prstGeom prst="rect">
            <a:avLst/>
          </a:prstGeom>
        </p:spPr>
      </p:pic>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UC-TM-02 View and select a train: view train status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276</a:t>
            </a:r>
          </a:p>
        </p:txBody>
      </p:sp>
      <p:pic>
        <p:nvPicPr>
          <p:cNvPr id="7" name="Picture 6" descr="06_sequence-view-train-status.png"/>
          <p:cNvPicPr>
            <a:picLocks noChangeAspect="1"/>
          </p:cNvPicPr>
          <p:nvPr/>
        </p:nvPicPr>
        <p:blipFill>
          <a:blip r:embed="rId3"/>
          <a:stretch>
            <a:fillRect/>
          </a:stretch>
        </p:blipFill>
        <p:spPr>
          <a:xfrm>
            <a:off x="411480" y="2001020"/>
            <a:ext cx="11368735" cy="3422887"/>
          </a:xfrm>
          <a:prstGeom prst="rect">
            <a:avLst/>
          </a:prstGeom>
        </p:spPr>
      </p:pic>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UC-TM-02 View and select a train: view announcement</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277</a:t>
            </a:r>
          </a:p>
        </p:txBody>
      </p:sp>
      <p:pic>
        <p:nvPicPr>
          <p:cNvPr id="7" name="Picture 6" descr="07_sequence-view-announcement.png"/>
          <p:cNvPicPr>
            <a:picLocks noChangeAspect="1"/>
          </p:cNvPicPr>
          <p:nvPr/>
        </p:nvPicPr>
        <p:blipFill>
          <a:blip r:embed="rId3"/>
          <a:stretch>
            <a:fillRect/>
          </a:stretch>
        </p:blipFill>
        <p:spPr>
          <a:xfrm>
            <a:off x="411480" y="1475695"/>
            <a:ext cx="11368735" cy="4473537"/>
          </a:xfrm>
          <a:prstGeom prst="rect">
            <a:avLst/>
          </a:prstGeom>
        </p:spPr>
      </p:pic>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UC-TM-02 View and select a train: view announcement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278</a:t>
            </a:r>
          </a:p>
        </p:txBody>
      </p:sp>
      <p:pic>
        <p:nvPicPr>
          <p:cNvPr id="6" name="Picture 5" descr="07_sequence-view-announcement_0_0_2167_1609.png"/>
          <p:cNvPicPr>
            <a:picLocks noChangeAspect="1"/>
          </p:cNvPicPr>
          <p:nvPr/>
        </p:nvPicPr>
        <p:blipFill>
          <a:blip r:embed="rId3"/>
          <a:stretch>
            <a:fillRect/>
          </a:stretch>
        </p:blipFill>
        <p:spPr>
          <a:xfrm>
            <a:off x="2136532" y="868680"/>
            <a:ext cx="7918630" cy="5879592"/>
          </a:xfrm>
          <a:prstGeom prst="rect">
            <a:avLst/>
          </a:prstGeom>
        </p:spPr>
      </p:pic>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UC-TM-02 View and select a train: view announcement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279</a:t>
            </a:r>
          </a:p>
        </p:txBody>
      </p:sp>
      <p:pic>
        <p:nvPicPr>
          <p:cNvPr id="6" name="Picture 5" descr="07_sequence-view-announcement_1921_0_4089_1609.png"/>
          <p:cNvPicPr>
            <a:picLocks noChangeAspect="1"/>
          </p:cNvPicPr>
          <p:nvPr/>
        </p:nvPicPr>
        <p:blipFill>
          <a:blip r:embed="rId3"/>
          <a:stretch>
            <a:fillRect/>
          </a:stretch>
        </p:blipFill>
        <p:spPr>
          <a:xfrm>
            <a:off x="2134705" y="868680"/>
            <a:ext cx="7922284" cy="5879592"/>
          </a:xfrm>
          <a:prstGeom prst="rect">
            <a:avLst/>
          </a:prstGeom>
        </p:spPr>
      </p:pic>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UC-TM-03 Apply onboard equipment commands: apply controller commands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280</a:t>
            </a:r>
          </a:p>
        </p:txBody>
      </p:sp>
      <p:pic>
        <p:nvPicPr>
          <p:cNvPr id="7" name="Picture 6" descr="12_sequence-apply-controller-commands.png"/>
          <p:cNvPicPr>
            <a:picLocks noChangeAspect="1"/>
          </p:cNvPicPr>
          <p:nvPr/>
        </p:nvPicPr>
        <p:blipFill>
          <a:blip r:embed="rId3"/>
          <a:stretch>
            <a:fillRect/>
          </a:stretch>
        </p:blipFill>
        <p:spPr>
          <a:xfrm>
            <a:off x="411480" y="1791381"/>
            <a:ext cx="11368735" cy="3842165"/>
          </a:xfrm>
          <a:prstGeom prst="rect">
            <a:avLst/>
          </a:prstGeom>
        </p:spPr>
      </p:pic>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UC-TM-04 Receive track circuit, terrain, and beacon data: receive track data</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281</a:t>
            </a:r>
          </a:p>
        </p:txBody>
      </p:sp>
      <p:pic>
        <p:nvPicPr>
          <p:cNvPr id="7" name="Picture 6" descr="13_sequence-receive-track-data.png"/>
          <p:cNvPicPr>
            <a:picLocks noChangeAspect="1"/>
          </p:cNvPicPr>
          <p:nvPr/>
        </p:nvPicPr>
        <p:blipFill>
          <a:blip r:embed="rId3"/>
          <a:stretch>
            <a:fillRect/>
          </a:stretch>
        </p:blipFill>
        <p:spPr>
          <a:xfrm>
            <a:off x="411480" y="1891491"/>
            <a:ext cx="11368735" cy="3641945"/>
          </a:xfrm>
          <a:prstGeom prst="rect">
            <a:avLst/>
          </a:prstGeom>
        </p:spPr>
      </p:pic>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UC-TM-04 Receive track circuit, terrain, and beacon data: receive track data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282</a:t>
            </a:r>
          </a:p>
        </p:txBody>
      </p:sp>
      <p:pic>
        <p:nvPicPr>
          <p:cNvPr id="6" name="Picture 5" descr="13_sequence-receive-track-data_0_0_2013_1217.png"/>
          <p:cNvPicPr>
            <a:picLocks noChangeAspect="1"/>
          </p:cNvPicPr>
          <p:nvPr/>
        </p:nvPicPr>
        <p:blipFill>
          <a:blip r:embed="rId3"/>
          <a:stretch>
            <a:fillRect/>
          </a:stretch>
        </p:blipFill>
        <p:spPr>
          <a:xfrm>
            <a:off x="1233227" y="868680"/>
            <a:ext cx="9725241" cy="5879592"/>
          </a:xfrm>
          <a:prstGeom prst="rect">
            <a:avLst/>
          </a:prstGeom>
        </p:spPr>
      </p:pic>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UC-TM-04 Receive track circuit, terrain, and beacon data: receive track data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283</a:t>
            </a:r>
          </a:p>
        </p:txBody>
      </p:sp>
      <p:pic>
        <p:nvPicPr>
          <p:cNvPr id="6" name="Picture 5" descr="13_sequence-receive-track-data_1785_0_3799_1217.png"/>
          <p:cNvPicPr>
            <a:picLocks noChangeAspect="1"/>
          </p:cNvPicPr>
          <p:nvPr/>
        </p:nvPicPr>
        <p:blipFill>
          <a:blip r:embed="rId3"/>
          <a:stretch>
            <a:fillRect/>
          </a:stretch>
        </p:blipFill>
        <p:spPr>
          <a:xfrm>
            <a:off x="1230811" y="868680"/>
            <a:ext cx="9730072" cy="5879592"/>
          </a:xfrm>
          <a:prstGeom prst="rect">
            <a:avLst/>
          </a:prstGeom>
        </p:spPr>
      </p:pic>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UC-TM-05 Board and disembark passengers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284</a:t>
            </a:r>
          </a:p>
        </p:txBody>
      </p:sp>
      <p:pic>
        <p:nvPicPr>
          <p:cNvPr id="7" name="Picture 6" descr="09_sequence-board-and-disembark-passengers.png"/>
          <p:cNvPicPr>
            <a:picLocks noChangeAspect="1"/>
          </p:cNvPicPr>
          <p:nvPr/>
        </p:nvPicPr>
        <p:blipFill>
          <a:blip r:embed="rId3"/>
          <a:stretch>
            <a:fillRect/>
          </a:stretch>
        </p:blipFill>
        <p:spPr>
          <a:xfrm>
            <a:off x="411480" y="1208206"/>
            <a:ext cx="11368735" cy="5008515"/>
          </a:xfrm>
          <a:prstGeom prst="rect">
            <a:avLst/>
          </a:prstGeom>
        </p:spPr>
      </p:pic>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UC-TM-05 Board and disembark passengers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285</a:t>
            </a:r>
          </a:p>
        </p:txBody>
      </p:sp>
      <p:pic>
        <p:nvPicPr>
          <p:cNvPr id="6" name="Picture 5" descr="09_sequence-board-and-disembark-passengers_0_0_1921_1597.png"/>
          <p:cNvPicPr>
            <a:picLocks noChangeAspect="1"/>
          </p:cNvPicPr>
          <p:nvPr/>
        </p:nvPicPr>
        <p:blipFill>
          <a:blip r:embed="rId3"/>
          <a:stretch>
            <a:fillRect/>
          </a:stretch>
        </p:blipFill>
        <p:spPr>
          <a:xfrm>
            <a:off x="2559625" y="868680"/>
            <a:ext cx="7072445" cy="5879592"/>
          </a:xfrm>
          <a:prstGeom prst="rect">
            <a:avLst/>
          </a:prstGeom>
        </p:spPr>
      </p:pic>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UC-TM-05 Board and disembark passengers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286</a:t>
            </a:r>
          </a:p>
        </p:txBody>
      </p:sp>
      <p:pic>
        <p:nvPicPr>
          <p:cNvPr id="6" name="Picture 5" descr="09_sequence-board-and-disembark-passengers_1703_0_3625_1597.png"/>
          <p:cNvPicPr>
            <a:picLocks noChangeAspect="1"/>
          </p:cNvPicPr>
          <p:nvPr/>
        </p:nvPicPr>
        <p:blipFill>
          <a:blip r:embed="rId3"/>
          <a:stretch>
            <a:fillRect/>
          </a:stretch>
        </p:blipFill>
        <p:spPr>
          <a:xfrm>
            <a:off x="2557784" y="868680"/>
            <a:ext cx="7076127" cy="5879592"/>
          </a:xfrm>
          <a:prstGeom prst="rect">
            <a:avLst/>
          </a:prstGeom>
        </p:spPr>
      </p:pic>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UC-TM-06 Pull and release the passenger emergency brake: pull passenger emergency 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287</a:t>
            </a:r>
          </a:p>
        </p:txBody>
      </p:sp>
      <p:pic>
        <p:nvPicPr>
          <p:cNvPr id="7" name="Picture 6" descr="08_sequence-pull-passenger-emergency-brake.png"/>
          <p:cNvPicPr>
            <a:picLocks noChangeAspect="1"/>
          </p:cNvPicPr>
          <p:nvPr/>
        </p:nvPicPr>
        <p:blipFill>
          <a:blip r:embed="rId3"/>
          <a:stretch>
            <a:fillRect/>
          </a:stretch>
        </p:blipFill>
        <p:spPr>
          <a:xfrm>
            <a:off x="411480" y="2082064"/>
            <a:ext cx="11368735" cy="3260799"/>
          </a:xfrm>
          <a:prstGeom prst="rect">
            <a:avLst/>
          </a:prstGeom>
        </p:spPr>
      </p:pic>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UC-TM-06 Pull and release the passenger emergency brake: pull passenger emergency brake (detail 1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288</a:t>
            </a:r>
          </a:p>
        </p:txBody>
      </p:sp>
      <p:pic>
        <p:nvPicPr>
          <p:cNvPr id="6" name="Picture 5" descr="08_sequence-pull-passenger-emergency-brake_0_0_1982_1073.png"/>
          <p:cNvPicPr>
            <a:picLocks noChangeAspect="1"/>
          </p:cNvPicPr>
          <p:nvPr/>
        </p:nvPicPr>
        <p:blipFill>
          <a:blip r:embed="rId3"/>
          <a:stretch>
            <a:fillRect/>
          </a:stretch>
        </p:blipFill>
        <p:spPr>
          <a:xfrm>
            <a:off x="665581" y="868680"/>
            <a:ext cx="10860532" cy="5879592"/>
          </a:xfrm>
          <a:prstGeom prst="rect">
            <a:avLst/>
          </a:prstGeom>
        </p:spPr>
      </p:pic>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UC-TM-06 Pull and release the passenger emergency brake: pull passenger emergency brake (detail 2 of 2)</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289</a:t>
            </a:r>
          </a:p>
        </p:txBody>
      </p:sp>
      <p:pic>
        <p:nvPicPr>
          <p:cNvPr id="6" name="Picture 5" descr="08_sequence-pull-passenger-emergency-brake_1758_0_3741_1073.png"/>
          <p:cNvPicPr>
            <a:picLocks noChangeAspect="1"/>
          </p:cNvPicPr>
          <p:nvPr/>
        </p:nvPicPr>
        <p:blipFill>
          <a:blip r:embed="rId3"/>
          <a:stretch>
            <a:fillRect/>
          </a:stretch>
        </p:blipFill>
        <p:spPr>
          <a:xfrm>
            <a:off x="662841" y="868680"/>
            <a:ext cx="10866012" cy="5879592"/>
          </a:xfrm>
          <a:prstGeom prst="rect">
            <a:avLst/>
          </a:prstGeom>
        </p:spPr>
      </p:pic>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000" b="1">
                <a:solidFill>
                  <a:srgbClr val="FFFFFF"/>
                </a:solidFill>
                <a:latin typeface="Segoe UI"/>
              </a:rPr>
              <a:t>UC-TM-07 Inject or clear a failure: inject clear failure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290</a:t>
            </a:r>
          </a:p>
        </p:txBody>
      </p:sp>
      <p:pic>
        <p:nvPicPr>
          <p:cNvPr id="7" name="Picture 6" descr="10_sequence-inject-clear-failure.png"/>
          <p:cNvPicPr>
            <a:picLocks noChangeAspect="1"/>
          </p:cNvPicPr>
          <p:nvPr/>
        </p:nvPicPr>
        <p:blipFill>
          <a:blip r:embed="rId3"/>
          <a:stretch>
            <a:fillRect/>
          </a:stretch>
        </p:blipFill>
        <p:spPr>
          <a:xfrm>
            <a:off x="411480" y="1457604"/>
            <a:ext cx="11368735" cy="4509719"/>
          </a:xfrm>
          <a:prstGeom prst="rect">
            <a:avLst/>
          </a:prstGeom>
        </p:spPr>
      </p:pic>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Sequence diagram: report state to train controller</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291</a:t>
            </a:r>
          </a:p>
        </p:txBody>
      </p:sp>
      <p:pic>
        <p:nvPicPr>
          <p:cNvPr id="7" name="Picture 6" descr="11_sequence-report-state-to-train-controller.png"/>
          <p:cNvPicPr>
            <a:picLocks noChangeAspect="1"/>
          </p:cNvPicPr>
          <p:nvPr/>
        </p:nvPicPr>
        <p:blipFill>
          <a:blip r:embed="rId3"/>
          <a:stretch>
            <a:fillRect/>
          </a:stretch>
        </p:blipFill>
        <p:spPr>
          <a:xfrm>
            <a:off x="411480" y="1338659"/>
            <a:ext cx="11368735" cy="4747610"/>
          </a:xfrm>
          <a:prstGeom prst="rect">
            <a:avLst/>
          </a:prstGeom>
        </p:spPr>
      </p:pic>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Sequence diagram: report position to track model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Model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292</a:t>
            </a:r>
          </a:p>
        </p:txBody>
      </p:sp>
      <p:pic>
        <p:nvPicPr>
          <p:cNvPr id="7" name="Picture 6" descr="14_sequence-report-position-to-track-model.png"/>
          <p:cNvPicPr>
            <a:picLocks noChangeAspect="1"/>
          </p:cNvPicPr>
          <p:nvPr/>
        </p:nvPicPr>
        <p:blipFill>
          <a:blip r:embed="rId3"/>
          <a:stretch>
            <a:fillRect/>
          </a:stretch>
        </p:blipFill>
        <p:spPr>
          <a:xfrm>
            <a:off x="411480" y="1875377"/>
            <a:ext cx="11368735" cy="3674174"/>
          </a:xfrm>
          <a:prstGeom prst="rect">
            <a:avLst/>
          </a:prstGeom>
        </p:spPr>
      </p:pic>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Train Controller (SW and HW)</a:t>
            </a:r>
          </a:p>
        </p:txBody>
      </p:sp>
      <p:sp>
        <p:nvSpPr>
          <p:cNvPr id="5" name="TextBox 4"/>
          <p:cNvSpPr txBox="1"/>
          <p:nvPr/>
        </p:nvSpPr>
        <p:spPr>
          <a:xfrm>
            <a:off x="822960" y="3474720"/>
            <a:ext cx="10515600" cy="914400"/>
          </a:xfrm>
          <a:prstGeom prst="rect">
            <a:avLst/>
          </a:prstGeom>
          <a:noFill/>
        </p:spPr>
        <p:txBody>
          <a:bodyPr wrap="square" anchor="t" lIns="45720" rIns="45720">
            <a:spAutoFit/>
          </a:bodyPr>
          <a:lstStyle/>
          <a:p>
            <a:pPr algn="l"/>
            <a:r>
              <a:rPr sz="2000" b="0">
                <a:solidFill>
                  <a:srgbClr val="5B6775"/>
                </a:solidFill>
                <a:latin typeface="Segoe UI"/>
              </a:rPr>
              <a:t>Jonathan Tsang, Ivan Zheng · SDD Section 5.6</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Train Controller (SW and HW): what it does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294</a:t>
            </a:r>
          </a:p>
        </p:txBody>
      </p:sp>
      <p:sp>
        <p:nvSpPr>
          <p:cNvPr id="7" name="TextBox 6"/>
          <p:cNvSpPr txBox="1"/>
          <p:nvPr/>
        </p:nvSpPr>
        <p:spPr>
          <a:xfrm>
            <a:off x="411480" y="1097280"/>
            <a:ext cx="11368735" cy="5349240"/>
          </a:xfrm>
          <a:prstGeom prst="rect">
            <a:avLst/>
          </a:prstGeom>
          <a:noFill/>
        </p:spPr>
        <p:txBody>
          <a:bodyPr wrap="square">
            <a:spAutoFit/>
          </a:bodyPr>
          <a:lstStyle/>
          <a:p>
            <a:pPr>
              <a:spcAft>
                <a:spcPts val="800"/>
              </a:spcAft>
            </a:pPr>
            <a:r>
              <a:rPr sz="2400">
                <a:solidFill>
                  <a:srgbClr val="222B36"/>
                </a:solidFill>
                <a:latin typeface="Segoe UI"/>
              </a:rPr>
              <a:t>•  The vital on-board controller of each train: one code base, SW (Green) and HW on a Pi (Red)</a:t>
            </a:r>
          </a:p>
          <a:p>
            <a:pPr>
              <a:spcAft>
                <a:spcPts val="800"/>
              </a:spcAft>
            </a:pPr>
            <a:r>
              <a:rPr sz="2400">
                <a:solidFill>
                  <a:srgbClr val="222B36"/>
                </a:solidFill>
                <a:latin typeface="Segoe UI"/>
              </a:rPr>
              <a:t>•  PI speed law to traction power, 0 to 480 kW; Manual and Automatic</a:t>
            </a:r>
          </a:p>
          <a:p>
            <a:pPr>
              <a:spcAft>
                <a:spcPts val="800"/>
              </a:spcAft>
            </a:pPr>
            <a:r>
              <a:rPr sz="2400">
                <a:solidFill>
                  <a:srgbClr val="222B36"/>
                </a:solidFill>
                <a:latin typeface="Segoe UI"/>
              </a:rPr>
              <a:t>•  Commanded speed is the only cap; service brake at authority 0; no traction under braking</a:t>
            </a:r>
          </a:p>
          <a:p>
            <a:pPr>
              <a:spcAft>
                <a:spcPts val="800"/>
              </a:spcAft>
            </a:pPr>
            <a:r>
              <a:rPr sz="2400">
                <a:solidFill>
                  <a:srgbClr val="222B36"/>
                </a:solidFill>
                <a:latin typeface="Segoe UI"/>
              </a:rPr>
              <a:t>•  Infers engine, brake and signal pickup failures; latches the emergency brake</a:t>
            </a:r>
          </a:p>
          <a:p>
            <a:pPr>
              <a:spcAft>
                <a:spcPts val="800"/>
              </a:spcAft>
            </a:pPr>
            <a:r>
              <a:rPr sz="2400">
                <a:solidFill>
                  <a:srgbClr val="222B36"/>
                </a:solidFill>
                <a:latin typeface="Segoe UI"/>
              </a:rPr>
              <a:t>•  Doors, lights, cabin temperature and station announcements</a:t>
            </a:r>
          </a:p>
          <a:p>
            <a:pPr>
              <a:spcAft>
                <a:spcPts val="800"/>
              </a:spcAft>
            </a:pPr>
            <a:r>
              <a:rPr sz="2400">
                <a:solidFill>
                  <a:srgbClr val="222B36"/>
                </a:solidFill>
                <a:latin typeface="Segoe UI"/>
              </a:rPr>
              <a:t>•  The engineer commissions Kp and Ki before a train may move</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400" b="1">
                <a:solidFill>
                  <a:srgbClr val="FFFFFF"/>
                </a:solidFill>
                <a:latin typeface="Segoe UI"/>
              </a:rPr>
              <a:t>Train Controller (SW and HW): use case diagram</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295</a:t>
            </a:r>
          </a:p>
        </p:txBody>
      </p:sp>
      <p:pic>
        <p:nvPicPr>
          <p:cNvPr id="7" name="Picture 6" descr="03-use-cas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 Set target speed (Manual)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296</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System</a:t>
                      </a:r>
                    </a:p>
                  </a:txBody>
                  <a:tcPr marL="73152" marR="73152" marT="27432" marB="27432">
                    <a:solidFill>
                      <a:srgbClr val="1F3A5F"/>
                    </a:solidFill>
                  </a:tcPr>
                </a:tc>
                <a:tc>
                  <a:txBody>
                    <a:bodyPr wrap="square"/>
                    <a:lstStyle/>
                    <a:p>
                      <a:r>
                        <a:rPr sz="1600" b="0">
                          <a:solidFill>
                            <a:srgbClr val="222B36"/>
                          </a:solidFill>
                          <a:latin typeface="Segoe UI"/>
                        </a:rPr>
                        <a:t>HW 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Use case</a:t>
                      </a:r>
                    </a:p>
                  </a:txBody>
                  <a:tcPr marL="73152" marR="73152" marT="27432" marB="27432">
                    <a:solidFill>
                      <a:srgbClr val="1F3A5F"/>
                    </a:solidFill>
                  </a:tcPr>
                </a:tc>
                <a:tc>
                  <a:txBody>
                    <a:bodyPr wrap="square"/>
                    <a:lstStyle/>
                    <a:p>
                      <a:r>
                        <a:rPr sz="1600" b="0">
                          <a:solidFill>
                            <a:srgbClr val="222B36"/>
                          </a:solidFill>
                          <a:latin typeface="Segoe UI"/>
                        </a:rPr>
                        <a:t>Set target speed (Manual)</a:t>
                      </a:r>
                    </a:p>
                  </a:txBody>
                  <a:tcPr marL="73152" marR="73152" marT="27432" marB="27432">
                    <a:solidFill>
                      <a:srgbClr val="FFFFFF"/>
                    </a:solidFill>
                  </a:tcPr>
                </a:tc>
              </a:tr>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Driver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 The driver turns the speed dial in 1 mph steps; a press in the bottom gap reads 0 (M14).</a:t>
                      </a:r>
                    </a:p>
                    <a:p>
                      <a:r>
                        <a:rPr sz="1600" b="0">
                          <a:solidFill>
                            <a:srgbClr val="222B36"/>
                          </a:solidFill>
                          <a:latin typeface="Segoe UI"/>
                        </a:rPr>
                        <a:t>• Accepted only when the driver is signed in, the train is in Manual, authority is above 0 and no failure is latched.</a:t>
                      </a:r>
                    </a:p>
                    <a:p>
                      <a:r>
                        <a:rPr sz="1600" b="0">
                          <a:solidFill>
                            <a:srgbClr val="222B36"/>
                          </a:solidFill>
                          <a:latin typeface="Segoe UI"/>
                        </a:rPr>
                        <a:t>• The target is capped at the commanded speed, the only cap; when the commanded speed drops, the target drops with it (M1).</a:t>
                      </a:r>
                    </a:p>
                    <a:p>
                      <a:r>
                        <a:rPr sz="1600" b="0">
                          <a:solidFill>
                            <a:srgbClr val="222B36"/>
                          </a:solidFill>
                          <a:latin typeface="Segoe UI"/>
                        </a:rPr>
                        <a:t>• Each tick the PI law drives power toward the target.</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Input: dial value (mph)</a:t>
                      </a:r>
                    </a:p>
                    <a:p>
                      <a:r>
                        <a:rPr sz="1600" b="0">
                          <a:solidFill>
                            <a:srgbClr val="222B36"/>
                          </a:solidFill>
                          <a:latin typeface="Segoe UI"/>
                        </a:rPr>
                        <a:t>Output: target speed; power command (W) each tick</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driver moves the speed dial.</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train accelerates or slows to the target; the dial shows the new setpoint.</a:t>
                      </a:r>
                    </a:p>
                  </a:txBody>
                  <a:tcPr marL="73152" marR="73152" marT="27432" marB="27432">
                    <a:solidFill>
                      <a:srgbClr val="F7F9FC"/>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2: Switch Manual / Automatic</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297</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System</a:t>
                      </a:r>
                    </a:p>
                  </a:txBody>
                  <a:tcPr marL="73152" marR="73152" marT="27432" marB="27432">
                    <a:solidFill>
                      <a:srgbClr val="1F3A5F"/>
                    </a:solidFill>
                  </a:tcPr>
                </a:tc>
                <a:tc>
                  <a:txBody>
                    <a:bodyPr wrap="square"/>
                    <a:lstStyle/>
                    <a:p>
                      <a:r>
                        <a:rPr sz="1600" b="0">
                          <a:solidFill>
                            <a:srgbClr val="222B36"/>
                          </a:solidFill>
                          <a:latin typeface="Segoe UI"/>
                        </a:rPr>
                        <a:t>HW 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Use case</a:t>
                      </a:r>
                    </a:p>
                  </a:txBody>
                  <a:tcPr marL="73152" marR="73152" marT="27432" marB="27432">
                    <a:solidFill>
                      <a:srgbClr val="1F3A5F"/>
                    </a:solidFill>
                  </a:tcPr>
                </a:tc>
                <a:tc>
                  <a:txBody>
                    <a:bodyPr wrap="square"/>
                    <a:lstStyle/>
                    <a:p>
                      <a:r>
                        <a:rPr sz="1600" b="0">
                          <a:solidFill>
                            <a:srgbClr val="222B36"/>
                          </a:solidFill>
                          <a:latin typeface="Segoe UI"/>
                        </a:rPr>
                        <a:t>Switch Manual / Automatic</a:t>
                      </a:r>
                    </a:p>
                  </a:txBody>
                  <a:tcPr marL="73152" marR="73152" marT="27432" marB="27432">
                    <a:solidFill>
                      <a:srgbClr val="FFFFFF"/>
                    </a:solidFill>
                  </a:tcPr>
                </a:tc>
              </a:tr>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Driver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 The signed-in operator picks Manual or Automatic for the selected train.</a:t>
                      </a:r>
                    </a:p>
                    <a:p>
                      <a:r>
                        <a:rPr sz="1600" b="0">
                          <a:solidFill>
                            <a:srgbClr val="222B36"/>
                          </a:solidFill>
                          <a:latin typeface="Segoe UI"/>
                        </a:rPr>
                        <a:t>• Allowed with a failure latched, so the driver can reach Manual to try the train; the failure still holds the target at 0 (M3).</a:t>
                      </a:r>
                    </a:p>
                    <a:p>
                      <a:r>
                        <a:rPr sz="1600" b="0">
                          <a:solidFill>
                            <a:srgbClr val="222B36"/>
                          </a:solidFill>
                          <a:latin typeface="Segoe UI"/>
                        </a:rPr>
                        <a:t>• Automatic: the target follows the commanded speed, and the cab controls lock except the emergency brake and the mode switch.</a:t>
                      </a:r>
                    </a:p>
                    <a:p>
                      <a:r>
                        <a:rPr sz="1600" b="0">
                          <a:solidFill>
                            <a:srgbClr val="222B36"/>
                          </a:solidFill>
                          <a:latin typeface="Segoe UI"/>
                        </a:rPr>
                        <a:t>• Manual: the driver's own target applies (use case 1).</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Input: mode selection</a:t>
                      </a:r>
                    </a:p>
                    <a:p>
                      <a:r>
                        <a:rPr sz="1600" b="0">
                          <a:solidFill>
                            <a:srgbClr val="222B36"/>
                          </a:solidFill>
                          <a:latin typeface="Segoe UI"/>
                        </a:rPr>
                        <a:t>Output: control mode; which cab controls are enabled</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driver selects a mode.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mode changes, and controls that are no longer available are disabled.</a:t>
                      </a:r>
                    </a:p>
                  </a:txBody>
                  <a:tcPr marL="73152" marR="73152" marT="27432" marB="27432">
                    <a:solidFill>
                      <a:srgbClr val="F7F9FC"/>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3: Apply service 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298</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System</a:t>
                      </a:r>
                    </a:p>
                  </a:txBody>
                  <a:tcPr marL="73152" marR="73152" marT="27432" marB="27432">
                    <a:solidFill>
                      <a:srgbClr val="1F3A5F"/>
                    </a:solidFill>
                  </a:tcPr>
                </a:tc>
                <a:tc>
                  <a:txBody>
                    <a:bodyPr wrap="square"/>
                    <a:lstStyle/>
                    <a:p>
                      <a:r>
                        <a:rPr sz="1600" b="0">
                          <a:solidFill>
                            <a:srgbClr val="222B36"/>
                          </a:solidFill>
                          <a:latin typeface="Segoe UI"/>
                        </a:rPr>
                        <a:t>HW 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Use case</a:t>
                      </a:r>
                    </a:p>
                  </a:txBody>
                  <a:tcPr marL="73152" marR="73152" marT="27432" marB="27432">
                    <a:solidFill>
                      <a:srgbClr val="1F3A5F"/>
                    </a:solidFill>
                  </a:tcPr>
                </a:tc>
                <a:tc>
                  <a:txBody>
                    <a:bodyPr wrap="square"/>
                    <a:lstStyle/>
                    <a:p>
                      <a:r>
                        <a:rPr sz="1600" b="0">
                          <a:solidFill>
                            <a:srgbClr val="222B36"/>
                          </a:solidFill>
                          <a:latin typeface="Segoe UI"/>
                        </a:rPr>
                        <a:t>Apply service brake</a:t>
                      </a:r>
                    </a:p>
                  </a:txBody>
                  <a:tcPr marL="73152" marR="73152" marT="27432" marB="27432">
                    <a:solidFill>
                      <a:srgbClr val="FFFFFF"/>
                    </a:solidFill>
                  </a:tcPr>
                </a:tc>
              </a:tr>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Driver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 In Manual, the driver toggles a service brake request.</a:t>
                      </a:r>
                    </a:p>
                    <a:p>
                      <a:r>
                        <a:rPr sz="1600" b="0">
                          <a:solidFill>
                            <a:srgbClr val="222B36"/>
                          </a:solidFill>
                          <a:latin typeface="Segoe UI"/>
                        </a:rPr>
                        <a:t>• Also allowed under a brake failure, so the driver can try the brake (M4).</a:t>
                      </a:r>
                    </a:p>
                    <a:p>
                      <a:r>
                        <a:rPr sz="1600" b="0">
                          <a:solidFill>
                            <a:srgbClr val="222B36"/>
                          </a:solidFill>
                          <a:latin typeface="Segoe UI"/>
                        </a:rPr>
                        <a:t>• While it is applied, traction is cut to 0 and the integrator holds.</a:t>
                      </a:r>
                    </a:p>
                    <a:p>
                      <a:r>
                        <a:rPr sz="1600" b="0">
                          <a:solidFill>
                            <a:srgbClr val="222B36"/>
                          </a:solidFill>
                          <a:latin typeface="Segoe UI"/>
                        </a:rPr>
                        <a:t>• The Train Model reports back whether the brake is actually applied (Brake State).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Input: service brake press</a:t>
                      </a:r>
                    </a:p>
                    <a:p>
                      <a:r>
                        <a:rPr sz="1600" b="0">
                          <a:solidFill>
                            <a:srgbClr val="222B36"/>
                          </a:solidFill>
                          <a:latin typeface="Segoe UI"/>
                        </a:rPr>
                        <a:t>Output: brake command [emergency, service] with service on; power 0 W</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driver presses the service brake.</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train slows at the service rate (1.2 m/s² on the data sheet) until the driver releases it.</a:t>
                      </a:r>
                    </a:p>
                  </a:txBody>
                  <a:tcPr marL="73152" marR="73152" marT="27432" marB="27432">
                    <a:solidFill>
                      <a:srgbClr val="F7F9FC"/>
                    </a:solidFill>
                  </a:tcPr>
                </a:tc>
              </a:tr>
            </a:tbl>
          </a:graphicData>
        </a:graphic>
      </p:graphicFrame>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600" b="1">
                <a:solidFill>
                  <a:srgbClr val="FFFFFF"/>
                </a:solidFill>
                <a:latin typeface="Segoe UI"/>
              </a:rPr>
              <a:t>UC 4: Doors, lights, temperature, announce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299</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System</a:t>
                      </a:r>
                    </a:p>
                  </a:txBody>
                  <a:tcPr marL="73152" marR="73152" marT="27432" marB="27432">
                    <a:solidFill>
                      <a:srgbClr val="1F3A5F"/>
                    </a:solidFill>
                  </a:tcPr>
                </a:tc>
                <a:tc>
                  <a:txBody>
                    <a:bodyPr wrap="square"/>
                    <a:lstStyle/>
                    <a:p>
                      <a:r>
                        <a:rPr sz="1600" b="0">
                          <a:solidFill>
                            <a:srgbClr val="222B36"/>
                          </a:solidFill>
                          <a:latin typeface="Segoe UI"/>
                        </a:rPr>
                        <a:t>HW 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Use case</a:t>
                      </a:r>
                    </a:p>
                  </a:txBody>
                  <a:tcPr marL="73152" marR="73152" marT="27432" marB="27432">
                    <a:solidFill>
                      <a:srgbClr val="1F3A5F"/>
                    </a:solidFill>
                  </a:tcPr>
                </a:tc>
                <a:tc>
                  <a:txBody>
                    <a:bodyPr wrap="square"/>
                    <a:lstStyle/>
                    <a:p>
                      <a:r>
                        <a:rPr sz="1600" b="0">
                          <a:solidFill>
                            <a:srgbClr val="222B36"/>
                          </a:solidFill>
                          <a:latin typeface="Segoe UI"/>
                        </a:rPr>
                        <a:t>Doors, lights, temperature, announce</a:t>
                      </a:r>
                    </a:p>
                  </a:txBody>
                  <a:tcPr marL="73152" marR="73152" marT="27432" marB="27432">
                    <a:solidFill>
                      <a:srgbClr val="FFFFFF"/>
                    </a:solidFill>
                  </a:tcPr>
                </a:tc>
              </a:tr>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Driver (Manual only)</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 Doors open only at a stand (under 0.1 m/s), and at a station only on the platform side from the beacon; closing is always allowed (M6).</a:t>
                      </a:r>
                    </a:p>
                    <a:p>
                      <a:r>
                        <a:rPr sz="1600" b="0">
                          <a:solidFill>
                            <a:srgbClr val="222B36"/>
                          </a:solidFill>
                          <a:latin typeface="Segoe UI"/>
                        </a:rPr>
                        <a:t>• Interior and exterior lights toggle independently.</a:t>
                      </a:r>
                    </a:p>
                    <a:p>
                      <a:r>
                        <a:rPr sz="1600" b="0">
                          <a:solidFill>
                            <a:srgbClr val="222B36"/>
                          </a:solidFill>
                          <a:latin typeface="Segoe UI"/>
                        </a:rPr>
                        <a:t>• Cabin temperature setpoint from 60 to 80 °F, sent to the Train Model in °C.</a:t>
                      </a:r>
                    </a:p>
                    <a:p>
                      <a:r>
                        <a:rPr sz="1600" b="0">
                          <a:solidFill>
                            <a:srgbClr val="222B36"/>
                          </a:solidFill>
                          <a:latin typeface="Segoe UI"/>
                        </a:rPr>
                        <a:t>• Announce repeats the last automatic announcement, held 5 s of system time; the Train Model plays it (M7).</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Input: tile presses, thermostat (°F)</a:t>
                      </a:r>
                    </a:p>
                    <a:p>
                      <a:r>
                        <a:rPr sz="1600" b="0">
                          <a:solidFill>
                            <a:srgbClr val="222B36"/>
                          </a:solidFill>
                          <a:latin typeface="Segoe UI"/>
                        </a:rPr>
                        <a:t>Output: door, light, temperature setpoint and announcement commands</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driver presses a tile or sets the thermostat.</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command goes out; tiles show the state the Train Model reports, and a tile that is not available now is greyed out.</a:t>
                      </a:r>
                    </a:p>
                  </a:txBody>
                  <a:tcPr marL="73152" marR="73152" marT="27432" marB="27432">
                    <a:solidFill>
                      <a:srgbClr val="F7F9FC"/>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5: Engage the emergency 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300</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System</a:t>
                      </a:r>
                    </a:p>
                  </a:txBody>
                  <a:tcPr marL="73152" marR="73152" marT="27432" marB="27432">
                    <a:solidFill>
                      <a:srgbClr val="1F3A5F"/>
                    </a:solidFill>
                  </a:tcPr>
                </a:tc>
                <a:tc>
                  <a:txBody>
                    <a:bodyPr wrap="square"/>
                    <a:lstStyle/>
                    <a:p>
                      <a:r>
                        <a:rPr sz="1600" b="0">
                          <a:solidFill>
                            <a:srgbClr val="222B36"/>
                          </a:solidFill>
                          <a:latin typeface="Segoe UI"/>
                        </a:rPr>
                        <a:t>HW 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Use case</a:t>
                      </a:r>
                    </a:p>
                  </a:txBody>
                  <a:tcPr marL="73152" marR="73152" marT="27432" marB="27432">
                    <a:solidFill>
                      <a:srgbClr val="1F3A5F"/>
                    </a:solidFill>
                  </a:tcPr>
                </a:tc>
                <a:tc>
                  <a:txBody>
                    <a:bodyPr wrap="square"/>
                    <a:lstStyle/>
                    <a:p>
                      <a:r>
                        <a:rPr sz="1600" b="0">
                          <a:solidFill>
                            <a:srgbClr val="222B36"/>
                          </a:solidFill>
                          <a:latin typeface="Segoe UI"/>
                        </a:rPr>
                        <a:t>Engage the emergency brake</a:t>
                      </a:r>
                    </a:p>
                  </a:txBody>
                  <a:tcPr marL="73152" marR="73152" marT="27432" marB="27432">
                    <a:solidFill>
                      <a:srgbClr val="FFFFFF"/>
                    </a:solidFill>
                  </a:tcPr>
                </a:tc>
              </a:tr>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Driver; Passenger (through the Train Model)</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 The driver engages it in any mode; it acts at once and latches.</a:t>
                      </a:r>
                    </a:p>
                    <a:p>
                      <a:r>
                        <a:rPr sz="1600" b="0">
                          <a:solidFill>
                            <a:srgbClr val="222B36"/>
                          </a:solidFill>
                          <a:latin typeface="Segoe UI"/>
                        </a:rPr>
                        <a:t>• A passenger pull arrives as Brake State from the Train Model and latches it too.</a:t>
                      </a:r>
                    </a:p>
                    <a:p>
                      <a:r>
                        <a:rPr sz="1600" b="0">
                          <a:solidFill>
                            <a:srgbClr val="222B36"/>
                          </a:solidFill>
                          <a:latin typeface="Segoe UI"/>
                        </a:rPr>
                        <a:t>• While it is applied, traction is cut to 0.</a:t>
                      </a:r>
                    </a:p>
                    <a:p>
                      <a:r>
                        <a:rPr sz="1600" b="0">
                          <a:solidFill>
                            <a:srgbClr val="222B36"/>
                          </a:solidFill>
                          <a:latin typeface="Segoe UI"/>
                        </a:rPr>
                        <a:t>• Only the driver can release it (use case 6, M2).</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Input: emergency brake button; Brake State [emergency]</a:t>
                      </a:r>
                    </a:p>
                    <a:p>
                      <a:r>
                        <a:rPr sz="1600" b="0">
                          <a:solidFill>
                            <a:srgbClr val="222B36"/>
                          </a:solidFill>
                          <a:latin typeface="Segoe UI"/>
                        </a:rPr>
                        <a:t>Output: brake command [emergency, service] with emergency on; power 0 W</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driver presses the emergency brake, or a passenger pulls it.</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train stops on the emergency brake (2.73 m/s² on the data sheet); the console shows it engaged.</a:t>
                      </a:r>
                    </a:p>
                  </a:txBody>
                  <a:tcPr marL="73152" marR="73152" marT="27432" marB="27432">
                    <a:solidFill>
                      <a:srgbClr val="F7F9FC"/>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6: Release the emergency 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301</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System</a:t>
                      </a:r>
                    </a:p>
                  </a:txBody>
                  <a:tcPr marL="73152" marR="73152" marT="27432" marB="27432">
                    <a:solidFill>
                      <a:srgbClr val="1F3A5F"/>
                    </a:solidFill>
                  </a:tcPr>
                </a:tc>
                <a:tc>
                  <a:txBody>
                    <a:bodyPr wrap="square"/>
                    <a:lstStyle/>
                    <a:p>
                      <a:r>
                        <a:rPr sz="1600" b="0">
                          <a:solidFill>
                            <a:srgbClr val="222B36"/>
                          </a:solidFill>
                          <a:latin typeface="Segoe UI"/>
                        </a:rPr>
                        <a:t>HW 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Use case</a:t>
                      </a:r>
                    </a:p>
                  </a:txBody>
                  <a:tcPr marL="73152" marR="73152" marT="27432" marB="27432">
                    <a:solidFill>
                      <a:srgbClr val="1F3A5F"/>
                    </a:solidFill>
                  </a:tcPr>
                </a:tc>
                <a:tc>
                  <a:txBody>
                    <a:bodyPr wrap="square"/>
                    <a:lstStyle/>
                    <a:p>
                      <a:r>
                        <a:rPr sz="1600" b="0">
                          <a:solidFill>
                            <a:srgbClr val="222B36"/>
                          </a:solidFill>
                          <a:latin typeface="Segoe UI"/>
                        </a:rPr>
                        <a:t>Release the emergency brake</a:t>
                      </a:r>
                    </a:p>
                  </a:txBody>
                  <a:tcPr marL="73152" marR="73152" marT="27432" marB="27432">
                    <a:solidFill>
                      <a:srgbClr val="FFFFFF"/>
                    </a:solidFill>
                  </a:tcPr>
                </a:tc>
              </a:tr>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Driver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 Only the driver releases it (M2); passengers and the engineer cannot.</a:t>
                      </a:r>
                    </a:p>
                    <a:p>
                      <a:r>
                        <a:rPr sz="1600" b="0">
                          <a:solidFill>
                            <a:srgbClr val="222B36"/>
                          </a:solidFill>
                          <a:latin typeface="Segoe UI"/>
                        </a:rPr>
                        <a:t>• Only below 0.1 m/s: with no failure latched, in either mode; with one latched, only in Manual, so the driver can try the train (M2, M3).</a:t>
                      </a:r>
                    </a:p>
                    <a:p>
                      <a:r>
                        <a:rPr sz="1600" b="0">
                          <a:solidFill>
                            <a:srgbClr val="222B36"/>
                          </a:solidFill>
                          <a:latin typeface="Segoe UI"/>
                        </a:rPr>
                        <a:t>• A Train Model report of off never releases it.</a:t>
                      </a:r>
                    </a:p>
                    <a:p>
                      <a:r>
                        <a:rPr sz="1600" b="0">
                          <a:solidFill>
                            <a:srgbClr val="222B36"/>
                          </a:solidFill>
                          <a:latin typeface="Segoe UI"/>
                        </a:rPr>
                        <a:t>• A refused release says why: still moving, or which failure is active.</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Input: emergency brake button</a:t>
                      </a:r>
                    </a:p>
                    <a:p>
                      <a:r>
                        <a:rPr sz="1600" b="0">
                          <a:solidFill>
                            <a:srgbClr val="222B36"/>
                          </a:solidFill>
                          <a:latin typeface="Segoe UI"/>
                        </a:rPr>
                        <a:t>Output: brake command with emergency off; brake message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driver presses the emergency brake while it is engaged.</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brake releases, or the console says why it cannot.</a:t>
                      </a:r>
                    </a:p>
                  </a:txBody>
                  <a:tcPr marL="73152" marR="73152" marT="27432" marB="27432">
                    <a:solidFill>
                      <a:srgbClr val="F7F9FC"/>
                    </a:solidFill>
                  </a:tcPr>
                </a:tc>
              </a:tr>
            </a:tbl>
          </a:graphicData>
        </a:graphic>
      </p:graphicFrame>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7: Commission Kp and Ki</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Use case descriptions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302</a:t>
            </a:r>
          </a:p>
        </p:txBody>
      </p:sp>
      <p:graphicFrame>
        <p:nvGraphicFramePr>
          <p:cNvPr id="7" name="Table 6"/>
          <p:cNvGraphicFramePr>
            <a:graphicFrameLocks noGrp="1"/>
          </p:cNvGraphicFramePr>
          <p:nvPr/>
        </p:nvGraphicFramePr>
        <p:xfrm>
          <a:off x="411480" y="1097280"/>
          <a:ext cx="11368735" cy="2240280"/>
        </p:xfrm>
        <a:graphic>
          <a:graphicData uri="http://schemas.openxmlformats.org/drawingml/2006/table">
            <a:tbl>
              <a:tblPr firstRow="1" bandRow="1">
                <a:tableStyleId>{5C22544A-7EE6-4342-B048-85BDC9FD1C3A}</a:tableStyleId>
              </a:tblPr>
              <a:tblGrid>
                <a:gridCol w="2103120"/>
                <a:gridCol w="9265615"/>
              </a:tblGrid>
              <a:tr h="320040">
                <a:tc>
                  <a:txBody>
                    <a:bodyPr wrap="square"/>
                    <a:lstStyle/>
                    <a:p>
                      <a:r>
                        <a:rPr sz="1600" b="1">
                          <a:solidFill>
                            <a:srgbClr val="FFFFFF"/>
                          </a:solidFill>
                          <a:latin typeface="Segoe UI"/>
                        </a:rPr>
                        <a:t>System</a:t>
                      </a:r>
                    </a:p>
                  </a:txBody>
                  <a:tcPr marL="73152" marR="73152" marT="27432" marB="27432">
                    <a:solidFill>
                      <a:srgbClr val="1F3A5F"/>
                    </a:solidFill>
                  </a:tcPr>
                </a:tc>
                <a:tc>
                  <a:txBody>
                    <a:bodyPr wrap="square"/>
                    <a:lstStyle/>
                    <a:p>
                      <a:r>
                        <a:rPr sz="1600" b="0">
                          <a:solidFill>
                            <a:srgbClr val="222B36"/>
                          </a:solidFill>
                          <a:latin typeface="Segoe UI"/>
                        </a:rPr>
                        <a:t>HW Train Controller</a:t>
                      </a:r>
                    </a:p>
                  </a:txBody>
                  <a:tcPr marL="73152" marR="73152" marT="27432" marB="27432">
                    <a:solidFill>
                      <a:srgbClr val="F7F9FC"/>
                    </a:solidFill>
                  </a:tcPr>
                </a:tc>
              </a:tr>
              <a:tr h="320040">
                <a:tc>
                  <a:txBody>
                    <a:bodyPr wrap="square"/>
                    <a:lstStyle/>
                    <a:p>
                      <a:r>
                        <a:rPr sz="1600" b="1">
                          <a:solidFill>
                            <a:srgbClr val="FFFFFF"/>
                          </a:solidFill>
                          <a:latin typeface="Segoe UI"/>
                        </a:rPr>
                        <a:t>Use case</a:t>
                      </a:r>
                    </a:p>
                  </a:txBody>
                  <a:tcPr marL="73152" marR="73152" marT="27432" marB="27432">
                    <a:solidFill>
                      <a:srgbClr val="1F3A5F"/>
                    </a:solidFill>
                  </a:tcPr>
                </a:tc>
                <a:tc>
                  <a:txBody>
                    <a:bodyPr wrap="square"/>
                    <a:lstStyle/>
                    <a:p>
                      <a:r>
                        <a:rPr sz="1600" b="0">
                          <a:solidFill>
                            <a:srgbClr val="222B36"/>
                          </a:solidFill>
                          <a:latin typeface="Segoe UI"/>
                        </a:rPr>
                        <a:t>Commission Kp and Ki</a:t>
                      </a:r>
                    </a:p>
                  </a:txBody>
                  <a:tcPr marL="73152" marR="73152" marT="27432" marB="27432">
                    <a:solidFill>
                      <a:srgbClr val="FFFFFF"/>
                    </a:solidFill>
                  </a:tcPr>
                </a:tc>
              </a:tr>
              <a:tr h="320040">
                <a:tc>
                  <a:txBody>
                    <a:bodyPr wrap="square"/>
                    <a:lstStyle/>
                    <a:p>
                      <a:r>
                        <a:rPr sz="1600" b="1">
                          <a:solidFill>
                            <a:srgbClr val="FFFFFF"/>
                          </a:solidFill>
                          <a:latin typeface="Segoe UI"/>
                        </a:rPr>
                        <a:t>Actors</a:t>
                      </a:r>
                    </a:p>
                  </a:txBody>
                  <a:tcPr marL="73152" marR="73152" marT="27432" marB="27432">
                    <a:solidFill>
                      <a:srgbClr val="1F3A5F"/>
                    </a:solidFill>
                  </a:tcPr>
                </a:tc>
                <a:tc>
                  <a:txBody>
                    <a:bodyPr wrap="square"/>
                    <a:lstStyle/>
                    <a:p>
                      <a:r>
                        <a:rPr sz="1600" b="0">
                          <a:solidFill>
                            <a:srgbClr val="222B36"/>
                          </a:solidFill>
                          <a:latin typeface="Segoe UI"/>
                        </a:rPr>
                        <a:t>Engineer</a:t>
                      </a:r>
                    </a:p>
                  </a:txBody>
                  <a:tcPr marL="73152" marR="73152" marT="27432" marB="27432">
                    <a:solidFill>
                      <a:srgbClr val="F7F9FC"/>
                    </a:solidFill>
                  </a:tcPr>
                </a:tc>
              </a:tr>
              <a:tr h="320040">
                <a:tc>
                  <a:txBody>
                    <a:bodyPr wrap="square"/>
                    <a:lstStyle/>
                    <a:p>
                      <a:r>
                        <a:rPr sz="1600" b="1">
                          <a:solidFill>
                            <a:srgbClr val="FFFFFF"/>
                          </a:solidFill>
                          <a:latin typeface="Segoe UI"/>
                        </a:rPr>
                        <a:t>Description</a:t>
                      </a:r>
                    </a:p>
                  </a:txBody>
                  <a:tcPr marL="73152" marR="73152" marT="27432" marB="27432">
                    <a:solidFill>
                      <a:srgbClr val="1F3A5F"/>
                    </a:solidFill>
                  </a:tcPr>
                </a:tc>
                <a:tc>
                  <a:txBody>
                    <a:bodyPr wrap="square"/>
                    <a:lstStyle/>
                    <a:p>
                      <a:r>
                        <a:rPr sz="1600" b="0">
                          <a:solidFill>
                            <a:srgbClr val="222B36"/>
                          </a:solidFill>
                          <a:latin typeface="Segoe UI"/>
                        </a:rPr>
                        <a:t>• The engineer signs in on the selected train; refused if it is already commissioned.</a:t>
                      </a:r>
                    </a:p>
                    <a:p>
                      <a:r>
                        <a:rPr sz="1600" b="0">
                          <a:solidFill>
                            <a:srgbClr val="222B36"/>
                          </a:solidFill>
                          <a:latin typeface="Segoe UI"/>
                        </a:rPr>
                        <a:t>• Kp and Ki go in the gains pop-up (defaults 400,000 W per m/s and 8,000 W per m); they must be numbers, and negatives become 0.</a:t>
                      </a:r>
                    </a:p>
                    <a:p>
                      <a:r>
                        <a:rPr sz="1600" b="0">
                          <a:solidFill>
                            <a:srgbClr val="222B36"/>
                          </a:solidFill>
                          <a:latin typeface="Segoe UI"/>
                        </a:rPr>
                        <a:t>• The gains are fixed for the run, and the console hands back to the driver after 1.5 s.</a:t>
                      </a:r>
                    </a:p>
                    <a:p>
                      <a:r>
                        <a:rPr sz="1600" b="0">
                          <a:solidFill>
                            <a:srgbClr val="222B36"/>
                          </a:solidFill>
                          <a:latin typeface="Segoe UI"/>
                        </a:rPr>
                        <a:t>• Until then the train commands 0 W, but its brakes and safety path still work.</a:t>
                      </a:r>
                    </a:p>
                  </a:txBody>
                  <a:tcPr marL="73152" marR="73152" marT="27432" marB="27432">
                    <a:solidFill>
                      <a:srgbClr val="FFFFFF"/>
                    </a:solidFill>
                  </a:tcPr>
                </a:tc>
              </a:tr>
              <a:tr h="320040">
                <a:tc>
                  <a:txBody>
                    <a:bodyPr wrap="square"/>
                    <a:lstStyle/>
                    <a:p>
                      <a:r>
                        <a:rPr sz="1600" b="1">
                          <a:solidFill>
                            <a:srgbClr val="FFFFFF"/>
                          </a:solidFill>
                          <a:latin typeface="Segoe UI"/>
                        </a:rPr>
                        <a:t>Data</a:t>
                      </a:r>
                    </a:p>
                  </a:txBody>
                  <a:tcPr marL="73152" marR="73152" marT="27432" marB="27432">
                    <a:solidFill>
                      <a:srgbClr val="1F3A5F"/>
                    </a:solidFill>
                  </a:tcPr>
                </a:tc>
                <a:tc>
                  <a:txBody>
                    <a:bodyPr wrap="square"/>
                    <a:lstStyle/>
                    <a:p>
                      <a:r>
                        <a:rPr sz="1600" b="0">
                          <a:solidFill>
                            <a:srgbClr val="222B36"/>
                          </a:solidFill>
                          <a:latin typeface="Segoe UI"/>
                        </a:rPr>
                        <a:t>Input: Kp, Ki</a:t>
                      </a:r>
                    </a:p>
                    <a:p>
                      <a:r>
                        <a:rPr sz="1600" b="0">
                          <a:solidFill>
                            <a:srgbClr val="222B36"/>
                          </a:solidFill>
                          <a:latin typeface="Segoe UI"/>
                        </a:rPr>
                        <a:t>Output: a commissioned train; a confirmation message</a:t>
                      </a:r>
                    </a:p>
                  </a:txBody>
                  <a:tcPr marL="73152" marR="73152" marT="27432" marB="27432">
                    <a:solidFill>
                      <a:srgbClr val="F7F9FC"/>
                    </a:solidFill>
                  </a:tcPr>
                </a:tc>
              </a:tr>
              <a:tr h="320040">
                <a:tc>
                  <a:txBody>
                    <a:bodyPr wrap="square"/>
                    <a:lstStyle/>
                    <a:p>
                      <a:r>
                        <a:rPr sz="1600" b="1">
                          <a:solidFill>
                            <a:srgbClr val="FFFFFF"/>
                          </a:solidFill>
                          <a:latin typeface="Segoe UI"/>
                        </a:rPr>
                        <a:t>Stimulus</a:t>
                      </a:r>
                    </a:p>
                  </a:txBody>
                  <a:tcPr marL="73152" marR="73152" marT="27432" marB="27432">
                    <a:solidFill>
                      <a:srgbClr val="1F3A5F"/>
                    </a:solidFill>
                  </a:tcPr>
                </a:tc>
                <a:tc>
                  <a:txBody>
                    <a:bodyPr wrap="square"/>
                    <a:lstStyle/>
                    <a:p>
                      <a:r>
                        <a:rPr sz="1600" b="0">
                          <a:solidFill>
                            <a:srgbClr val="222B36"/>
                          </a:solidFill>
                          <a:latin typeface="Segoe UI"/>
                        </a:rPr>
                        <a:t>The engineer commits the gains.</a:t>
                      </a:r>
                    </a:p>
                  </a:txBody>
                  <a:tcPr marL="73152" marR="73152" marT="27432" marB="27432">
                    <a:solidFill>
                      <a:srgbClr val="FFFFFF"/>
                    </a:solidFill>
                  </a:tcPr>
                </a:tc>
              </a:tr>
              <a:tr h="320040">
                <a:tc>
                  <a:txBody>
                    <a:bodyPr wrap="square"/>
                    <a:lstStyle/>
                    <a:p>
                      <a:r>
                        <a:rPr sz="1600" b="1">
                          <a:solidFill>
                            <a:srgbClr val="FFFFFF"/>
                          </a:solidFill>
                          <a:latin typeface="Segoe UI"/>
                        </a:rPr>
                        <a:t>Response</a:t>
                      </a:r>
                    </a:p>
                  </a:txBody>
                  <a:tcPr marL="73152" marR="73152" marT="27432" marB="27432">
                    <a:solidFill>
                      <a:srgbClr val="1F3A5F"/>
                    </a:solidFill>
                  </a:tcPr>
                </a:tc>
                <a:tc>
                  <a:txBody>
                    <a:bodyPr wrap="square"/>
                    <a:lstStyle/>
                    <a:p>
                      <a:r>
                        <a:rPr sz="1600" b="0">
                          <a:solidFill>
                            <a:srgbClr val="222B36"/>
                          </a:solidFill>
                          <a:latin typeface="Segoe UI"/>
                        </a:rPr>
                        <a:t>The pop-up confirms "Set to Kp …, Ki …. Fixed for this run." and the train can now be driven.</a:t>
                      </a:r>
                    </a:p>
                  </a:txBody>
                  <a:tcPr marL="73152" marR="73152" marT="27432" marB="27432">
                    <a:solidFill>
                      <a:srgbClr val="F7F9FC"/>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900" b="1">
                <a:solidFill>
                  <a:srgbClr val="FFFFFF"/>
                </a:solidFill>
                <a:latin typeface="Segoe UI"/>
              </a:rPr>
              <a:t>Train Controller (SW and HW) architecture (component view)</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Architecture</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303</a:t>
            </a:r>
          </a:p>
        </p:txBody>
      </p:sp>
      <p:pic>
        <p:nvPicPr>
          <p:cNvPr id="7" name="Picture 6" descr="02-software-architectur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Class diagram: controller core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304</a:t>
            </a:r>
          </a:p>
        </p:txBody>
      </p:sp>
      <p:pic>
        <p:nvPicPr>
          <p:cNvPr id="7" name="Picture 6" descr="04-class-controller-cor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Class diagram: State and exceptions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305</a:t>
            </a:r>
          </a:p>
        </p:txBody>
      </p:sp>
      <p:pic>
        <p:nvPicPr>
          <p:cNvPr id="7" name="Picture 6" descr="05-class-state-exceptions.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Class diagram: console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Class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306</a:t>
            </a:r>
          </a:p>
        </p:txBody>
      </p:sp>
      <p:pic>
        <p:nvPicPr>
          <p:cNvPr id="7" name="Picture 6" descr="06-class-consol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1: Set target speed (Manual)</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307</a:t>
            </a:r>
          </a:p>
        </p:txBody>
      </p:sp>
      <p:pic>
        <p:nvPicPr>
          <p:cNvPr id="7" name="Picture 6" descr="07-seq-01-set-target-speed.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2: Switch Manual / Automatic</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308</a:t>
            </a:r>
          </a:p>
        </p:txBody>
      </p:sp>
      <p:pic>
        <p:nvPicPr>
          <p:cNvPr id="7" name="Picture 6" descr="07-seq-02-switch-mod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UC 3: Apply service 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309</a:t>
            </a:r>
          </a:p>
        </p:txBody>
      </p:sp>
      <p:pic>
        <p:nvPicPr>
          <p:cNvPr id="7" name="Picture 6" descr="07-seq-03-service-brak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 4: Doors, lights, temperature, announce: Open or close doors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310</a:t>
            </a:r>
          </a:p>
        </p:txBody>
      </p:sp>
      <p:pic>
        <p:nvPicPr>
          <p:cNvPr id="7" name="Picture 6" descr="07-seq-04-doors.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 4: Doors, lights, temperature, announce: Turn lights on or off</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311</a:t>
            </a:r>
          </a:p>
        </p:txBody>
      </p:sp>
      <p:pic>
        <p:nvPicPr>
          <p:cNvPr id="7" name="Picture 6" descr="07-seq-05-lights.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 4: Doors, lights, temperature, announce: Set cabin temperature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312</a:t>
            </a:r>
          </a:p>
        </p:txBody>
      </p:sp>
      <p:pic>
        <p:nvPicPr>
          <p:cNvPr id="7" name="Picture 6" descr="07-seq-06-cabin-temperatur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1800" b="1">
                <a:solidFill>
                  <a:srgbClr val="FFFFFF"/>
                </a:solidFill>
                <a:latin typeface="Segoe UI"/>
              </a:rPr>
              <a:t>UC 4: Doors, lights, temperature, announce: Announce station</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313</a:t>
            </a:r>
          </a:p>
        </p:txBody>
      </p:sp>
      <p:pic>
        <p:nvPicPr>
          <p:cNvPr id="7" name="Picture 6" descr="07-seq-07-announc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300" b="1">
                <a:solidFill>
                  <a:srgbClr val="FFFFFF"/>
                </a:solidFill>
                <a:latin typeface="Segoe UI"/>
              </a:rPr>
              <a:t>UC 5: Engage the emergency brake: Engage e-brake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314</a:t>
            </a:r>
          </a:p>
        </p:txBody>
      </p:sp>
      <p:pic>
        <p:nvPicPr>
          <p:cNvPr id="7" name="Picture 6" descr="07-seq-09-engage-ebrak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200" b="1">
                <a:solidFill>
                  <a:srgbClr val="FFFFFF"/>
                </a:solidFill>
                <a:latin typeface="Segoe UI"/>
              </a:rPr>
              <a:t>UC 6: Release the emergency brake: Release e-brake</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315</a:t>
            </a:r>
          </a:p>
        </p:txBody>
      </p:sp>
      <p:pic>
        <p:nvPicPr>
          <p:cNvPr id="7" name="Picture 6" descr="07-seq-10-release-ebrake.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700" b="1">
                <a:solidFill>
                  <a:srgbClr val="FFFFFF"/>
                </a:solidFill>
                <a:latin typeface="Segoe UI"/>
              </a:rPr>
              <a:t>UC 7: Commission Kp and Ki: Set Kp and Ki</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316</a:t>
            </a:r>
          </a:p>
        </p:txBody>
      </p:sp>
      <p:pic>
        <p:nvPicPr>
          <p:cNvPr id="7" name="Picture 6" descr="07-seq-08-set-gains.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Sequence diagram: one 0.1 s tick</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Train Controller (SW and HW) · Sequence diagrams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317</a:t>
            </a:r>
          </a:p>
        </p:txBody>
      </p:sp>
      <p:pic>
        <p:nvPicPr>
          <p:cNvPr id="7" name="Picture 6" descr="07-seq-00-one-tick.png"/>
          <p:cNvPicPr>
            <a:picLocks noChangeAspect="1"/>
          </p:cNvPicPr>
          <p:nvPr/>
        </p:nvPicPr>
        <p:blipFill>
          <a:blip r:embed="rId3"/>
          <a:stretch>
            <a:fillRect/>
          </a:stretch>
        </p:blipFill>
        <p:spPr>
          <a:xfrm>
            <a:off x="1234696" y="978408"/>
            <a:ext cx="9722303" cy="5468112"/>
          </a:xfrm>
          <a:prstGeom prst="rect">
            <a:avLst/>
          </a:prstGeom>
        </p:spPr>
      </p:pic>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05840"/>
          </a:xfrm>
          <a:prstGeom prst="rect">
            <a:avLst/>
          </a:prstGeom>
          <a:noFill/>
        </p:spPr>
        <p:txBody>
          <a:bodyPr wrap="square" anchor="t" lIns="45720" rIns="45720">
            <a:spAutoFit/>
          </a:bodyPr>
          <a:lstStyle/>
          <a:p>
            <a:pPr algn="l"/>
            <a:r>
              <a:rPr sz="4000" b="1">
                <a:solidFill>
                  <a:srgbClr val="1F3A5F"/>
                </a:solidFill>
                <a:latin typeface="Segoe UI"/>
              </a:rPr>
              <a:t>Open items</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7711135" cy="685800"/>
          </a:xfrm>
          <a:prstGeom prst="rect">
            <a:avLst/>
          </a:prstGeom>
          <a:noFill/>
        </p:spPr>
        <p:txBody>
          <a:bodyPr wrap="square" anchor="ctr" lIns="45720" rIns="45720">
            <a:spAutoFit/>
          </a:bodyPr>
          <a:lstStyle/>
          <a:p>
            <a:pPr algn="l"/>
            <a:r>
              <a:rPr sz="2800" b="1">
                <a:solidFill>
                  <a:srgbClr val="FFFFFF"/>
                </a:solidFill>
                <a:latin typeface="Segoe UI"/>
              </a:rPr>
              <a:t>Open items</a:t>
            </a:r>
          </a:p>
        </p:txBody>
      </p:sp>
      <p:sp>
        <p:nvSpPr>
          <p:cNvPr id="4" name="TextBox 3"/>
          <p:cNvSpPr txBox="1"/>
          <p:nvPr/>
        </p:nvSpPr>
        <p:spPr>
          <a:xfrm>
            <a:off x="8351215" y="109728"/>
            <a:ext cx="3474720" cy="685800"/>
          </a:xfrm>
          <a:prstGeom prst="rect">
            <a:avLst/>
          </a:prstGeom>
          <a:noFill/>
        </p:spPr>
        <p:txBody>
          <a:bodyPr wrap="square" anchor="ctr" lIns="45720" rIns="45720">
            <a:spAutoFit/>
          </a:bodyPr>
          <a:lstStyle/>
          <a:p>
            <a:pPr algn="r"/>
            <a:r>
              <a:rPr sz="1200" b="0">
                <a:solidFill>
                  <a:srgbClr val="D9E2EC"/>
                </a:solidFill>
                <a:latin typeface="Segoe UI"/>
              </a:rPr>
              <a:t>Open items</a:t>
            </a:r>
          </a:p>
        </p:txBody>
      </p:sp>
      <p:sp>
        <p:nvSpPr>
          <p:cNvPr id="5" name="TextBox 4"/>
          <p:cNvSpPr txBox="1"/>
          <p:nvPr/>
        </p:nvSpPr>
        <p:spPr>
          <a:xfrm>
            <a:off x="411480" y="6537960"/>
            <a:ext cx="8229600" cy="320040"/>
          </a:xfrm>
          <a:prstGeom prst="rect">
            <a:avLst/>
          </a:prstGeom>
          <a:noFill/>
        </p:spPr>
        <p:txBody>
          <a:bodyPr wrap="square" anchor="t" lIns="45720" rIns="45720">
            <a:spAutoFit/>
          </a:bodyPr>
          <a:lstStyle/>
          <a:p>
            <a:pPr algn="l"/>
            <a:r>
              <a:rPr sz="1000" b="0">
                <a:solidFill>
                  <a:srgbClr val="5B6775"/>
                </a:solidFill>
                <a:latin typeface="Segoe UI"/>
              </a:rPr>
              <a:t>Track Overflow · Design Review · 2026-10-22</a:t>
            </a:r>
          </a:p>
        </p:txBody>
      </p:sp>
      <p:sp>
        <p:nvSpPr>
          <p:cNvPr id="6" name="TextBox 5"/>
          <p:cNvSpPr txBox="1"/>
          <p:nvPr/>
        </p:nvSpPr>
        <p:spPr>
          <a:xfrm>
            <a:off x="10820095" y="6537960"/>
            <a:ext cx="960120" cy="320040"/>
          </a:xfrm>
          <a:prstGeom prst="rect">
            <a:avLst/>
          </a:prstGeom>
          <a:noFill/>
        </p:spPr>
        <p:txBody>
          <a:bodyPr wrap="square" anchor="t" lIns="45720" rIns="45720">
            <a:spAutoFit/>
          </a:bodyPr>
          <a:lstStyle/>
          <a:p>
            <a:pPr algn="r"/>
            <a:r>
              <a:rPr sz="1000" b="0">
                <a:solidFill>
                  <a:srgbClr val="5B6775"/>
                </a:solidFill>
                <a:latin typeface="Segoe UI"/>
              </a:rPr>
              <a:t>319</a:t>
            </a:r>
          </a:p>
        </p:txBody>
      </p:sp>
      <p:graphicFrame>
        <p:nvGraphicFramePr>
          <p:cNvPr id="7" name="Table 6"/>
          <p:cNvGraphicFramePr>
            <a:graphicFrameLocks noGrp="1"/>
          </p:cNvGraphicFramePr>
          <p:nvPr/>
        </p:nvGraphicFramePr>
        <p:xfrm>
          <a:off x="411480" y="1097280"/>
          <a:ext cx="11338560" cy="3291840"/>
        </p:xfrm>
        <a:graphic>
          <a:graphicData uri="http://schemas.openxmlformats.org/drawingml/2006/table">
            <a:tbl>
              <a:tblPr firstRow="1" bandRow="1">
                <a:tableStyleId>{5C22544A-7EE6-4342-B048-85BDC9FD1C3A}</a:tableStyleId>
              </a:tblPr>
              <a:tblGrid>
                <a:gridCol w="8595360"/>
                <a:gridCol w="2743200"/>
              </a:tblGrid>
              <a:tr h="365760">
                <a:tc>
                  <a:txBody>
                    <a:bodyPr wrap="square"/>
                    <a:lstStyle/>
                    <a:p>
                      <a:r>
                        <a:rPr sz="1600" b="1">
                          <a:solidFill>
                            <a:srgbClr val="FFFFFF"/>
                          </a:solidFill>
                          <a:latin typeface="Segoe UI"/>
                        </a:rPr>
                        <a:t>Item</a:t>
                      </a:r>
                    </a:p>
                  </a:txBody>
                  <a:tcPr marL="73152" marR="73152" marT="36576" marB="36576">
                    <a:solidFill>
                      <a:srgbClr val="1F3A5F"/>
                    </a:solidFill>
                  </a:tcPr>
                </a:tc>
                <a:tc>
                  <a:txBody>
                    <a:bodyPr wrap="square"/>
                    <a:lstStyle/>
                    <a:p>
                      <a:r>
                        <a:rPr sz="1600" b="1">
                          <a:solidFill>
                            <a:srgbClr val="FFFFFF"/>
                          </a:solidFill>
                          <a:latin typeface="Segoe UI"/>
                        </a:rPr>
                        <a:t>Owner</a:t>
                      </a:r>
                    </a:p>
                  </a:txBody>
                  <a:tcPr marL="73152" marR="73152" marT="36576" marB="36576">
                    <a:solidFill>
                      <a:srgbClr val="1F3A5F"/>
                    </a:solidFill>
                  </a:tcPr>
                </a:tc>
              </a:tr>
              <a:tr h="365760">
                <a:tc>
                  <a:txBody>
                    <a:bodyPr wrap="square"/>
                    <a:lstStyle/>
                    <a:p>
                      <a:r>
                        <a:rPr sz="1600" b="0">
                          <a:solidFill>
                            <a:srgbClr val="222B36"/>
                          </a:solidFill>
                          <a:latin typeface="Segoe UI"/>
                        </a:rPr>
                        <a:t>Read-only vital PLC block; move the SW supervisor into PLC code</a:t>
                      </a:r>
                    </a:p>
                  </a:txBody>
                  <a:tcPr marL="73152" marR="73152" marT="36576" marB="36576">
                    <a:solidFill>
                      <a:srgbClr val="F7F9FC"/>
                    </a:solidFill>
                  </a:tcPr>
                </a:tc>
                <a:tc>
                  <a:txBody>
                    <a:bodyPr wrap="square"/>
                    <a:lstStyle/>
                    <a:p>
                      <a:r>
                        <a:rPr sz="1600" b="0">
                          <a:solidFill>
                            <a:srgbClr val="222B36"/>
                          </a:solidFill>
                          <a:latin typeface="Segoe UI"/>
                        </a:rPr>
                        <a:t>Harry</a:t>
                      </a:r>
                    </a:p>
                  </a:txBody>
                  <a:tcPr marL="73152" marR="73152" marT="36576" marB="36576">
                    <a:solidFill>
                      <a:srgbClr val="F7F9FC"/>
                    </a:solidFill>
                  </a:tcPr>
                </a:tc>
              </a:tr>
              <a:tr h="365760">
                <a:tc>
                  <a:txBody>
                    <a:bodyPr wrap="square"/>
                    <a:lstStyle/>
                    <a:p>
                      <a:r>
                        <a:rPr sz="1600" b="0">
                          <a:solidFill>
                            <a:srgbClr val="222B36"/>
                          </a:solidFill>
                          <a:latin typeface="Segoe UI"/>
                        </a:rPr>
                        <a:t>One PLC language with identical names in both variants</a:t>
                      </a:r>
                    </a:p>
                  </a:txBody>
                  <a:tcPr marL="73152" marR="73152" marT="36576" marB="36576">
                    <a:solidFill>
                      <a:srgbClr val="FFFFFF"/>
                    </a:solidFill>
                  </a:tcPr>
                </a:tc>
                <a:tc>
                  <a:txBody>
                    <a:bodyPr wrap="square"/>
                    <a:lstStyle/>
                    <a:p>
                      <a:r>
                        <a:rPr sz="1600" b="0">
                          <a:solidFill>
                            <a:srgbClr val="222B36"/>
                          </a:solidFill>
                          <a:latin typeface="Segoe UI"/>
                        </a:rPr>
                        <a:t>Harry, Braden</a:t>
                      </a:r>
                    </a:p>
                  </a:txBody>
                  <a:tcPr marL="73152" marR="73152" marT="36576" marB="36576">
                    <a:solidFill>
                      <a:srgbClr val="FFFFFF"/>
                    </a:solidFill>
                  </a:tcPr>
                </a:tc>
              </a:tr>
              <a:tr h="365760">
                <a:tc>
                  <a:txBody>
                    <a:bodyPr wrap="square"/>
                    <a:lstStyle/>
                    <a:p>
                      <a:r>
                        <a:rPr sz="1600" b="0">
                          <a:solidFill>
                            <a:srgbClr val="222B36"/>
                          </a:solidFill>
                          <a:latin typeface="Segoe UI"/>
                        </a:rPr>
                        <a:t>Red Line wayside territories (three proposed)</a:t>
                      </a:r>
                    </a:p>
                  </a:txBody>
                  <a:tcPr marL="73152" marR="73152" marT="36576" marB="36576">
                    <a:solidFill>
                      <a:srgbClr val="F7F9FC"/>
                    </a:solidFill>
                  </a:tcPr>
                </a:tc>
                <a:tc>
                  <a:txBody>
                    <a:bodyPr wrap="square"/>
                    <a:lstStyle/>
                    <a:p>
                      <a:r>
                        <a:rPr sz="1600" b="0">
                          <a:solidFill>
                            <a:srgbClr val="222B36"/>
                          </a:solidFill>
                          <a:latin typeface="Segoe UI"/>
                        </a:rPr>
                        <a:t>Braden</a:t>
                      </a:r>
                    </a:p>
                  </a:txBody>
                  <a:tcPr marL="73152" marR="73152" marT="36576" marB="36576">
                    <a:solidFill>
                      <a:srgbClr val="F7F9FC"/>
                    </a:solidFill>
                  </a:tcPr>
                </a:tc>
              </a:tr>
              <a:tr h="365760">
                <a:tc>
                  <a:txBody>
                    <a:bodyPr wrap="square"/>
                    <a:lstStyle/>
                    <a:p>
                      <a:r>
                        <a:rPr sz="1600" b="0">
                          <a:solidFill>
                            <a:srgbClr val="222B36"/>
                          </a:solidFill>
                          <a:latin typeface="Segoe UI"/>
                        </a:rPr>
                        <a:t>Power for a Pi 5 through the USB-C port that carries the link</a:t>
                      </a:r>
                    </a:p>
                  </a:txBody>
                  <a:tcPr marL="73152" marR="73152" marT="36576" marB="36576">
                    <a:solidFill>
                      <a:srgbClr val="FFFFFF"/>
                    </a:solidFill>
                  </a:tcPr>
                </a:tc>
                <a:tc>
                  <a:txBody>
                    <a:bodyPr wrap="square"/>
                    <a:lstStyle/>
                    <a:p>
                      <a:r>
                        <a:rPr sz="1600" b="0">
                          <a:solidFill>
                            <a:srgbClr val="222B36"/>
                          </a:solidFill>
                          <a:latin typeface="Segoe UI"/>
                        </a:rPr>
                        <a:t>Braden, Jonathan, Ivan</a:t>
                      </a:r>
                    </a:p>
                  </a:txBody>
                  <a:tcPr marL="73152" marR="73152" marT="36576" marB="36576">
                    <a:solidFill>
                      <a:srgbClr val="FFFFFF"/>
                    </a:solidFill>
                  </a:tcPr>
                </a:tc>
              </a:tr>
              <a:tr h="365760">
                <a:tc>
                  <a:txBody>
                    <a:bodyPr wrap="square"/>
                    <a:lstStyle/>
                    <a:p>
                      <a:r>
                        <a:rPr sz="1600" b="0">
                          <a:solidFill>
                            <a:srgbClr val="222B36"/>
                          </a:solidFill>
                          <a:latin typeface="Segoe UI"/>
                        </a:rPr>
                        <a:t>HW at 10x: USB round trip + scan under 10 ms</a:t>
                      </a:r>
                    </a:p>
                  </a:txBody>
                  <a:tcPr marL="73152" marR="73152" marT="36576" marB="36576">
                    <a:solidFill>
                      <a:srgbClr val="F7F9FC"/>
                    </a:solidFill>
                  </a:tcPr>
                </a:tc>
                <a:tc>
                  <a:txBody>
                    <a:bodyPr wrap="square"/>
                    <a:lstStyle/>
                    <a:p>
                      <a:r>
                        <a:rPr sz="1600" b="0">
                          <a:solidFill>
                            <a:srgbClr val="222B36"/>
                          </a:solidFill>
                          <a:latin typeface="Segoe UI"/>
                        </a:rPr>
                        <a:t>Braden, Jonathan, Ivan</a:t>
                      </a:r>
                    </a:p>
                  </a:txBody>
                  <a:tcPr marL="73152" marR="73152" marT="36576" marB="36576">
                    <a:solidFill>
                      <a:srgbClr val="F7F9FC"/>
                    </a:solidFill>
                  </a:tcPr>
                </a:tc>
              </a:tr>
              <a:tr h="365760">
                <a:tc>
                  <a:txBody>
                    <a:bodyPr wrap="square"/>
                    <a:lstStyle/>
                    <a:p>
                      <a:r>
                        <a:rPr sz="1600" b="0">
                          <a:solidFill>
                            <a:srgbClr val="222B36"/>
                          </a:solidFill>
                          <a:latin typeface="Segoe UI"/>
                        </a:rPr>
                        <a:t>Train Controller Protocol and typed inputs</a:t>
                      </a:r>
                    </a:p>
                  </a:txBody>
                  <a:tcPr marL="73152" marR="73152" marT="36576" marB="36576">
                    <a:solidFill>
                      <a:srgbClr val="FFFFFF"/>
                    </a:solidFill>
                  </a:tcPr>
                </a:tc>
                <a:tc>
                  <a:txBody>
                    <a:bodyPr wrap="square"/>
                    <a:lstStyle/>
                    <a:p>
                      <a:r>
                        <a:rPr sz="1600" b="0">
                          <a:solidFill>
                            <a:srgbClr val="222B36"/>
                          </a:solidFill>
                          <a:latin typeface="Segoe UI"/>
                        </a:rPr>
                        <a:t>Jonathan, Ivan</a:t>
                      </a:r>
                    </a:p>
                  </a:txBody>
                  <a:tcPr marL="73152" marR="73152" marT="36576" marB="36576">
                    <a:solidFill>
                      <a:srgbClr val="FFFFFF"/>
                    </a:solidFill>
                  </a:tcPr>
                </a:tc>
              </a:tr>
              <a:tr h="365760">
                <a:tc>
                  <a:txBody>
                    <a:bodyPr wrap="square"/>
                    <a:lstStyle/>
                    <a:p>
                      <a:r>
                        <a:rPr sz="1600" b="0">
                          <a:solidFill>
                            <a:srgbClr val="222B36"/>
                          </a:solidFill>
                          <a:latin typeface="Segoe UI"/>
                        </a:rPr>
                        <a:t>A shared CI job for every module's contract tests</a:t>
                      </a:r>
                    </a:p>
                  </a:txBody>
                  <a:tcPr marL="73152" marR="73152" marT="36576" marB="36576">
                    <a:solidFill>
                      <a:srgbClr val="F7F9FC"/>
                    </a:solidFill>
                  </a:tcPr>
                </a:tc>
                <a:tc>
                  <a:txBody>
                    <a:bodyPr wrap="square"/>
                    <a:lstStyle/>
                    <a:p>
                      <a:r>
                        <a:rPr sz="1600" b="0">
                          <a:solidFill>
                            <a:srgbClr val="222B36"/>
                          </a:solidFill>
                          <a:latin typeface="Segoe UI"/>
                        </a:rPr>
                        <a:t>Team</a:t>
                      </a:r>
                    </a:p>
                  </a:txBody>
                  <a:tcPr marL="73152" marR="73152" marT="36576" marB="36576">
                    <a:solidFill>
                      <a:srgbClr val="F7F9FC"/>
                    </a:solidFill>
                  </a:tcPr>
                </a:tc>
              </a:tr>
              <a:tr h="365760">
                <a:tc>
                  <a:txBody>
                    <a:bodyPr wrap="square"/>
                    <a:lstStyle/>
                    <a:p>
                      <a:r>
                        <a:rPr sz="1600" b="0">
                          <a:solidFill>
                            <a:srgbClr val="222B36"/>
                          </a:solidFill>
                          <a:latin typeface="Segoe UI"/>
                        </a:rPr>
                        <a:t>Fourth signal aspect: SUPER_GREEN vs SUPER GREEN</a:t>
                      </a:r>
                    </a:p>
                  </a:txBody>
                  <a:tcPr marL="73152" marR="73152" marT="36576" marB="36576">
                    <a:solidFill>
                      <a:srgbClr val="FFFFFF"/>
                    </a:solidFill>
                  </a:tcPr>
                </a:tc>
                <a:tc>
                  <a:txBody>
                    <a:bodyPr wrap="square"/>
                    <a:lstStyle/>
                    <a:p>
                      <a:r>
                        <a:rPr sz="1600" b="0">
                          <a:solidFill>
                            <a:srgbClr val="222B36"/>
                          </a:solidFill>
                          <a:latin typeface="Segoe UI"/>
                        </a:rPr>
                        <a:t>Deni, Jonathan</a:t>
                      </a:r>
                    </a:p>
                  </a:txBody>
                  <a:tcPr marL="73152" marR="73152" marT="36576" marB="36576">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