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Track Controller (HW)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D9E2EC"/>
                </a:solidFill>
                <a:latin typeface="Segoe UI"/>
              </a:rPr>
              <a:t>Design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D9E2EC"/>
                </a:solidFill>
                <a:latin typeface="Segoe UI"/>
              </a:rPr>
              <a:t>Braden · Track Overflow · 2026-10-22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28016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Segoe UI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the hardware Track Controller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136873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Runs every wayside controller of the Red Line (Green: software variant)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Each wayside: its own territory database and its own Boolean PLC program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Knows blocks, never trains: everything it exchanges is keyed by block</a:t>
            </a:r>
          </a:p>
          <a:p>
            <a:pPr lvl="1">
              <a:spcAft>
                <a:spcPts val="400"/>
              </a:spcAft>
            </a:pPr>
            <a:r>
              <a:rPr sz="2100">
                <a:solidFill>
                  <a:srgbClr val="5B6775"/>
                </a:solidFill>
                <a:latin typeface="Segoe UI"/>
              </a:rPr>
              <a:t>–  A failure (broken rail, circuit, power) reaches it as an occupied block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Core on a Raspberry Pi 5; window on the PC; linked by one USB cable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Stepped once per tick by the central harness, like every module</a:t>
            </a:r>
          </a:p>
          <a:p>
            <a:pPr lvl="1">
              <a:spcAft>
                <a:spcPts val="400"/>
              </a:spcAft>
            </a:pPr>
            <a:r>
              <a:rPr sz="2100">
                <a:solidFill>
                  <a:srgbClr val="5B6775"/>
                </a:solidFill>
                <a:latin typeface="Segoe UI"/>
              </a:rPr>
              <a:t>–  Orange «planned» = designed, not built yet: the PC/Pi split and the vital block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Requirements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9728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669280"/>
                <a:gridCol w="1645920"/>
                <a:gridCol w="3108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Rubric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Requirement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SRS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Use cases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6.0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Receive suggested speed and authority from the CTC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FUNC-049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UC-08, UC-14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6.1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Move switches by PLC execution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FUNC-052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UC-07, UC-11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6.2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Set traffic lights by PLC execution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FUNC-053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UC-07, UC-12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6.3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Receive train presence from the Track Model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FUNC-054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UC-10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6.4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Send track occupancy to the CTC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FUNC-055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UC-15, UC-06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Railway crossing lights and gates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FUNC-056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UC-13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6.6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PLC language based only on Boolean variables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FUNC-051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UC-02, UC-07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6.7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Load PLC file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FUNC-050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UC-02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6.8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Maintenance mode: set a switch position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FUNC-057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UC-09, UC-11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6.9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Safety-critical architecture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FUNC-058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UC-07, UC-16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9.0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Sub-system user interface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INTF-001.4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22B36"/>
                          </a:solidFill>
                          <a:latin typeface="Segoe UI"/>
                        </a:rPr>
                        <a:t>UC-01 to UC-06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28016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Segoe UI"/>
              </a:rPr>
              <a:t>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6</a:t>
            </a:r>
          </a:p>
        </p:txBody>
      </p:sp>
      <p:pic>
        <p:nvPicPr>
          <p:cNvPr id="7" name="Picture 6" descr="uc_track_ctrl_h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474" y="978408"/>
            <a:ext cx="7710747" cy="5056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080760"/>
            <a:ext cx="1136873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latin typeface="Segoe UI"/>
              </a:rPr>
              <a:t>Programmer actions are every control of the window; the scan cycle runs once per tick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28016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Segoe UI"/>
              </a:rPr>
              <a:t>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Software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8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95" y="978408"/>
            <a:ext cx="10477705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Software architecture: host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9</a:t>
            </a:r>
          </a:p>
        </p:txBody>
      </p:sp>
      <p:pic>
        <p:nvPicPr>
          <p:cNvPr id="7" name="Picture 6" descr="architecture_0_0_1119_8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773" y="978408"/>
            <a:ext cx="7190149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Software architecture: Raspberry Pi and shared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10</a:t>
            </a:r>
          </a:p>
        </p:txBody>
      </p:sp>
      <p:pic>
        <p:nvPicPr>
          <p:cNvPr id="7" name="Picture 6" descr="architecture_929_606_2765_14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21061"/>
            <a:ext cx="11368735" cy="5182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Architecture: design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136873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One interface, three users: harness, window and test UI call only the TrackController Protocol</a:t>
            </a:r>
          </a:p>
          <a:p>
            <a:pPr lvl="1">
              <a:spcAft>
                <a:spcPts val="400"/>
              </a:spcAft>
            </a:pPr>
            <a:r>
              <a:rPr sz="2100">
                <a:solidFill>
                  <a:srgbClr val="5B6775"/>
                </a:solidFill>
                <a:latin typeface="Segoe UI"/>
              </a:rPr>
              <a:t>–  step, snapshot, load_territory, load_program, reset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RemoteTrackController implements the same Protocol on the PC and forwards each call to the Pi</a:t>
            </a:r>
          </a:p>
          <a:p>
            <a:pPr lvl="1">
              <a:spcAft>
                <a:spcPts val="400"/>
              </a:spcAft>
            </a:pPr>
            <a:r>
              <a:rPr sz="2100">
                <a:solidFill>
                  <a:srgbClr val="5B6775"/>
                </a:solidFill>
                <a:latin typeface="Segoe UI"/>
              </a:rPr>
              <a:t>–  The window and the harness endpoint do not change when the core moves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Core is Qt-free: runs on the Pi in plain Python; 74 unit tests run headless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Validate, then change: a bad tick is rejected before any state changes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Two channels: every statement compiled twice, by different algorithms, run every scan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28016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Segoe UI"/>
              </a:rPr>
              <a:t>Class diagrams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Core classes (Raspberry Pi):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Class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13</a:t>
            </a:r>
          </a:p>
        </p:txBody>
      </p:sp>
      <p:pic>
        <p:nvPicPr>
          <p:cNvPr id="7" name="Picture 6" descr="class_core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62837"/>
            <a:ext cx="11368735" cy="46992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Core classes (Raspberry Pi): PLC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Class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14</a:t>
            </a:r>
          </a:p>
        </p:txBody>
      </p:sp>
      <p:pic>
        <p:nvPicPr>
          <p:cNvPr id="7" name="Picture 6" descr="class_core_p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10193"/>
            <a:ext cx="11368735" cy="38045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Boundary types: inputs and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Class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15</a:t>
            </a:r>
          </a:p>
        </p:txBody>
      </p:sp>
      <p:pic>
        <p:nvPicPr>
          <p:cNvPr id="6" name="Picture 5" descr="class_boundary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241" y="868680"/>
            <a:ext cx="8363212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Boundary types: territory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Class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16</a:t>
            </a:r>
          </a:p>
        </p:txBody>
      </p:sp>
      <p:pic>
        <p:nvPicPr>
          <p:cNvPr id="6" name="Picture 5" descr="class_boundary_terri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820" y="868680"/>
            <a:ext cx="9648055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Boundary types: snapshot for the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Class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17</a:t>
            </a:r>
          </a:p>
        </p:txBody>
      </p:sp>
      <p:pic>
        <p:nvPicPr>
          <p:cNvPr id="6" name="Picture 5" descr="class_boundary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41" y="868680"/>
            <a:ext cx="8459412" cy="58795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Host-side classes (PC):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Class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18</a:t>
            </a:r>
          </a:p>
        </p:txBody>
      </p:sp>
      <p:pic>
        <p:nvPicPr>
          <p:cNvPr id="7" name="Picture 6" descr="class_host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7402"/>
            <a:ext cx="11368735" cy="46386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080760"/>
            <a:ext cx="1136873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latin typeface="Segoe UI"/>
              </a:rPr>
              <a:t>QML only binds to TrackControllerState and calls its slots; rows update in place every 100 ms at most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Host-side classes (PC): link to the 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Class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19</a:t>
            </a:r>
          </a:p>
        </p:txBody>
      </p:sp>
      <p:pic>
        <p:nvPicPr>
          <p:cNvPr id="7" name="Picture 6" descr="class_host_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0019"/>
            <a:ext cx="11368735" cy="35534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080760"/>
            <a:ext cx="1136873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latin typeface="Segoe UI"/>
              </a:rPr>
              <a:t>RemoteTrackController has the same Protocol as HwTrackController; each call is one request over USB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28016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Segoe UI"/>
              </a:rPr>
              <a:t>Sequence diagrams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SD-05 One tick through the central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21</a:t>
            </a:r>
          </a:p>
        </p:txBody>
      </p:sp>
      <p:pic>
        <p:nvPicPr>
          <p:cNvPr id="7" name="Picture 6" descr="sd05_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882" y="978408"/>
            <a:ext cx="7093931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SD-06 Scan cycle of one wayside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22</a:t>
            </a:r>
          </a:p>
        </p:txBody>
      </p:sp>
      <p:pic>
        <p:nvPicPr>
          <p:cNvPr id="7" name="Picture 6" descr="sd06_scan_cyc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297" y="978408"/>
            <a:ext cx="7257101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SD-06 Scan cycle of one wayside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23</a:t>
            </a:r>
          </a:p>
        </p:txBody>
      </p:sp>
      <p:pic>
        <p:nvPicPr>
          <p:cNvPr id="7" name="Picture 6" descr="sd06_scan_cyc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688" y="978408"/>
            <a:ext cx="5388319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SD-01 Load wayside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24</a:t>
            </a:r>
          </a:p>
        </p:txBody>
      </p:sp>
      <p:pic>
        <p:nvPicPr>
          <p:cNvPr id="7" name="Picture 6" descr="sd01_load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823" y="978408"/>
            <a:ext cx="7308049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SD-02 Load PLC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25</a:t>
            </a:r>
          </a:p>
        </p:txBody>
      </p:sp>
      <p:pic>
        <p:nvPicPr>
          <p:cNvPr id="7" name="Picture 6" descr="sd02_load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044" y="978408"/>
            <a:ext cx="9301607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SD-03 Select wayside and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26</a:t>
            </a:r>
          </a:p>
        </p:txBody>
      </p:sp>
      <p:pic>
        <p:nvPicPr>
          <p:cNvPr id="7" name="Picture 6" descr="sd03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601" y="978408"/>
            <a:ext cx="7836493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SD-04 PLC details and last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27</a:t>
            </a:r>
          </a:p>
        </p:txBody>
      </p:sp>
      <p:pic>
        <p:nvPicPr>
          <p:cNvPr id="7" name="Picture 6" descr="sd04_details_and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367" y="978408"/>
            <a:ext cx="5762961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SD-07 Maintenance switch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Sequence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28</a:t>
            </a:r>
          </a:p>
        </p:txBody>
      </p:sp>
      <p:pic>
        <p:nvPicPr>
          <p:cNvPr id="7" name="Picture 6" descr="sd07_maintenance_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415" y="978408"/>
            <a:ext cx="9198864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28016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Segoe UI"/>
              </a:rPr>
              <a:t>Deployment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30</a:t>
            </a:r>
          </a:p>
        </p:txBody>
      </p:sp>
      <p:pic>
        <p:nvPicPr>
          <p:cNvPr id="7" name="Picture 6" descr="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387" y="978408"/>
            <a:ext cx="8598920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28016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Segoe UI"/>
              </a:rPr>
              <a:t>System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5B6775"/>
                </a:solidFill>
                <a:latin typeface="Segoe UI"/>
              </a:rPr>
              <a:t>Track Controller's part of the joint concepts, with Harry and Landis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Distribution of wayside controllers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System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136873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One variant per line: HW runs the Red Line, SW the Green Line (D021)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A wayside owns a contiguous run of blocks and every switch, signal and crossing on them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One Raspberry Pi 5 runs every Red Line wayside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A line runs only when every wayside on it is ready</a:t>
            </a:r>
          </a:p>
          <a:p>
            <a:pPr lvl="1">
              <a:spcAft>
                <a:spcPts val="400"/>
              </a:spcAft>
            </a:pPr>
            <a:r>
              <a:rPr sz="2100">
                <a:solidFill>
                  <a:srgbClr val="5B6775"/>
                </a:solidFill>
                <a:latin typeface="Segoe UI"/>
              </a:rPr>
              <a:t>–  Ready: a person has loaded the database and the PLC program, and the channels agree</a:t>
            </a:r>
          </a:p>
          <a:p>
            <a:pPr lvl="1">
              <a:spcAft>
                <a:spcPts val="400"/>
              </a:spcAft>
            </a:pPr>
            <a:r>
              <a:rPr sz="2100">
                <a:solidFill>
                  <a:srgbClr val="5B6775"/>
                </a:solidFill>
                <a:latin typeface="Segoe UI"/>
              </a:rPr>
              <a:t>–  Not ready anywhere on the line: the whole line holds fail-safe and the CTC dispatches nothing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Red Line boundaries: to be chosen; a switch must lie inside one wayside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Authority, as the wayside handles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System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136873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Authority = blocks ahead the train may still enter; 0 = stop (D013)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CTC Office computes it along the route and suggests it per block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The program's AUTH_n passes the CTC count down block n's track circuit, or sends 0</a:t>
            </a:r>
          </a:p>
          <a:p>
            <a:pPr lvl="1">
              <a:spcAft>
                <a:spcPts val="400"/>
              </a:spcAft>
            </a:pPr>
            <a:r>
              <a:rPr sz="2100">
                <a:solidFill>
                  <a:srgbClr val="5B6775"/>
                </a:solidFill>
                <a:latin typeface="Segoe UI"/>
              </a:rPr>
              <a:t>–  Withheld for a closed block, a switch not where commanded, an occupied neighbour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Speed travels with it as five bits, capped at the block's limit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Track Model delivers both to the train in the block, then clears them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Wayside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System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6366491" cy="5349240"/>
          </a:xfrm>
          <a:prstGeom prst="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6092171" cy="5166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>// a comment</a:t>
            </a:r>
          </a:p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>VAR_IN  OCC_12 OCC_13 SWREV_12</a:t>
            </a:r>
          </a:p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>VAR_IN  CTCSW_12 CTCREV_12</a:t>
            </a:r>
          </a:p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>VAR_OUT SW_12</a:t>
            </a:r>
          </a:p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/>
            </a:r>
          </a:p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>LOCK_12 := OCC_12 OR OCC_13</a:t>
            </a:r>
          </a:p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>WANT_12 := CTCSW_12 AND CTCREV_12</a:t>
            </a:r>
          </a:p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>SW_12   := (LOCK_12 AND SWREV_12)</a:t>
            </a:r>
          </a:p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>           OR (NOT LOCK_12 AND WANT_12)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2291" y="1097280"/>
            <a:ext cx="4727924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22B36"/>
                </a:solidFill>
                <a:latin typeface="Segoe UI"/>
              </a:rPr>
              <a:t>•  Boolean only: NOT, AND, XOR, OR, 0, 1, parentheses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B36"/>
                </a:solidFill>
                <a:latin typeface="Segoe UI"/>
              </a:rPr>
              <a:t>•  Runs top to bottom once per tick; an unset name reads 0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B36"/>
                </a:solidFill>
                <a:latin typeface="Segoe UI"/>
              </a:rPr>
              <a:t>•  Speed crosses in and out as five bits (SPD_n_0..4, CMD_n_0..4)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B36"/>
                </a:solidFill>
                <a:latin typeface="Segoe UI"/>
              </a:rPr>
              <a:t>•  Every error reported with its line number; a program naming I/O its wayside lacks is refused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B36"/>
                </a:solidFill>
                <a:latin typeface="Segoe UI"/>
              </a:rPr>
              <a:t>•  Shared with the SW variant; the names still differ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Vitality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System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136873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The OS only holds and parses the PLC program: every decision is PLC code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Read-only vital block after the user's program «planned»</a:t>
            </a:r>
          </a:p>
          <a:p>
            <a:pPr lvl="1">
              <a:spcAft>
                <a:spcPts val="400"/>
              </a:spcAft>
            </a:pPr>
            <a:r>
              <a:rPr sz="2100">
                <a:solidFill>
                  <a:srgbClr val="5B6775"/>
                </a:solidFill>
                <a:latin typeface="Segoe UI"/>
              </a:rPr>
              <a:t>–  Generated per territory; can only make outputs more restrictive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Diverse execution: two compilers, two interpreters, compared every scan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Diverse implementations: HW and SW share a language, not code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Fail-safe outputs: signals red, crossings active, speed and authority 0, switches stay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Inputs checked whole before anything changes; a failure reads as occupancy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Hardware/software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System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136873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Same TrackController Protocol and the same I/O in both variants (D021)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Pi 5 in USB device mode: a standard USB serial (CDC-ACM) device (D027)</a:t>
            </a:r>
          </a:p>
          <a:p>
            <a:pPr lvl="1">
              <a:spcAft>
                <a:spcPts val="400"/>
              </a:spcAft>
            </a:pPr>
            <a:r>
              <a:rPr sz="2100">
                <a:solidFill>
                  <a:srgbClr val="5B6775"/>
                </a:solidFill>
                <a:latin typeface="Segoe UI"/>
              </a:rPr>
              <a:t>–  Windows' built-in driver: no installation, no admin rights</a:t>
            </a:r>
          </a:p>
          <a:p>
            <a:pPr lvl="1">
              <a:spcAft>
                <a:spcPts val="400"/>
              </a:spcAft>
            </a:pPr>
            <a:r>
              <a:rPr sz="2100">
                <a:solidFill>
                  <a:srgbClr val="5B6775"/>
                </a:solidFill>
                <a:latin typeface="Segoe UI"/>
              </a:rPr>
              <a:t>–  Found by its USB identity, never a fixed COM number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Messages: the harness's newline JSON, with request ID and tick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The PC process owns the COM port and relays harness messages to the Pi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10x: 100 ticks per second, so USB round trip + scan &lt; 10 ms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28016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Segoe UI"/>
              </a:rPr>
              <a:t>Open items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687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Open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Open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Track Controller (HW) · Braden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38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97280"/>
          <a:ext cx="11338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8412480"/>
                <a:gridCol w="2377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Read-only vital PLC block: assumed, to confirm for both variants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Braden, Harry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Manual switch at the wayside in maintenance (rubric 6.8); assumed CTC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Braden, Harry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Red Line wayside boundaries, databases and programs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Braden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USB message framing; the Pi's identification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Kevin, Braden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Pi 5 power through its USB-C port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Braden, Kevin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Measure USB round trip + scan against the 10 ms budget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Braden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PLC names differ between the variants (REQ-INTF-009)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Braden, Harry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Aspect values: lower case here, upper case system-wide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Braden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