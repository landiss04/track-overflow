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use cases. UC-01 to UC-06 are every control of the window (Programmer). UC-07 Run scan cycle runs once per tick, driven by the harness, and includes UC-08 to UC-15: inputs from the CTC Office and Track Model, commands to the Track Model, the report to the CTC. UC-16 Hold fail-safe extends the scan. Together they cover rubric 6.0 to 6.9 and 9.0.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presentation and host-side communication on the PC; control, PLC engine and Pi-side communication on the Pi; the contract (interface, wire format, errors) is shared by both. Orange = planned: the PC/Pi split.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side. The QML window talks only to TrackControllerState. Harness ticks and window requests both go through RemoteTrackController, which forwards them over USB serial through PiSerialLink.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 side. PiLinkServer receives each request and calls HwTrackController, which scans every Wayside. Each statement is compiled twice and run on two channels; the vital block runs after the user's program (planned). interface.py and wire.py are used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HwTrackController implements the TrackController Protocol and owns one Wayside per database, all on one line. Wayside.scan builds the input image, runs the programs, compares the channels, drives the outputs and builds the CTC report. Every error derives from TrackControllerError. PiLinkServer is planned.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compile_program turns source into an immutable Program. Each Statement holds a tree (channel A) and postfix code (channel B); scan_a and scan_b must agree. check_program verifies every name against the wayside's I/O. vital_source (planned) generates the read-only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crosses the boundary each tick. In: from the CTC Office closures, maintenance switch commands and per-block suggestions; from the Track Model occupancy and read-back. Out: track circuits and switch, signal and crossing commands to the Track Model; one CtcReport per wayside. The CTC keys blocks by BlockRef, the Track Model by BlockKey.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wayside's territory, from its database: blocks with length and speed limit, switches (point, normal and reverse ends), crossings. BlockKey is line, section, number; BlockRef is line and number, the CTC's form (Red:15).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Read-only state for the window, from snapshot(), with no side effects: per wayside its program, scan health (scans, overruns, channel agreement), switch states and last report.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TrackControllerState is the QML bridge: slots for the window's actions, properties QML binds to. It turns snapshots into rows through views, display and schematic, and updates five RowsModels in place, at most every 100 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RemoteTrackController implements the same Protocol as HwTrackController, so neither the window nor the harness endpoint changes. PiSerialLink sends each call as one newline-JSON request over USB serial (D027); HarnessEndpoint answers the harness's ticks.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tick: the harness maps the CTC Office's and Track Model's previous outputs into this module's inputs; the PC relays the step to the Pi; every wayside scans; the outputs go back. An invalid input rejects the whole tick. At 10x, USB round trip plus scan must stay under 10 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tick: the harness maps the CTC Office's and Track Model's previous outputs into this module's inputs; the PC relays the step to the Pi; every wayside scans; the outputs go back. An invalid input rejects the whole tick. At 10x, USB round trip plus scan must stay under 10 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wayside's scan. It holds fail-safe if any wayside is not ready, it has no program, or a channel fault is latched. Otherwise: build the input image, run the user program on channels A and B, compare, run the vital block the same way (planned), then drive the outputs. The CTC report is built every scan.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wayside's scan. It holds fail-safe if any wayside is not ready, it has no program, or a channel fault is latched. Otherwise: build the input image, run the user program on channels A and B, compare, run the vital block the same way (planned), then drive the outputs. The CTC report is built every scan.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 parses the file and rejects a bad one before sending it; the Pi checks the line and that no other wayside owns its blocks. A replaced wayside keeps its program if the program still fits.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 parses the file and rejects a bad one before sending it; the Pi checks the line and that no other wayside owns its blocks. A replaced wayside keeps its program if the program still fits.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Compiled twice and checked against the wayside's I/O, on the Pi. Any error refuses the program and lists every problem with its line number; the old program keeps running. A new program holds fail-safe until its first scan.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Compiled twice and checked against the wayside's I/O, on the Pi. Any error refuses the program and lists every problem with its line number; the old program keeps running. A new program holds fail-safe until its first scan.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window takes a snapshot, converts it to rows in display units and updates the tables in place. A 100 ms timer refreshes when ticks have advanced. Zoom and Fit are QML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read-only dialogs over values from the last refresh. New PLC in the details dialog starts SD-02.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CTC Office's command reaches the program as the CTCSW and CTCREV inputs; the program obeys unless a train holds the switch. The Track Model's read-back goes into the CTC report. When maintenance ends, the program routes the switch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Windows PC runs the executable; the harness spawns one process per module. The Track Ctrl HW process shows the window and owns the COM port to a Raspberry Pi 5 in USB device mode, which runs every Red Line wayside. The test UI is not deployed. Open item: powering the Pi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097280"/>
          </a:xfrm>
          <a:prstGeom prst="rect">
            <a:avLst/>
          </a:prstGeom>
          <a:noFill/>
        </p:spPr>
        <p:txBody>
          <a:bodyPr wrap="square" anchor="t" lIns="45720" rIns="45720">
            <a:spAutoFit/>
          </a:bodyPr>
          <a:lstStyle/>
          <a:p>
            <a:pPr algn="l"/>
            <a:r>
              <a:rPr sz="4400" b="1">
                <a:solidFill>
                  <a:srgbClr val="FFFFFF"/>
                </a:solidFill>
                <a:latin typeface="Segoe UI"/>
              </a:rPr>
              <a:t>Track Controller (HW)</a:t>
            </a:r>
          </a:p>
        </p:txBody>
      </p:sp>
      <p:sp>
        <p:nvSpPr>
          <p:cNvPr id="4" name="TextBox 3"/>
          <p:cNvSpPr txBox="1"/>
          <p:nvPr/>
        </p:nvSpPr>
        <p:spPr>
          <a:xfrm>
            <a:off x="822960" y="3200400"/>
            <a:ext cx="10515600" cy="731520"/>
          </a:xfrm>
          <a:prstGeom prst="rect">
            <a:avLst/>
          </a:prstGeom>
          <a:noFill/>
        </p:spPr>
        <p:txBody>
          <a:bodyPr wrap="square" anchor="t" lIns="45720" rIns="45720">
            <a:spAutoFit/>
          </a:bodyPr>
          <a:lstStyle/>
          <a:p>
            <a:pPr algn="l"/>
            <a:r>
              <a:rPr sz="2400" b="0">
                <a:solidFill>
                  <a:srgbClr val="D9E2EC"/>
                </a:solidFill>
                <a:latin typeface="Segoe UI"/>
              </a:rPr>
              <a:t>Design review</a:t>
            </a:r>
          </a:p>
        </p:txBody>
      </p:sp>
      <p:sp>
        <p:nvSpPr>
          <p:cNvPr id="5" name="TextBox 4"/>
          <p:cNvSpPr txBox="1"/>
          <p:nvPr/>
        </p:nvSpPr>
        <p:spPr>
          <a:xfrm>
            <a:off x="822960" y="5120640"/>
            <a:ext cx="10515600" cy="548640"/>
          </a:xfrm>
          <a:prstGeom prst="rect">
            <a:avLst/>
          </a:prstGeom>
          <a:noFill/>
        </p:spPr>
        <p:txBody>
          <a:bodyPr wrap="square" anchor="t" lIns="45720" rIns="45720">
            <a:spAutoFit/>
          </a:bodyPr>
          <a:lstStyle/>
          <a:p>
            <a:pPr algn="l"/>
            <a:r>
              <a:rPr sz="1600" b="0">
                <a:solidFill>
                  <a:srgbClr val="D9E2EC"/>
                </a:solidFill>
                <a:latin typeface="Segoe UI"/>
              </a:rPr>
              <a:t>Braden · Track Overflow · 2026-10-22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What the hardware Track Controller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Overview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Runs every wayside controller of the Red Line (Green: software variant)</a:t>
            </a:r>
          </a:p>
          <a:p>
            <a:pPr>
              <a:spcAft>
                <a:spcPts val="800"/>
              </a:spcAft>
            </a:pPr>
            <a:r>
              <a:rPr sz="2400">
                <a:solidFill>
                  <a:srgbClr val="222B36"/>
                </a:solidFill>
                <a:latin typeface="Segoe UI"/>
              </a:rPr>
              <a:t>•  Each wayside: its own territory database and its own Boolean PLC program</a:t>
            </a:r>
          </a:p>
          <a:p>
            <a:pPr>
              <a:spcAft>
                <a:spcPts val="800"/>
              </a:spcAft>
            </a:pPr>
            <a:r>
              <a:rPr sz="2400">
                <a:solidFill>
                  <a:srgbClr val="222B36"/>
                </a:solidFill>
                <a:latin typeface="Segoe UI"/>
              </a:rPr>
              <a:t>•  Knows blocks, never trains: everything it exchanges is keyed by block</a:t>
            </a:r>
          </a:p>
          <a:p>
            <a:pPr lvl="1">
              <a:spcAft>
                <a:spcPts val="400"/>
              </a:spcAft>
            </a:pPr>
            <a:r>
              <a:rPr sz="2100">
                <a:solidFill>
                  <a:srgbClr val="5B6775"/>
                </a:solidFill>
                <a:latin typeface="Segoe UI"/>
              </a:rPr>
              <a:t>–  A failure (broken rail, circuit, power) reaches it as an occupied block</a:t>
            </a:r>
          </a:p>
          <a:p>
            <a:pPr>
              <a:spcAft>
                <a:spcPts val="800"/>
              </a:spcAft>
            </a:pPr>
            <a:r>
              <a:rPr sz="2400">
                <a:solidFill>
                  <a:srgbClr val="222B36"/>
                </a:solidFill>
                <a:latin typeface="Segoe UI"/>
              </a:rPr>
              <a:t>•  Core on a Raspberry Pi 5; window on the PC; linked by one USB cable</a:t>
            </a:r>
          </a:p>
          <a:p>
            <a:pPr>
              <a:spcAft>
                <a:spcPts val="800"/>
              </a:spcAft>
            </a:pPr>
            <a:r>
              <a:rPr sz="2400">
                <a:solidFill>
                  <a:srgbClr val="222B36"/>
                </a:solidFill>
                <a:latin typeface="Segoe UI"/>
              </a:rPr>
              <a:t>•  Stepped once per tick by the central harness, like every module</a:t>
            </a:r>
          </a:p>
          <a:p>
            <a:pPr lvl="1">
              <a:spcAft>
                <a:spcPts val="400"/>
              </a:spcAft>
            </a:pPr>
            <a:r>
              <a:rPr sz="2100">
                <a:solidFill>
                  <a:srgbClr val="5B6775"/>
                </a:solidFill>
                <a:latin typeface="Segoe UI"/>
              </a:rPr>
              <a:t>–  Orange «planned» = designed, not built yet: the PC/Pi split and the vital block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Requirements coverage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Overview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a:t>
            </a:r>
          </a:p>
        </p:txBody>
      </p:sp>
      <p:graphicFrame>
        <p:nvGraphicFramePr>
          <p:cNvPr id="7" name="Table 6"/>
          <p:cNvGraphicFramePr>
            <a:graphicFrameLocks noGrp="1"/>
          </p:cNvGraphicFramePr>
          <p:nvPr/>
        </p:nvGraphicFramePr>
        <p:xfrm>
          <a:off x="411480" y="1097280"/>
          <a:ext cx="11338560" cy="4389120"/>
        </p:xfrm>
        <a:graphic>
          <a:graphicData uri="http://schemas.openxmlformats.org/drawingml/2006/table">
            <a:tbl>
              <a:tblPr firstRow="1" bandRow="1">
                <a:tableStyleId>{5C22544A-7EE6-4342-B048-85BDC9FD1C3A}</a:tableStyleId>
              </a:tblPr>
              <a:tblGrid>
                <a:gridCol w="914400"/>
                <a:gridCol w="5669280"/>
                <a:gridCol w="1645920"/>
                <a:gridCol w="3108960"/>
              </a:tblGrid>
              <a:tr h="365760">
                <a:tc>
                  <a:txBody>
                    <a:bodyPr wrap="square"/>
                    <a:lstStyle/>
                    <a:p>
                      <a:r>
                        <a:rPr sz="1500" b="1">
                          <a:solidFill>
                            <a:srgbClr val="FFFFFF"/>
                          </a:solidFill>
                          <a:latin typeface="Segoe UI"/>
                        </a:rPr>
                        <a:t>Rubric</a:t>
                      </a:r>
                    </a:p>
                  </a:txBody>
                  <a:tcPr marL="73152" marR="73152" marT="36576" marB="36576">
                    <a:solidFill>
                      <a:srgbClr val="1F3A5F"/>
                    </a:solidFill>
                  </a:tcPr>
                </a:tc>
                <a:tc>
                  <a:txBody>
                    <a:bodyPr wrap="square"/>
                    <a:lstStyle/>
                    <a:p>
                      <a:r>
                        <a:rPr sz="1500" b="1">
                          <a:solidFill>
                            <a:srgbClr val="FFFFFF"/>
                          </a:solidFill>
                          <a:latin typeface="Segoe UI"/>
                        </a:rPr>
                        <a:t>Requirement</a:t>
                      </a:r>
                    </a:p>
                  </a:txBody>
                  <a:tcPr marL="73152" marR="73152" marT="36576" marB="36576">
                    <a:solidFill>
                      <a:srgbClr val="1F3A5F"/>
                    </a:solidFill>
                  </a:tcPr>
                </a:tc>
                <a:tc>
                  <a:txBody>
                    <a:bodyPr wrap="square"/>
                    <a:lstStyle/>
                    <a:p>
                      <a:r>
                        <a:rPr sz="1500" b="1">
                          <a:solidFill>
                            <a:srgbClr val="FFFFFF"/>
                          </a:solidFill>
                          <a:latin typeface="Segoe UI"/>
                        </a:rPr>
                        <a:t>SRS</a:t>
                      </a:r>
                    </a:p>
                  </a:txBody>
                  <a:tcPr marL="73152" marR="73152" marT="36576" marB="36576">
                    <a:solidFill>
                      <a:srgbClr val="1F3A5F"/>
                    </a:solidFill>
                  </a:tcPr>
                </a:tc>
                <a:tc>
                  <a:txBody>
                    <a:bodyPr wrap="square"/>
                    <a:lstStyle/>
                    <a:p>
                      <a:r>
                        <a:rPr sz="1500" b="1">
                          <a:solidFill>
                            <a:srgbClr val="FFFFFF"/>
                          </a:solidFill>
                          <a:latin typeface="Segoe UI"/>
                        </a:rPr>
                        <a:t>Use cases</a:t>
                      </a:r>
                    </a:p>
                  </a:txBody>
                  <a:tcPr marL="73152" marR="73152" marT="36576" marB="36576">
                    <a:solidFill>
                      <a:srgbClr val="1F3A5F"/>
                    </a:solidFill>
                  </a:tcPr>
                </a:tc>
              </a:tr>
              <a:tr h="365760">
                <a:tc>
                  <a:txBody>
                    <a:bodyPr wrap="square"/>
                    <a:lstStyle/>
                    <a:p>
                      <a:r>
                        <a:rPr sz="1500" b="0">
                          <a:solidFill>
                            <a:srgbClr val="222B36"/>
                          </a:solidFill>
                          <a:latin typeface="Segoe UI"/>
                        </a:rPr>
                        <a:t>6.0</a:t>
                      </a:r>
                    </a:p>
                  </a:txBody>
                  <a:tcPr marL="73152" marR="73152" marT="36576" marB="36576">
                    <a:solidFill>
                      <a:srgbClr val="F7F9FC"/>
                    </a:solidFill>
                  </a:tcPr>
                </a:tc>
                <a:tc>
                  <a:txBody>
                    <a:bodyPr wrap="square"/>
                    <a:lstStyle/>
                    <a:p>
                      <a:r>
                        <a:rPr sz="1500" b="0">
                          <a:solidFill>
                            <a:srgbClr val="222B36"/>
                          </a:solidFill>
                          <a:latin typeface="Segoe UI"/>
                        </a:rPr>
                        <a:t>Receive suggested speed and authority from the CTC</a:t>
                      </a:r>
                    </a:p>
                  </a:txBody>
                  <a:tcPr marL="73152" marR="73152" marT="36576" marB="36576">
                    <a:solidFill>
                      <a:srgbClr val="F7F9FC"/>
                    </a:solidFill>
                  </a:tcPr>
                </a:tc>
                <a:tc>
                  <a:txBody>
                    <a:bodyPr wrap="square"/>
                    <a:lstStyle/>
                    <a:p>
                      <a:r>
                        <a:rPr sz="1500" b="0">
                          <a:solidFill>
                            <a:srgbClr val="222B36"/>
                          </a:solidFill>
                          <a:latin typeface="Segoe UI"/>
                        </a:rPr>
                        <a:t>FUNC-049</a:t>
                      </a:r>
                    </a:p>
                  </a:txBody>
                  <a:tcPr marL="73152" marR="73152" marT="36576" marB="36576">
                    <a:solidFill>
                      <a:srgbClr val="F7F9FC"/>
                    </a:solidFill>
                  </a:tcPr>
                </a:tc>
                <a:tc>
                  <a:txBody>
                    <a:bodyPr wrap="square"/>
                    <a:lstStyle/>
                    <a:p>
                      <a:r>
                        <a:rPr sz="1500" b="0">
                          <a:solidFill>
                            <a:srgbClr val="222B36"/>
                          </a:solidFill>
                          <a:latin typeface="Segoe UI"/>
                        </a:rPr>
                        <a:t>UC-08, UC-14</a:t>
                      </a:r>
                    </a:p>
                  </a:txBody>
                  <a:tcPr marL="73152" marR="73152" marT="36576" marB="36576">
                    <a:solidFill>
                      <a:srgbClr val="F7F9FC"/>
                    </a:solidFill>
                  </a:tcPr>
                </a:tc>
              </a:tr>
              <a:tr h="365760">
                <a:tc>
                  <a:txBody>
                    <a:bodyPr wrap="square"/>
                    <a:lstStyle/>
                    <a:p>
                      <a:r>
                        <a:rPr sz="1500" b="0">
                          <a:solidFill>
                            <a:srgbClr val="222B36"/>
                          </a:solidFill>
                          <a:latin typeface="Segoe UI"/>
                        </a:rPr>
                        <a:t>6.1</a:t>
                      </a:r>
                    </a:p>
                  </a:txBody>
                  <a:tcPr marL="73152" marR="73152" marT="36576" marB="36576">
                    <a:solidFill>
                      <a:srgbClr val="FFFFFF"/>
                    </a:solidFill>
                  </a:tcPr>
                </a:tc>
                <a:tc>
                  <a:txBody>
                    <a:bodyPr wrap="square"/>
                    <a:lstStyle/>
                    <a:p>
                      <a:r>
                        <a:rPr sz="1500" b="0">
                          <a:solidFill>
                            <a:srgbClr val="222B36"/>
                          </a:solidFill>
                          <a:latin typeface="Segoe UI"/>
                        </a:rPr>
                        <a:t>Move switches by PLC execution</a:t>
                      </a:r>
                    </a:p>
                  </a:txBody>
                  <a:tcPr marL="73152" marR="73152" marT="36576" marB="36576">
                    <a:solidFill>
                      <a:srgbClr val="FFFFFF"/>
                    </a:solidFill>
                  </a:tcPr>
                </a:tc>
                <a:tc>
                  <a:txBody>
                    <a:bodyPr wrap="square"/>
                    <a:lstStyle/>
                    <a:p>
                      <a:r>
                        <a:rPr sz="1500" b="0">
                          <a:solidFill>
                            <a:srgbClr val="222B36"/>
                          </a:solidFill>
                          <a:latin typeface="Segoe UI"/>
                        </a:rPr>
                        <a:t>FUNC-052</a:t>
                      </a:r>
                    </a:p>
                  </a:txBody>
                  <a:tcPr marL="73152" marR="73152" marT="36576" marB="36576">
                    <a:solidFill>
                      <a:srgbClr val="FFFFFF"/>
                    </a:solidFill>
                  </a:tcPr>
                </a:tc>
                <a:tc>
                  <a:txBody>
                    <a:bodyPr wrap="square"/>
                    <a:lstStyle/>
                    <a:p>
                      <a:r>
                        <a:rPr sz="1500" b="0">
                          <a:solidFill>
                            <a:srgbClr val="222B36"/>
                          </a:solidFill>
                          <a:latin typeface="Segoe UI"/>
                        </a:rPr>
                        <a:t>UC-07, UC-11</a:t>
                      </a:r>
                    </a:p>
                  </a:txBody>
                  <a:tcPr marL="73152" marR="73152" marT="36576" marB="36576">
                    <a:solidFill>
                      <a:srgbClr val="FFFFFF"/>
                    </a:solidFill>
                  </a:tcPr>
                </a:tc>
              </a:tr>
              <a:tr h="365760">
                <a:tc>
                  <a:txBody>
                    <a:bodyPr wrap="square"/>
                    <a:lstStyle/>
                    <a:p>
                      <a:r>
                        <a:rPr sz="1500" b="0">
                          <a:solidFill>
                            <a:srgbClr val="222B36"/>
                          </a:solidFill>
                          <a:latin typeface="Segoe UI"/>
                        </a:rPr>
                        <a:t>6.2</a:t>
                      </a:r>
                    </a:p>
                  </a:txBody>
                  <a:tcPr marL="73152" marR="73152" marT="36576" marB="36576">
                    <a:solidFill>
                      <a:srgbClr val="F7F9FC"/>
                    </a:solidFill>
                  </a:tcPr>
                </a:tc>
                <a:tc>
                  <a:txBody>
                    <a:bodyPr wrap="square"/>
                    <a:lstStyle/>
                    <a:p>
                      <a:r>
                        <a:rPr sz="1500" b="0">
                          <a:solidFill>
                            <a:srgbClr val="222B36"/>
                          </a:solidFill>
                          <a:latin typeface="Segoe UI"/>
                        </a:rPr>
                        <a:t>Set traffic lights by PLC execution</a:t>
                      </a:r>
                    </a:p>
                  </a:txBody>
                  <a:tcPr marL="73152" marR="73152" marT="36576" marB="36576">
                    <a:solidFill>
                      <a:srgbClr val="F7F9FC"/>
                    </a:solidFill>
                  </a:tcPr>
                </a:tc>
                <a:tc>
                  <a:txBody>
                    <a:bodyPr wrap="square"/>
                    <a:lstStyle/>
                    <a:p>
                      <a:r>
                        <a:rPr sz="1500" b="0">
                          <a:solidFill>
                            <a:srgbClr val="222B36"/>
                          </a:solidFill>
                          <a:latin typeface="Segoe UI"/>
                        </a:rPr>
                        <a:t>FUNC-053</a:t>
                      </a:r>
                    </a:p>
                  </a:txBody>
                  <a:tcPr marL="73152" marR="73152" marT="36576" marB="36576">
                    <a:solidFill>
                      <a:srgbClr val="F7F9FC"/>
                    </a:solidFill>
                  </a:tcPr>
                </a:tc>
                <a:tc>
                  <a:txBody>
                    <a:bodyPr wrap="square"/>
                    <a:lstStyle/>
                    <a:p>
                      <a:r>
                        <a:rPr sz="1500" b="0">
                          <a:solidFill>
                            <a:srgbClr val="222B36"/>
                          </a:solidFill>
                          <a:latin typeface="Segoe UI"/>
                        </a:rPr>
                        <a:t>UC-07, UC-12</a:t>
                      </a:r>
                    </a:p>
                  </a:txBody>
                  <a:tcPr marL="73152" marR="73152" marT="36576" marB="36576">
                    <a:solidFill>
                      <a:srgbClr val="F7F9FC"/>
                    </a:solidFill>
                  </a:tcPr>
                </a:tc>
              </a:tr>
              <a:tr h="365760">
                <a:tc>
                  <a:txBody>
                    <a:bodyPr wrap="square"/>
                    <a:lstStyle/>
                    <a:p>
                      <a:r>
                        <a:rPr sz="1500" b="0">
                          <a:solidFill>
                            <a:srgbClr val="222B36"/>
                          </a:solidFill>
                          <a:latin typeface="Segoe UI"/>
                        </a:rPr>
                        <a:t>6.3</a:t>
                      </a:r>
                    </a:p>
                  </a:txBody>
                  <a:tcPr marL="73152" marR="73152" marT="36576" marB="36576">
                    <a:solidFill>
                      <a:srgbClr val="FFFFFF"/>
                    </a:solidFill>
                  </a:tcPr>
                </a:tc>
                <a:tc>
                  <a:txBody>
                    <a:bodyPr wrap="square"/>
                    <a:lstStyle/>
                    <a:p>
                      <a:r>
                        <a:rPr sz="1500" b="0">
                          <a:solidFill>
                            <a:srgbClr val="222B36"/>
                          </a:solidFill>
                          <a:latin typeface="Segoe UI"/>
                        </a:rPr>
                        <a:t>Receive train presence from the Track Model</a:t>
                      </a:r>
                    </a:p>
                  </a:txBody>
                  <a:tcPr marL="73152" marR="73152" marT="36576" marB="36576">
                    <a:solidFill>
                      <a:srgbClr val="FFFFFF"/>
                    </a:solidFill>
                  </a:tcPr>
                </a:tc>
                <a:tc>
                  <a:txBody>
                    <a:bodyPr wrap="square"/>
                    <a:lstStyle/>
                    <a:p>
                      <a:r>
                        <a:rPr sz="1500" b="0">
                          <a:solidFill>
                            <a:srgbClr val="222B36"/>
                          </a:solidFill>
                          <a:latin typeface="Segoe UI"/>
                        </a:rPr>
                        <a:t>FUNC-054</a:t>
                      </a:r>
                    </a:p>
                  </a:txBody>
                  <a:tcPr marL="73152" marR="73152" marT="36576" marB="36576">
                    <a:solidFill>
                      <a:srgbClr val="FFFFFF"/>
                    </a:solidFill>
                  </a:tcPr>
                </a:tc>
                <a:tc>
                  <a:txBody>
                    <a:bodyPr wrap="square"/>
                    <a:lstStyle/>
                    <a:p>
                      <a:r>
                        <a:rPr sz="1500" b="0">
                          <a:solidFill>
                            <a:srgbClr val="222B36"/>
                          </a:solidFill>
                          <a:latin typeface="Segoe UI"/>
                        </a:rPr>
                        <a:t>UC-10</a:t>
                      </a:r>
                    </a:p>
                  </a:txBody>
                  <a:tcPr marL="73152" marR="73152" marT="36576" marB="36576">
                    <a:solidFill>
                      <a:srgbClr val="FFFFFF"/>
                    </a:solidFill>
                  </a:tcPr>
                </a:tc>
              </a:tr>
              <a:tr h="365760">
                <a:tc>
                  <a:txBody>
                    <a:bodyPr wrap="square"/>
                    <a:lstStyle/>
                    <a:p>
                      <a:r>
                        <a:rPr sz="1500" b="0">
                          <a:solidFill>
                            <a:srgbClr val="222B36"/>
                          </a:solidFill>
                          <a:latin typeface="Segoe UI"/>
                        </a:rPr>
                        <a:t>6.4</a:t>
                      </a:r>
                    </a:p>
                  </a:txBody>
                  <a:tcPr marL="73152" marR="73152" marT="36576" marB="36576">
                    <a:solidFill>
                      <a:srgbClr val="F7F9FC"/>
                    </a:solidFill>
                  </a:tcPr>
                </a:tc>
                <a:tc>
                  <a:txBody>
                    <a:bodyPr wrap="square"/>
                    <a:lstStyle/>
                    <a:p>
                      <a:r>
                        <a:rPr sz="1500" b="0">
                          <a:solidFill>
                            <a:srgbClr val="222B36"/>
                          </a:solidFill>
                          <a:latin typeface="Segoe UI"/>
                        </a:rPr>
                        <a:t>Send track occupancy to the CTC</a:t>
                      </a:r>
                    </a:p>
                  </a:txBody>
                  <a:tcPr marL="73152" marR="73152" marT="36576" marB="36576">
                    <a:solidFill>
                      <a:srgbClr val="F7F9FC"/>
                    </a:solidFill>
                  </a:tcPr>
                </a:tc>
                <a:tc>
                  <a:txBody>
                    <a:bodyPr wrap="square"/>
                    <a:lstStyle/>
                    <a:p>
                      <a:r>
                        <a:rPr sz="1500" b="0">
                          <a:solidFill>
                            <a:srgbClr val="222B36"/>
                          </a:solidFill>
                          <a:latin typeface="Segoe UI"/>
                        </a:rPr>
                        <a:t>FUNC-055</a:t>
                      </a:r>
                    </a:p>
                  </a:txBody>
                  <a:tcPr marL="73152" marR="73152" marT="36576" marB="36576">
                    <a:solidFill>
                      <a:srgbClr val="F7F9FC"/>
                    </a:solidFill>
                  </a:tcPr>
                </a:tc>
                <a:tc>
                  <a:txBody>
                    <a:bodyPr wrap="square"/>
                    <a:lstStyle/>
                    <a:p>
                      <a:r>
                        <a:rPr sz="1500" b="0">
                          <a:solidFill>
                            <a:srgbClr val="222B36"/>
                          </a:solidFill>
                          <a:latin typeface="Segoe UI"/>
                        </a:rPr>
                        <a:t>UC-15, UC-06</a:t>
                      </a:r>
                    </a:p>
                  </a:txBody>
                  <a:tcPr marL="73152" marR="73152" marT="36576" marB="36576">
                    <a:solidFill>
                      <a:srgbClr val="F7F9FC"/>
                    </a:solidFill>
                  </a:tcPr>
                </a:tc>
              </a:tr>
              <a:tr h="365760">
                <a:tc>
                  <a:txBody>
                    <a:bodyPr wrap="square"/>
                    <a:lstStyle/>
                    <a:p>
                      <a:r>
                        <a:rPr sz="1500" b="0">
                          <a:solidFill>
                            <a:srgbClr val="222B36"/>
                          </a:solidFill>
                          <a:latin typeface="Segoe UI"/>
                        </a:rPr>
                        <a:t>6.5</a:t>
                      </a:r>
                    </a:p>
                  </a:txBody>
                  <a:tcPr marL="73152" marR="73152" marT="36576" marB="36576">
                    <a:solidFill>
                      <a:srgbClr val="FFFFFF"/>
                    </a:solidFill>
                  </a:tcPr>
                </a:tc>
                <a:tc>
                  <a:txBody>
                    <a:bodyPr wrap="square"/>
                    <a:lstStyle/>
                    <a:p>
                      <a:r>
                        <a:rPr sz="1500" b="0">
                          <a:solidFill>
                            <a:srgbClr val="222B36"/>
                          </a:solidFill>
                          <a:latin typeface="Segoe UI"/>
                        </a:rPr>
                        <a:t>Railway crossing lights and gates</a:t>
                      </a:r>
                    </a:p>
                  </a:txBody>
                  <a:tcPr marL="73152" marR="73152" marT="36576" marB="36576">
                    <a:solidFill>
                      <a:srgbClr val="FFFFFF"/>
                    </a:solidFill>
                  </a:tcPr>
                </a:tc>
                <a:tc>
                  <a:txBody>
                    <a:bodyPr wrap="square"/>
                    <a:lstStyle/>
                    <a:p>
                      <a:r>
                        <a:rPr sz="1500" b="0">
                          <a:solidFill>
                            <a:srgbClr val="222B36"/>
                          </a:solidFill>
                          <a:latin typeface="Segoe UI"/>
                        </a:rPr>
                        <a:t>FUNC-056</a:t>
                      </a:r>
                    </a:p>
                  </a:txBody>
                  <a:tcPr marL="73152" marR="73152" marT="36576" marB="36576">
                    <a:solidFill>
                      <a:srgbClr val="FFFFFF"/>
                    </a:solidFill>
                  </a:tcPr>
                </a:tc>
                <a:tc>
                  <a:txBody>
                    <a:bodyPr wrap="square"/>
                    <a:lstStyle/>
                    <a:p>
                      <a:r>
                        <a:rPr sz="1500" b="0">
                          <a:solidFill>
                            <a:srgbClr val="222B36"/>
                          </a:solidFill>
                          <a:latin typeface="Segoe UI"/>
                        </a:rPr>
                        <a:t>UC-13</a:t>
                      </a:r>
                    </a:p>
                  </a:txBody>
                  <a:tcPr marL="73152" marR="73152" marT="36576" marB="36576">
                    <a:solidFill>
                      <a:srgbClr val="FFFFFF"/>
                    </a:solidFill>
                  </a:tcPr>
                </a:tc>
              </a:tr>
              <a:tr h="365760">
                <a:tc>
                  <a:txBody>
                    <a:bodyPr wrap="square"/>
                    <a:lstStyle/>
                    <a:p>
                      <a:r>
                        <a:rPr sz="1500" b="0">
                          <a:solidFill>
                            <a:srgbClr val="222B36"/>
                          </a:solidFill>
                          <a:latin typeface="Segoe UI"/>
                        </a:rPr>
                        <a:t>6.6</a:t>
                      </a:r>
                    </a:p>
                  </a:txBody>
                  <a:tcPr marL="73152" marR="73152" marT="36576" marB="36576">
                    <a:solidFill>
                      <a:srgbClr val="F7F9FC"/>
                    </a:solidFill>
                  </a:tcPr>
                </a:tc>
                <a:tc>
                  <a:txBody>
                    <a:bodyPr wrap="square"/>
                    <a:lstStyle/>
                    <a:p>
                      <a:r>
                        <a:rPr sz="1500" b="0">
                          <a:solidFill>
                            <a:srgbClr val="222B36"/>
                          </a:solidFill>
                          <a:latin typeface="Segoe UI"/>
                        </a:rPr>
                        <a:t>PLC language based only on Boolean variables</a:t>
                      </a:r>
                    </a:p>
                  </a:txBody>
                  <a:tcPr marL="73152" marR="73152" marT="36576" marB="36576">
                    <a:solidFill>
                      <a:srgbClr val="F7F9FC"/>
                    </a:solidFill>
                  </a:tcPr>
                </a:tc>
                <a:tc>
                  <a:txBody>
                    <a:bodyPr wrap="square"/>
                    <a:lstStyle/>
                    <a:p>
                      <a:r>
                        <a:rPr sz="1500" b="0">
                          <a:solidFill>
                            <a:srgbClr val="222B36"/>
                          </a:solidFill>
                          <a:latin typeface="Segoe UI"/>
                        </a:rPr>
                        <a:t>FUNC-051</a:t>
                      </a:r>
                    </a:p>
                  </a:txBody>
                  <a:tcPr marL="73152" marR="73152" marT="36576" marB="36576">
                    <a:solidFill>
                      <a:srgbClr val="F7F9FC"/>
                    </a:solidFill>
                  </a:tcPr>
                </a:tc>
                <a:tc>
                  <a:txBody>
                    <a:bodyPr wrap="square"/>
                    <a:lstStyle/>
                    <a:p>
                      <a:r>
                        <a:rPr sz="1500" b="0">
                          <a:solidFill>
                            <a:srgbClr val="222B36"/>
                          </a:solidFill>
                          <a:latin typeface="Segoe UI"/>
                        </a:rPr>
                        <a:t>UC-02, UC-07</a:t>
                      </a:r>
                    </a:p>
                  </a:txBody>
                  <a:tcPr marL="73152" marR="73152" marT="36576" marB="36576">
                    <a:solidFill>
                      <a:srgbClr val="F7F9FC"/>
                    </a:solidFill>
                  </a:tcPr>
                </a:tc>
              </a:tr>
              <a:tr h="365760">
                <a:tc>
                  <a:txBody>
                    <a:bodyPr wrap="square"/>
                    <a:lstStyle/>
                    <a:p>
                      <a:r>
                        <a:rPr sz="1500" b="0">
                          <a:solidFill>
                            <a:srgbClr val="222B36"/>
                          </a:solidFill>
                          <a:latin typeface="Segoe UI"/>
                        </a:rPr>
                        <a:t>6.7</a:t>
                      </a:r>
                    </a:p>
                  </a:txBody>
                  <a:tcPr marL="73152" marR="73152" marT="36576" marB="36576">
                    <a:solidFill>
                      <a:srgbClr val="FFFFFF"/>
                    </a:solidFill>
                  </a:tcPr>
                </a:tc>
                <a:tc>
                  <a:txBody>
                    <a:bodyPr wrap="square"/>
                    <a:lstStyle/>
                    <a:p>
                      <a:r>
                        <a:rPr sz="1500" b="0">
                          <a:solidFill>
                            <a:srgbClr val="222B36"/>
                          </a:solidFill>
                          <a:latin typeface="Segoe UI"/>
                        </a:rPr>
                        <a:t>Load PLC file</a:t>
                      </a:r>
                    </a:p>
                  </a:txBody>
                  <a:tcPr marL="73152" marR="73152" marT="36576" marB="36576">
                    <a:solidFill>
                      <a:srgbClr val="FFFFFF"/>
                    </a:solidFill>
                  </a:tcPr>
                </a:tc>
                <a:tc>
                  <a:txBody>
                    <a:bodyPr wrap="square"/>
                    <a:lstStyle/>
                    <a:p>
                      <a:r>
                        <a:rPr sz="1500" b="0">
                          <a:solidFill>
                            <a:srgbClr val="222B36"/>
                          </a:solidFill>
                          <a:latin typeface="Segoe UI"/>
                        </a:rPr>
                        <a:t>FUNC-050</a:t>
                      </a:r>
                    </a:p>
                  </a:txBody>
                  <a:tcPr marL="73152" marR="73152" marT="36576" marB="36576">
                    <a:solidFill>
                      <a:srgbClr val="FFFFFF"/>
                    </a:solidFill>
                  </a:tcPr>
                </a:tc>
                <a:tc>
                  <a:txBody>
                    <a:bodyPr wrap="square"/>
                    <a:lstStyle/>
                    <a:p>
                      <a:r>
                        <a:rPr sz="1500" b="0">
                          <a:solidFill>
                            <a:srgbClr val="222B36"/>
                          </a:solidFill>
                          <a:latin typeface="Segoe UI"/>
                        </a:rPr>
                        <a:t>UC-02</a:t>
                      </a:r>
                    </a:p>
                  </a:txBody>
                  <a:tcPr marL="73152" marR="73152" marT="36576" marB="36576">
                    <a:solidFill>
                      <a:srgbClr val="FFFFFF"/>
                    </a:solidFill>
                  </a:tcPr>
                </a:tc>
              </a:tr>
              <a:tr h="365760">
                <a:tc>
                  <a:txBody>
                    <a:bodyPr wrap="square"/>
                    <a:lstStyle/>
                    <a:p>
                      <a:r>
                        <a:rPr sz="1500" b="0">
                          <a:solidFill>
                            <a:srgbClr val="222B36"/>
                          </a:solidFill>
                          <a:latin typeface="Segoe UI"/>
                        </a:rPr>
                        <a:t>6.8</a:t>
                      </a:r>
                    </a:p>
                  </a:txBody>
                  <a:tcPr marL="73152" marR="73152" marT="36576" marB="36576">
                    <a:solidFill>
                      <a:srgbClr val="F7F9FC"/>
                    </a:solidFill>
                  </a:tcPr>
                </a:tc>
                <a:tc>
                  <a:txBody>
                    <a:bodyPr wrap="square"/>
                    <a:lstStyle/>
                    <a:p>
                      <a:r>
                        <a:rPr sz="1500" b="0">
                          <a:solidFill>
                            <a:srgbClr val="222B36"/>
                          </a:solidFill>
                          <a:latin typeface="Segoe UI"/>
                        </a:rPr>
                        <a:t>Maintenance mode: set a switch position</a:t>
                      </a:r>
                    </a:p>
                  </a:txBody>
                  <a:tcPr marL="73152" marR="73152" marT="36576" marB="36576">
                    <a:solidFill>
                      <a:srgbClr val="F7F9FC"/>
                    </a:solidFill>
                  </a:tcPr>
                </a:tc>
                <a:tc>
                  <a:txBody>
                    <a:bodyPr wrap="square"/>
                    <a:lstStyle/>
                    <a:p>
                      <a:r>
                        <a:rPr sz="1500" b="0">
                          <a:solidFill>
                            <a:srgbClr val="222B36"/>
                          </a:solidFill>
                          <a:latin typeface="Segoe UI"/>
                        </a:rPr>
                        <a:t>FUNC-057</a:t>
                      </a:r>
                    </a:p>
                  </a:txBody>
                  <a:tcPr marL="73152" marR="73152" marT="36576" marB="36576">
                    <a:solidFill>
                      <a:srgbClr val="F7F9FC"/>
                    </a:solidFill>
                  </a:tcPr>
                </a:tc>
                <a:tc>
                  <a:txBody>
                    <a:bodyPr wrap="square"/>
                    <a:lstStyle/>
                    <a:p>
                      <a:r>
                        <a:rPr sz="1500" b="0">
                          <a:solidFill>
                            <a:srgbClr val="222B36"/>
                          </a:solidFill>
                          <a:latin typeface="Segoe UI"/>
                        </a:rPr>
                        <a:t>UC-09, UC-11</a:t>
                      </a:r>
                    </a:p>
                  </a:txBody>
                  <a:tcPr marL="73152" marR="73152" marT="36576" marB="36576">
                    <a:solidFill>
                      <a:srgbClr val="F7F9FC"/>
                    </a:solidFill>
                  </a:tcPr>
                </a:tc>
              </a:tr>
              <a:tr h="365760">
                <a:tc>
                  <a:txBody>
                    <a:bodyPr wrap="square"/>
                    <a:lstStyle/>
                    <a:p>
                      <a:r>
                        <a:rPr sz="1500" b="0">
                          <a:solidFill>
                            <a:srgbClr val="222B36"/>
                          </a:solidFill>
                          <a:latin typeface="Segoe UI"/>
                        </a:rPr>
                        <a:t>6.9</a:t>
                      </a:r>
                    </a:p>
                  </a:txBody>
                  <a:tcPr marL="73152" marR="73152" marT="36576" marB="36576">
                    <a:solidFill>
                      <a:srgbClr val="FFFFFF"/>
                    </a:solidFill>
                  </a:tcPr>
                </a:tc>
                <a:tc>
                  <a:txBody>
                    <a:bodyPr wrap="square"/>
                    <a:lstStyle/>
                    <a:p>
                      <a:r>
                        <a:rPr sz="1500" b="0">
                          <a:solidFill>
                            <a:srgbClr val="222B36"/>
                          </a:solidFill>
                          <a:latin typeface="Segoe UI"/>
                        </a:rPr>
                        <a:t>Safety-critical architecture</a:t>
                      </a:r>
                    </a:p>
                  </a:txBody>
                  <a:tcPr marL="73152" marR="73152" marT="36576" marB="36576">
                    <a:solidFill>
                      <a:srgbClr val="FFFFFF"/>
                    </a:solidFill>
                  </a:tcPr>
                </a:tc>
                <a:tc>
                  <a:txBody>
                    <a:bodyPr wrap="square"/>
                    <a:lstStyle/>
                    <a:p>
                      <a:r>
                        <a:rPr sz="1500" b="0">
                          <a:solidFill>
                            <a:srgbClr val="222B36"/>
                          </a:solidFill>
                          <a:latin typeface="Segoe UI"/>
                        </a:rPr>
                        <a:t>FUNC-058</a:t>
                      </a:r>
                    </a:p>
                  </a:txBody>
                  <a:tcPr marL="73152" marR="73152" marT="36576" marB="36576">
                    <a:solidFill>
                      <a:srgbClr val="FFFFFF"/>
                    </a:solidFill>
                  </a:tcPr>
                </a:tc>
                <a:tc>
                  <a:txBody>
                    <a:bodyPr wrap="square"/>
                    <a:lstStyle/>
                    <a:p>
                      <a:r>
                        <a:rPr sz="1500" b="0">
                          <a:solidFill>
                            <a:srgbClr val="222B36"/>
                          </a:solidFill>
                          <a:latin typeface="Segoe UI"/>
                        </a:rPr>
                        <a:t>UC-07, UC-16</a:t>
                      </a:r>
                    </a:p>
                  </a:txBody>
                  <a:tcPr marL="73152" marR="73152" marT="36576" marB="36576">
                    <a:solidFill>
                      <a:srgbClr val="FFFFFF"/>
                    </a:solidFill>
                  </a:tcPr>
                </a:tc>
              </a:tr>
              <a:tr h="365760">
                <a:tc>
                  <a:txBody>
                    <a:bodyPr wrap="square"/>
                    <a:lstStyle/>
                    <a:p>
                      <a:r>
                        <a:rPr sz="1500" b="0">
                          <a:solidFill>
                            <a:srgbClr val="222B36"/>
                          </a:solidFill>
                          <a:latin typeface="Segoe UI"/>
                        </a:rPr>
                        <a:t>9.0</a:t>
                      </a:r>
                    </a:p>
                  </a:txBody>
                  <a:tcPr marL="73152" marR="73152" marT="36576" marB="36576">
                    <a:solidFill>
                      <a:srgbClr val="F7F9FC"/>
                    </a:solidFill>
                  </a:tcPr>
                </a:tc>
                <a:tc>
                  <a:txBody>
                    <a:bodyPr wrap="square"/>
                    <a:lstStyle/>
                    <a:p>
                      <a:r>
                        <a:rPr sz="1500" b="0">
                          <a:solidFill>
                            <a:srgbClr val="222B36"/>
                          </a:solidFill>
                          <a:latin typeface="Segoe UI"/>
                        </a:rPr>
                        <a:t>Sub-system user interface</a:t>
                      </a:r>
                    </a:p>
                  </a:txBody>
                  <a:tcPr marL="73152" marR="73152" marT="36576" marB="36576">
                    <a:solidFill>
                      <a:srgbClr val="F7F9FC"/>
                    </a:solidFill>
                  </a:tcPr>
                </a:tc>
                <a:tc>
                  <a:txBody>
                    <a:bodyPr wrap="square"/>
                    <a:lstStyle/>
                    <a:p>
                      <a:r>
                        <a:rPr sz="1500" b="0">
                          <a:solidFill>
                            <a:srgbClr val="222B36"/>
                          </a:solidFill>
                          <a:latin typeface="Segoe UI"/>
                        </a:rPr>
                        <a:t>INTF-001.4</a:t>
                      </a:r>
                    </a:p>
                  </a:txBody>
                  <a:tcPr marL="73152" marR="73152" marT="36576" marB="36576">
                    <a:solidFill>
                      <a:srgbClr val="F7F9FC"/>
                    </a:solidFill>
                  </a:tcPr>
                </a:tc>
                <a:tc>
                  <a:txBody>
                    <a:bodyPr wrap="square"/>
                    <a:lstStyle/>
                    <a:p>
                      <a:r>
                        <a:rPr sz="1500" b="0">
                          <a:solidFill>
                            <a:srgbClr val="222B36"/>
                          </a:solidFill>
                          <a:latin typeface="Segoe UI"/>
                        </a:rPr>
                        <a:t>UC-01 to UC-06</a:t>
                      </a:r>
                    </a:p>
                  </a:txBody>
                  <a:tcPr marL="73152" marR="73152" marT="36576" marB="36576">
                    <a:solidFill>
                      <a:srgbClr val="F7F9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Use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a:t>
            </a:r>
          </a:p>
        </p:txBody>
      </p:sp>
      <p:pic>
        <p:nvPicPr>
          <p:cNvPr id="7" name="Picture 6" descr="uc_track_ctrl_hw.png"/>
          <p:cNvPicPr>
            <a:picLocks noChangeAspect="1"/>
          </p:cNvPicPr>
          <p:nvPr/>
        </p:nvPicPr>
        <p:blipFill>
          <a:blip r:embed="rId3"/>
          <a:stretch>
            <a:fillRect/>
          </a:stretch>
        </p:blipFill>
        <p:spPr>
          <a:xfrm>
            <a:off x="2240474" y="978408"/>
            <a:ext cx="7710747" cy="5056632"/>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Programmer actions are every control of the window; the scan cycle runs once per tick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Architecture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a:t>
            </a:r>
          </a:p>
        </p:txBody>
      </p:sp>
      <p:pic>
        <p:nvPicPr>
          <p:cNvPr id="7" name="Picture 6" descr="architecture.png"/>
          <p:cNvPicPr>
            <a:picLocks noChangeAspect="1"/>
          </p:cNvPicPr>
          <p:nvPr/>
        </p:nvPicPr>
        <p:blipFill>
          <a:blip r:embed="rId3"/>
          <a:stretch>
            <a:fillRect/>
          </a:stretch>
        </p:blipFill>
        <p:spPr>
          <a:xfrm>
            <a:off x="856995" y="978408"/>
            <a:ext cx="10477705" cy="546811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 host PC</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a:t>
            </a:r>
          </a:p>
        </p:txBody>
      </p:sp>
      <p:pic>
        <p:nvPicPr>
          <p:cNvPr id="7" name="Picture 6" descr="architecture_0_0_1119_851.png"/>
          <p:cNvPicPr>
            <a:picLocks noChangeAspect="1"/>
          </p:cNvPicPr>
          <p:nvPr/>
        </p:nvPicPr>
        <p:blipFill>
          <a:blip r:embed="rId3"/>
          <a:stretch>
            <a:fillRect/>
          </a:stretch>
        </p:blipFill>
        <p:spPr>
          <a:xfrm>
            <a:off x="2500773" y="978408"/>
            <a:ext cx="7190149" cy="54681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 Raspberry Pi and shared code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a:t>
            </a:r>
          </a:p>
        </p:txBody>
      </p:sp>
      <p:pic>
        <p:nvPicPr>
          <p:cNvPr id="7" name="Picture 6" descr="architecture_929_606_2765_1443.png"/>
          <p:cNvPicPr>
            <a:picLocks noChangeAspect="1"/>
          </p:cNvPicPr>
          <p:nvPr/>
        </p:nvPicPr>
        <p:blipFill>
          <a:blip r:embed="rId3"/>
          <a:stretch>
            <a:fillRect/>
          </a:stretch>
        </p:blipFill>
        <p:spPr>
          <a:xfrm>
            <a:off x="411480" y="1121061"/>
            <a:ext cx="11368735" cy="518280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Architecture: design choices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One interface, three users: harness, window and test UI call only the TrackController Protocol</a:t>
            </a:r>
          </a:p>
          <a:p>
            <a:pPr lvl="1">
              <a:spcAft>
                <a:spcPts val="400"/>
              </a:spcAft>
            </a:pPr>
            <a:r>
              <a:rPr sz="2100">
                <a:solidFill>
                  <a:srgbClr val="5B6775"/>
                </a:solidFill>
                <a:latin typeface="Segoe UI"/>
              </a:rPr>
              <a:t>–  step, snapshot, load_territory, load_program, reset</a:t>
            </a:r>
          </a:p>
          <a:p>
            <a:pPr>
              <a:spcAft>
                <a:spcPts val="800"/>
              </a:spcAft>
            </a:pPr>
            <a:r>
              <a:rPr sz="2400">
                <a:solidFill>
                  <a:srgbClr val="222B36"/>
                </a:solidFill>
                <a:latin typeface="Segoe UI"/>
              </a:rPr>
              <a:t>•  RemoteTrackController implements the same Protocol on the PC and forwards each call to the Pi</a:t>
            </a:r>
          </a:p>
          <a:p>
            <a:pPr lvl="1">
              <a:spcAft>
                <a:spcPts val="400"/>
              </a:spcAft>
            </a:pPr>
            <a:r>
              <a:rPr sz="2100">
                <a:solidFill>
                  <a:srgbClr val="5B6775"/>
                </a:solidFill>
                <a:latin typeface="Segoe UI"/>
              </a:rPr>
              <a:t>–  The window and the harness endpoint do not change when the core moves</a:t>
            </a:r>
          </a:p>
          <a:p>
            <a:pPr>
              <a:spcAft>
                <a:spcPts val="800"/>
              </a:spcAft>
            </a:pPr>
            <a:r>
              <a:rPr sz="2400">
                <a:solidFill>
                  <a:srgbClr val="222B36"/>
                </a:solidFill>
                <a:latin typeface="Segoe UI"/>
              </a:rPr>
              <a:t>•  Core is Qt-free: runs on the Pi in plain Python; 74 unit tests run headless</a:t>
            </a:r>
          </a:p>
          <a:p>
            <a:pPr>
              <a:spcAft>
                <a:spcPts val="800"/>
              </a:spcAft>
            </a:pPr>
            <a:r>
              <a:rPr sz="2400">
                <a:solidFill>
                  <a:srgbClr val="222B36"/>
                </a:solidFill>
                <a:latin typeface="Segoe UI"/>
              </a:rPr>
              <a:t>•  Validate, then change: a bad tick is rejected before any state changes</a:t>
            </a:r>
          </a:p>
          <a:p>
            <a:pPr>
              <a:spcAft>
                <a:spcPts val="800"/>
              </a:spcAft>
            </a:pPr>
            <a:r>
              <a:rPr sz="2400">
                <a:solidFill>
                  <a:srgbClr val="222B36"/>
                </a:solidFill>
                <a:latin typeface="Segoe UI"/>
              </a:rPr>
              <a:t>•  Two channels: every statement compiled twice, by different algorithms, run every scan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Class diagrams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Core classes (Raspberry Pi): control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a:t>
            </a:r>
          </a:p>
        </p:txBody>
      </p:sp>
      <p:pic>
        <p:nvPicPr>
          <p:cNvPr id="7" name="Picture 6" descr="class_core_control.png"/>
          <p:cNvPicPr>
            <a:picLocks noChangeAspect="1"/>
          </p:cNvPicPr>
          <p:nvPr/>
        </p:nvPicPr>
        <p:blipFill>
          <a:blip r:embed="rId3"/>
          <a:stretch>
            <a:fillRect/>
          </a:stretch>
        </p:blipFill>
        <p:spPr>
          <a:xfrm>
            <a:off x="411480" y="1362837"/>
            <a:ext cx="11368735" cy="469925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Core classes (Raspberry Pi): PLC engine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a:t>
            </a:r>
          </a:p>
        </p:txBody>
      </p:sp>
      <p:pic>
        <p:nvPicPr>
          <p:cNvPr id="7" name="Picture 6" descr="class_core_plc.png"/>
          <p:cNvPicPr>
            <a:picLocks noChangeAspect="1"/>
          </p:cNvPicPr>
          <p:nvPr/>
        </p:nvPicPr>
        <p:blipFill>
          <a:blip r:embed="rId3"/>
          <a:stretch>
            <a:fillRect/>
          </a:stretch>
        </p:blipFill>
        <p:spPr>
          <a:xfrm>
            <a:off x="411480" y="1810193"/>
            <a:ext cx="11368735" cy="380454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inputs and outputs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a:t>
            </a:r>
          </a:p>
        </p:txBody>
      </p:sp>
      <p:pic>
        <p:nvPicPr>
          <p:cNvPr id="6" name="Picture 5" descr="class_boundary_io.png"/>
          <p:cNvPicPr>
            <a:picLocks noChangeAspect="1"/>
          </p:cNvPicPr>
          <p:nvPr/>
        </p:nvPicPr>
        <p:blipFill>
          <a:blip r:embed="rId3"/>
          <a:stretch>
            <a:fillRect/>
          </a:stretch>
        </p:blipFill>
        <p:spPr>
          <a:xfrm>
            <a:off x="1914241" y="868680"/>
            <a:ext cx="8363212" cy="587959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territory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a:t>
            </a:r>
          </a:p>
        </p:txBody>
      </p:sp>
      <p:pic>
        <p:nvPicPr>
          <p:cNvPr id="6" name="Picture 5" descr="class_boundary_territory.png"/>
          <p:cNvPicPr>
            <a:picLocks noChangeAspect="1"/>
          </p:cNvPicPr>
          <p:nvPr/>
        </p:nvPicPr>
        <p:blipFill>
          <a:blip r:embed="rId3"/>
          <a:stretch>
            <a:fillRect/>
          </a:stretch>
        </p:blipFill>
        <p:spPr>
          <a:xfrm>
            <a:off x="1271820" y="868680"/>
            <a:ext cx="9648055" cy="587959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snapshot for the window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a:t>
            </a:r>
          </a:p>
        </p:txBody>
      </p:sp>
      <p:pic>
        <p:nvPicPr>
          <p:cNvPr id="6" name="Picture 5" descr="class_boundary_snapshot.png"/>
          <p:cNvPicPr>
            <a:picLocks noChangeAspect="1"/>
          </p:cNvPicPr>
          <p:nvPr/>
        </p:nvPicPr>
        <p:blipFill>
          <a:blip r:embed="rId3"/>
          <a:stretch>
            <a:fillRect/>
          </a:stretch>
        </p:blipFill>
        <p:spPr>
          <a:xfrm>
            <a:off x="1866141" y="868680"/>
            <a:ext cx="8459412" cy="587959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Host-side classes (PC): presentation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a:t>
            </a:r>
          </a:p>
        </p:txBody>
      </p:sp>
      <p:pic>
        <p:nvPicPr>
          <p:cNvPr id="7" name="Picture 6" descr="class_host_ui.png"/>
          <p:cNvPicPr>
            <a:picLocks noChangeAspect="1"/>
          </p:cNvPicPr>
          <p:nvPr/>
        </p:nvPicPr>
        <p:blipFill>
          <a:blip r:embed="rId3"/>
          <a:stretch>
            <a:fillRect/>
          </a:stretch>
        </p:blipFill>
        <p:spPr>
          <a:xfrm>
            <a:off x="411480" y="1187402"/>
            <a:ext cx="11368735" cy="4638643"/>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QML only binds to TrackControllerState and calls its slots; rows update in place every 100 ms at most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Host-side classes (PC): link to the Pi</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a:t>
            </a:r>
          </a:p>
        </p:txBody>
      </p:sp>
      <p:pic>
        <p:nvPicPr>
          <p:cNvPr id="7" name="Picture 6" descr="class_host_link.png"/>
          <p:cNvPicPr>
            <a:picLocks noChangeAspect="1"/>
          </p:cNvPicPr>
          <p:nvPr/>
        </p:nvPicPr>
        <p:blipFill>
          <a:blip r:embed="rId3"/>
          <a:stretch>
            <a:fillRect/>
          </a:stretch>
        </p:blipFill>
        <p:spPr>
          <a:xfrm>
            <a:off x="411480" y="1730019"/>
            <a:ext cx="11368735" cy="3553410"/>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RemoteTrackController has the same Protocol as HwTrackController; each call is one request over USB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Sequence diagrams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SD-05 One tick through the central harness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a:t>
            </a:r>
          </a:p>
        </p:txBody>
      </p:sp>
      <p:pic>
        <p:nvPicPr>
          <p:cNvPr id="7" name="Picture 6" descr="sd05_tick_1.png"/>
          <p:cNvPicPr>
            <a:picLocks noChangeAspect="1"/>
          </p:cNvPicPr>
          <p:nvPr/>
        </p:nvPicPr>
        <p:blipFill>
          <a:blip r:embed="rId3"/>
          <a:stretch>
            <a:fillRect/>
          </a:stretch>
        </p:blipFill>
        <p:spPr>
          <a:xfrm>
            <a:off x="411480" y="1487510"/>
            <a:ext cx="11368735" cy="444990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SD-05 One tick through the central harness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a:t>
            </a:r>
          </a:p>
        </p:txBody>
      </p:sp>
      <p:pic>
        <p:nvPicPr>
          <p:cNvPr id="7" name="Picture 6" descr="sd05_tick_2.png"/>
          <p:cNvPicPr>
            <a:picLocks noChangeAspect="1"/>
          </p:cNvPicPr>
          <p:nvPr/>
        </p:nvPicPr>
        <p:blipFill>
          <a:blip r:embed="rId3"/>
          <a:stretch>
            <a:fillRect/>
          </a:stretch>
        </p:blipFill>
        <p:spPr>
          <a:xfrm>
            <a:off x="411480" y="1555820"/>
            <a:ext cx="11368735" cy="431328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SD-06 Scan cycle of one wayside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a:t>
            </a:r>
          </a:p>
        </p:txBody>
      </p:sp>
      <p:pic>
        <p:nvPicPr>
          <p:cNvPr id="7" name="Picture 6" descr="sd06_scan_cycle_1.png"/>
          <p:cNvPicPr>
            <a:picLocks noChangeAspect="1"/>
          </p:cNvPicPr>
          <p:nvPr/>
        </p:nvPicPr>
        <p:blipFill>
          <a:blip r:embed="rId3"/>
          <a:stretch>
            <a:fillRect/>
          </a:stretch>
        </p:blipFill>
        <p:spPr>
          <a:xfrm>
            <a:off x="2467297" y="978408"/>
            <a:ext cx="7257101" cy="546811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SD-06 Scan cycle of one wayside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a:t>
            </a:r>
          </a:p>
        </p:txBody>
      </p:sp>
      <p:pic>
        <p:nvPicPr>
          <p:cNvPr id="7" name="Picture 6" descr="sd06_scan_cycle_2.png"/>
          <p:cNvPicPr>
            <a:picLocks noChangeAspect="1"/>
          </p:cNvPicPr>
          <p:nvPr/>
        </p:nvPicPr>
        <p:blipFill>
          <a:blip r:embed="rId3"/>
          <a:stretch>
            <a:fillRect/>
          </a:stretch>
        </p:blipFill>
        <p:spPr>
          <a:xfrm>
            <a:off x="3401688" y="978408"/>
            <a:ext cx="5388319" cy="54681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SD-01 Load wayside database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a:t>
            </a:r>
          </a:p>
        </p:txBody>
      </p:sp>
      <p:pic>
        <p:nvPicPr>
          <p:cNvPr id="7" name="Picture 6" descr="sd01_load_database_1.png"/>
          <p:cNvPicPr>
            <a:picLocks noChangeAspect="1"/>
          </p:cNvPicPr>
          <p:nvPr/>
        </p:nvPicPr>
        <p:blipFill>
          <a:blip r:embed="rId3"/>
          <a:stretch>
            <a:fillRect/>
          </a:stretch>
        </p:blipFill>
        <p:spPr>
          <a:xfrm>
            <a:off x="411480" y="1935951"/>
            <a:ext cx="11368735" cy="3553025"/>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SD-01 Load wayside database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a:t>
            </a:r>
          </a:p>
        </p:txBody>
      </p:sp>
      <p:pic>
        <p:nvPicPr>
          <p:cNvPr id="7" name="Picture 6" descr="sd01_load_database_2.png"/>
          <p:cNvPicPr>
            <a:picLocks noChangeAspect="1"/>
          </p:cNvPicPr>
          <p:nvPr/>
        </p:nvPicPr>
        <p:blipFill>
          <a:blip r:embed="rId3"/>
          <a:stretch>
            <a:fillRect/>
          </a:stretch>
        </p:blipFill>
        <p:spPr>
          <a:xfrm>
            <a:off x="411480" y="1235755"/>
            <a:ext cx="11368735" cy="495341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SD-02 Load PLC program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a:t>
            </a:r>
          </a:p>
        </p:txBody>
      </p:sp>
      <p:pic>
        <p:nvPicPr>
          <p:cNvPr id="7" name="Picture 6" descr="sd02_load_program_1.png"/>
          <p:cNvPicPr>
            <a:picLocks noChangeAspect="1"/>
          </p:cNvPicPr>
          <p:nvPr/>
        </p:nvPicPr>
        <p:blipFill>
          <a:blip r:embed="rId3"/>
          <a:stretch>
            <a:fillRect/>
          </a:stretch>
        </p:blipFill>
        <p:spPr>
          <a:xfrm>
            <a:off x="1179120" y="978408"/>
            <a:ext cx="9833454" cy="54681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SD-02 Load PLC program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a:t>
            </a:r>
          </a:p>
        </p:txBody>
      </p:sp>
      <p:pic>
        <p:nvPicPr>
          <p:cNvPr id="7" name="Picture 6" descr="sd02_load_program_2.png"/>
          <p:cNvPicPr>
            <a:picLocks noChangeAspect="1"/>
          </p:cNvPicPr>
          <p:nvPr/>
        </p:nvPicPr>
        <p:blipFill>
          <a:blip r:embed="rId3"/>
          <a:stretch>
            <a:fillRect/>
          </a:stretch>
        </p:blipFill>
        <p:spPr>
          <a:xfrm>
            <a:off x="1389087" y="978408"/>
            <a:ext cx="9413520" cy="54681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SD-03 Select wayside and monitor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a:t>
            </a:r>
          </a:p>
        </p:txBody>
      </p:sp>
      <p:pic>
        <p:nvPicPr>
          <p:cNvPr id="7" name="Picture 6" descr="sd03_monitor.png"/>
          <p:cNvPicPr>
            <a:picLocks noChangeAspect="1"/>
          </p:cNvPicPr>
          <p:nvPr/>
        </p:nvPicPr>
        <p:blipFill>
          <a:blip r:embed="rId3"/>
          <a:stretch>
            <a:fillRect/>
          </a:stretch>
        </p:blipFill>
        <p:spPr>
          <a:xfrm>
            <a:off x="2177601" y="978408"/>
            <a:ext cx="7836493" cy="546811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SD-04 PLC details and last report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a:t>
            </a:r>
          </a:p>
        </p:txBody>
      </p:sp>
      <p:pic>
        <p:nvPicPr>
          <p:cNvPr id="7" name="Picture 6" descr="sd04_details_and_report.png"/>
          <p:cNvPicPr>
            <a:picLocks noChangeAspect="1"/>
          </p:cNvPicPr>
          <p:nvPr/>
        </p:nvPicPr>
        <p:blipFill>
          <a:blip r:embed="rId3"/>
          <a:stretch>
            <a:fillRect/>
          </a:stretch>
        </p:blipFill>
        <p:spPr>
          <a:xfrm>
            <a:off x="3214367" y="978408"/>
            <a:ext cx="5762961" cy="5468112"/>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SD-07 Maintenance switch command</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a:t>
            </a:r>
          </a:p>
        </p:txBody>
      </p:sp>
      <p:pic>
        <p:nvPicPr>
          <p:cNvPr id="7" name="Picture 6" descr="sd07_maintenance_switch.png"/>
          <p:cNvPicPr>
            <a:picLocks noChangeAspect="1"/>
          </p:cNvPicPr>
          <p:nvPr/>
        </p:nvPicPr>
        <p:blipFill>
          <a:blip r:embed="rId3"/>
          <a:stretch>
            <a:fillRect/>
          </a:stretch>
        </p:blipFill>
        <p:spPr>
          <a:xfrm>
            <a:off x="1496415" y="978408"/>
            <a:ext cx="9198864" cy="546811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Deployment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Deployment</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33</a:t>
            </a:r>
          </a:p>
        </p:txBody>
      </p:sp>
      <p:pic>
        <p:nvPicPr>
          <p:cNvPr id="7" name="Picture 6" descr="deployment.png"/>
          <p:cNvPicPr>
            <a:picLocks noChangeAspect="1"/>
          </p:cNvPicPr>
          <p:nvPr/>
        </p:nvPicPr>
        <p:blipFill>
          <a:blip r:embed="rId3"/>
          <a:stretch>
            <a:fillRect/>
          </a:stretch>
        </p:blipFill>
        <p:spPr>
          <a:xfrm>
            <a:off x="1796387" y="978408"/>
            <a:ext cx="8598920" cy="5468112"/>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System concepts</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Track Controller's part of the joint concepts, with Harry and Landis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Distribution of wayside controllers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35</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One variant per line: HW runs the Red Line, SW the Green Line (D021)</a:t>
            </a:r>
          </a:p>
          <a:p>
            <a:pPr>
              <a:spcAft>
                <a:spcPts val="800"/>
              </a:spcAft>
            </a:pPr>
            <a:r>
              <a:rPr sz="2400">
                <a:solidFill>
                  <a:srgbClr val="222B36"/>
                </a:solidFill>
                <a:latin typeface="Segoe UI"/>
              </a:rPr>
              <a:t>•  A wayside owns a contiguous run of blocks and every switch, signal and crossing on them</a:t>
            </a:r>
          </a:p>
          <a:p>
            <a:pPr>
              <a:spcAft>
                <a:spcPts val="800"/>
              </a:spcAft>
            </a:pPr>
            <a:r>
              <a:rPr sz="2400">
                <a:solidFill>
                  <a:srgbClr val="222B36"/>
                </a:solidFill>
                <a:latin typeface="Segoe UI"/>
              </a:rPr>
              <a:t>•  One Raspberry Pi 5 runs every Red Line wayside</a:t>
            </a:r>
          </a:p>
          <a:p>
            <a:pPr>
              <a:spcAft>
                <a:spcPts val="800"/>
              </a:spcAft>
            </a:pPr>
            <a:r>
              <a:rPr sz="2400">
                <a:solidFill>
                  <a:srgbClr val="222B36"/>
                </a:solidFill>
                <a:latin typeface="Segoe UI"/>
              </a:rPr>
              <a:t>•  A line runs only when every wayside on it is ready</a:t>
            </a:r>
          </a:p>
          <a:p>
            <a:pPr lvl="1">
              <a:spcAft>
                <a:spcPts val="400"/>
              </a:spcAft>
            </a:pPr>
            <a:r>
              <a:rPr sz="2100">
                <a:solidFill>
                  <a:srgbClr val="5B6775"/>
                </a:solidFill>
                <a:latin typeface="Segoe UI"/>
              </a:rPr>
              <a:t>–  Ready: a person has loaded the database and the PLC program, and the channels agree</a:t>
            </a:r>
          </a:p>
          <a:p>
            <a:pPr lvl="1">
              <a:spcAft>
                <a:spcPts val="400"/>
              </a:spcAft>
            </a:pPr>
            <a:r>
              <a:rPr sz="2100">
                <a:solidFill>
                  <a:srgbClr val="5B6775"/>
                </a:solidFill>
                <a:latin typeface="Segoe UI"/>
              </a:rPr>
              <a:t>–  Not ready anywhere on the line: the whole line holds fail-safe and the CTC dispatches nothing</a:t>
            </a:r>
          </a:p>
          <a:p>
            <a:pPr>
              <a:spcAft>
                <a:spcPts val="800"/>
              </a:spcAft>
            </a:pPr>
            <a:r>
              <a:rPr sz="2400">
                <a:solidFill>
                  <a:srgbClr val="222B36"/>
                </a:solidFill>
                <a:latin typeface="Segoe UI"/>
              </a:rPr>
              <a:t>•  Red Line boundaries: to be chosen; a switch must lie inside one wayside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Authority, as the wayside handles it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36</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Authority = blocks ahead the train may still enter; 0 = stop (D013)</a:t>
            </a:r>
          </a:p>
          <a:p>
            <a:pPr>
              <a:spcAft>
                <a:spcPts val="800"/>
              </a:spcAft>
            </a:pPr>
            <a:r>
              <a:rPr sz="2400">
                <a:solidFill>
                  <a:srgbClr val="222B36"/>
                </a:solidFill>
                <a:latin typeface="Segoe UI"/>
              </a:rPr>
              <a:t>•  CTC Office computes it along the route and suggests it per block</a:t>
            </a:r>
          </a:p>
          <a:p>
            <a:pPr>
              <a:spcAft>
                <a:spcPts val="800"/>
              </a:spcAft>
            </a:pPr>
            <a:r>
              <a:rPr sz="2400">
                <a:solidFill>
                  <a:srgbClr val="222B36"/>
                </a:solidFill>
                <a:latin typeface="Segoe UI"/>
              </a:rPr>
              <a:t>•  The program's AUTH_n passes the CTC count down block n's track circuit, or sends 0</a:t>
            </a:r>
          </a:p>
          <a:p>
            <a:pPr lvl="1">
              <a:spcAft>
                <a:spcPts val="400"/>
              </a:spcAft>
            </a:pPr>
            <a:r>
              <a:rPr sz="2100">
                <a:solidFill>
                  <a:srgbClr val="5B6775"/>
                </a:solidFill>
                <a:latin typeface="Segoe UI"/>
              </a:rPr>
              <a:t>–  Withheld for a closed block, a switch not where commanded, an occupied neighbour</a:t>
            </a:r>
          </a:p>
          <a:p>
            <a:pPr>
              <a:spcAft>
                <a:spcPts val="800"/>
              </a:spcAft>
            </a:pPr>
            <a:r>
              <a:rPr sz="2400">
                <a:solidFill>
                  <a:srgbClr val="222B36"/>
                </a:solidFill>
                <a:latin typeface="Segoe UI"/>
              </a:rPr>
              <a:t>•  Speed travels with it as five bits, capped at the block's limit</a:t>
            </a:r>
          </a:p>
          <a:p>
            <a:pPr>
              <a:spcAft>
                <a:spcPts val="800"/>
              </a:spcAft>
            </a:pPr>
            <a:r>
              <a:rPr sz="2400">
                <a:solidFill>
                  <a:srgbClr val="222B36"/>
                </a:solidFill>
                <a:latin typeface="Segoe UI"/>
              </a:rPr>
              <a:t>•  Track Model delivers both to the train in the block, then clears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Wayside language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37</a:t>
            </a:r>
          </a:p>
        </p:txBody>
      </p:sp>
      <p:sp>
        <p:nvSpPr>
          <p:cNvPr id="7" name="Rectangle 6"/>
          <p:cNvSpPr/>
          <p:nvPr/>
        </p:nvSpPr>
        <p:spPr>
          <a:xfrm>
            <a:off x="411480" y="1097280"/>
            <a:ext cx="6366491" cy="5349240"/>
          </a:xfrm>
          <a:prstGeom prst="rect">
            <a:avLst/>
          </a:prstGeom>
          <a:solidFill>
            <a:srgbClr val="F7F9FC"/>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6092171" cy="5166360"/>
          </a:xfrm>
          <a:prstGeom prst="rect">
            <a:avLst/>
          </a:prstGeom>
          <a:noFill/>
        </p:spPr>
        <p:txBody>
          <a:bodyPr wrap="square" anchor="t" lIns="45720" rIns="45720">
            <a:spAutoFit/>
          </a:bodyPr>
          <a:lstStyle/>
          <a:p>
            <a:pPr algn="l"/>
            <a:r>
              <a:rPr sz="1700" b="0">
                <a:solidFill>
                  <a:srgbClr val="222B36"/>
                </a:solidFill>
                <a:latin typeface="Consolas"/>
              </a:rPr>
              <a:t>// a comment</a:t>
            </a:r>
          </a:p>
          <a:p>
            <a:pPr algn="l"/>
            <a:r>
              <a:rPr sz="1700" b="0">
                <a:solidFill>
                  <a:srgbClr val="222B36"/>
                </a:solidFill>
                <a:latin typeface="Consolas"/>
              </a:rPr>
              <a:t>VAR_IN  OCC_12 OCC_13 SWREV_12</a:t>
            </a:r>
          </a:p>
          <a:p>
            <a:pPr algn="l"/>
            <a:r>
              <a:rPr sz="1700" b="0">
                <a:solidFill>
                  <a:srgbClr val="222B36"/>
                </a:solidFill>
                <a:latin typeface="Consolas"/>
              </a:rPr>
              <a:t>VAR_IN  CTCSW_12 CTCREV_12</a:t>
            </a:r>
          </a:p>
          <a:p>
            <a:pPr algn="l"/>
            <a:r>
              <a:rPr sz="1700" b="0">
                <a:solidFill>
                  <a:srgbClr val="222B36"/>
                </a:solidFill>
                <a:latin typeface="Consolas"/>
              </a:rPr>
              <a:t>VAR_OUT SW_12</a:t>
            </a:r>
          </a:p>
          <a:p>
            <a:pPr algn="l"/>
            <a:r>
              <a:rPr sz="1700" b="0">
                <a:solidFill>
                  <a:srgbClr val="222B36"/>
                </a:solidFill>
                <a:latin typeface="Consolas"/>
              </a:rPr>
              <a:t/>
            </a:r>
          </a:p>
          <a:p>
            <a:pPr algn="l"/>
            <a:r>
              <a:rPr sz="1700" b="0">
                <a:solidFill>
                  <a:srgbClr val="222B36"/>
                </a:solidFill>
                <a:latin typeface="Consolas"/>
              </a:rPr>
              <a:t>LOCK_12 := OCC_12 OR OCC_13</a:t>
            </a:r>
          </a:p>
          <a:p>
            <a:pPr algn="l"/>
            <a:r>
              <a:rPr sz="1700" b="0">
                <a:solidFill>
                  <a:srgbClr val="222B36"/>
                </a:solidFill>
                <a:latin typeface="Consolas"/>
              </a:rPr>
              <a:t>WANT_12 := CTCSW_12 AND CTCREV_12</a:t>
            </a:r>
          </a:p>
          <a:p>
            <a:pPr algn="l"/>
            <a:r>
              <a:rPr sz="1700" b="0">
                <a:solidFill>
                  <a:srgbClr val="222B36"/>
                </a:solidFill>
                <a:latin typeface="Consolas"/>
              </a:rPr>
              <a:t>SW_12   := (LOCK_12 AND SWREV_12)</a:t>
            </a:r>
          </a:p>
          <a:p>
            <a:pPr algn="l"/>
            <a:r>
              <a:rPr sz="1700" b="0">
                <a:solidFill>
                  <a:srgbClr val="222B36"/>
                </a:solidFill>
                <a:latin typeface="Consolas"/>
              </a:rPr>
              <a:t>           OR (NOT LOCK_12 AND WANT_12)</a:t>
            </a:r>
          </a:p>
        </p:txBody>
      </p:sp>
      <p:sp>
        <p:nvSpPr>
          <p:cNvPr id="9" name="TextBox 8"/>
          <p:cNvSpPr txBox="1"/>
          <p:nvPr/>
        </p:nvSpPr>
        <p:spPr>
          <a:xfrm>
            <a:off x="7052291" y="1097280"/>
            <a:ext cx="4727924" cy="5349240"/>
          </a:xfrm>
          <a:prstGeom prst="rect">
            <a:avLst/>
          </a:prstGeom>
          <a:noFill/>
        </p:spPr>
        <p:txBody>
          <a:bodyPr wrap="square">
            <a:spAutoFit/>
          </a:bodyPr>
          <a:lstStyle/>
          <a:p>
            <a:pPr>
              <a:spcAft>
                <a:spcPts val="800"/>
              </a:spcAft>
            </a:pPr>
            <a:r>
              <a:rPr sz="1900">
                <a:solidFill>
                  <a:srgbClr val="222B36"/>
                </a:solidFill>
                <a:latin typeface="Segoe UI"/>
              </a:rPr>
              <a:t>•  Boolean only: NOT, AND, XOR, OR, 0, 1, parentheses</a:t>
            </a:r>
          </a:p>
          <a:p>
            <a:pPr>
              <a:spcAft>
                <a:spcPts val="800"/>
              </a:spcAft>
            </a:pPr>
            <a:r>
              <a:rPr sz="1900">
                <a:solidFill>
                  <a:srgbClr val="222B36"/>
                </a:solidFill>
                <a:latin typeface="Segoe UI"/>
              </a:rPr>
              <a:t>•  Runs top to bottom once per tick; an unset name reads 0</a:t>
            </a:r>
          </a:p>
          <a:p>
            <a:pPr>
              <a:spcAft>
                <a:spcPts val="800"/>
              </a:spcAft>
            </a:pPr>
            <a:r>
              <a:rPr sz="1900">
                <a:solidFill>
                  <a:srgbClr val="222B36"/>
                </a:solidFill>
                <a:latin typeface="Segoe UI"/>
              </a:rPr>
              <a:t>•  Speed crosses in and out as five bits (SPD_n_0..4, CMD_n_0..4)</a:t>
            </a:r>
          </a:p>
          <a:p>
            <a:pPr>
              <a:spcAft>
                <a:spcPts val="800"/>
              </a:spcAft>
            </a:pPr>
            <a:r>
              <a:rPr sz="1900">
                <a:solidFill>
                  <a:srgbClr val="222B36"/>
                </a:solidFill>
                <a:latin typeface="Segoe UI"/>
              </a:rPr>
              <a:t>•  Every error reported with its line number; a program naming I/O its wayside lacks is refused</a:t>
            </a:r>
          </a:p>
          <a:p>
            <a:pPr>
              <a:spcAft>
                <a:spcPts val="800"/>
              </a:spcAft>
            </a:pPr>
            <a:r>
              <a:rPr sz="1900">
                <a:solidFill>
                  <a:srgbClr val="222B36"/>
                </a:solidFill>
                <a:latin typeface="Segoe UI"/>
              </a:rPr>
              <a:t>•  Shared with the SW variant; the names still differ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Vitality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38</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OS only holds and parses the PLC program: every decision is PLC code</a:t>
            </a:r>
          </a:p>
          <a:p>
            <a:pPr>
              <a:spcAft>
                <a:spcPts val="800"/>
              </a:spcAft>
            </a:pPr>
            <a:r>
              <a:rPr sz="2400">
                <a:solidFill>
                  <a:srgbClr val="222B36"/>
                </a:solidFill>
                <a:latin typeface="Segoe UI"/>
              </a:rPr>
              <a:t>•  Read-only vital block after the user's program «planned»</a:t>
            </a:r>
          </a:p>
          <a:p>
            <a:pPr lvl="1">
              <a:spcAft>
                <a:spcPts val="400"/>
              </a:spcAft>
            </a:pPr>
            <a:r>
              <a:rPr sz="2100">
                <a:solidFill>
                  <a:srgbClr val="5B6775"/>
                </a:solidFill>
                <a:latin typeface="Segoe UI"/>
              </a:rPr>
              <a:t>–  Generated per territory; can only make outputs more restrictive</a:t>
            </a:r>
          </a:p>
          <a:p>
            <a:pPr>
              <a:spcAft>
                <a:spcPts val="800"/>
              </a:spcAft>
            </a:pPr>
            <a:r>
              <a:rPr sz="2400">
                <a:solidFill>
                  <a:srgbClr val="222B36"/>
                </a:solidFill>
                <a:latin typeface="Segoe UI"/>
              </a:rPr>
              <a:t>•  Diverse execution: two compilers, two interpreters, compared every scan</a:t>
            </a:r>
          </a:p>
          <a:p>
            <a:pPr>
              <a:spcAft>
                <a:spcPts val="800"/>
              </a:spcAft>
            </a:pPr>
            <a:r>
              <a:rPr sz="2400">
                <a:solidFill>
                  <a:srgbClr val="222B36"/>
                </a:solidFill>
                <a:latin typeface="Segoe UI"/>
              </a:rPr>
              <a:t>•  Diverse implementations: HW and SW share a language, not code</a:t>
            </a:r>
          </a:p>
          <a:p>
            <a:pPr>
              <a:spcAft>
                <a:spcPts val="800"/>
              </a:spcAft>
            </a:pPr>
            <a:r>
              <a:rPr sz="2400">
                <a:solidFill>
                  <a:srgbClr val="222B36"/>
                </a:solidFill>
                <a:latin typeface="Segoe UI"/>
              </a:rPr>
              <a:t>•  Fail-safe outputs: signals red, crossings active, speed and authority 0, switches stay</a:t>
            </a:r>
          </a:p>
          <a:p>
            <a:pPr>
              <a:spcAft>
                <a:spcPts val="800"/>
              </a:spcAft>
            </a:pPr>
            <a:r>
              <a:rPr sz="2400">
                <a:solidFill>
                  <a:srgbClr val="222B36"/>
                </a:solidFill>
                <a:latin typeface="Segoe UI"/>
              </a:rPr>
              <a:t>•  Inputs checked whole before anything changes; a failure reads as occupancy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Hardware/software interface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39</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Same TrackController Protocol and the same I/O in both variants (D021)</a:t>
            </a:r>
          </a:p>
          <a:p>
            <a:pPr>
              <a:spcAft>
                <a:spcPts val="800"/>
              </a:spcAft>
            </a:pPr>
            <a:r>
              <a:rPr sz="2400">
                <a:solidFill>
                  <a:srgbClr val="222B36"/>
                </a:solidFill>
                <a:latin typeface="Segoe UI"/>
              </a:rPr>
              <a:t>•  Pi 5 in USB device mode: a standard USB serial (CDC-ACM) device (D027)</a:t>
            </a:r>
          </a:p>
          <a:p>
            <a:pPr lvl="1">
              <a:spcAft>
                <a:spcPts val="400"/>
              </a:spcAft>
            </a:pPr>
            <a:r>
              <a:rPr sz="2100">
                <a:solidFill>
                  <a:srgbClr val="5B6775"/>
                </a:solidFill>
                <a:latin typeface="Segoe UI"/>
              </a:rPr>
              <a:t>–  Windows' built-in driver: no installation, no admin rights</a:t>
            </a:r>
          </a:p>
          <a:p>
            <a:pPr lvl="1">
              <a:spcAft>
                <a:spcPts val="400"/>
              </a:spcAft>
            </a:pPr>
            <a:r>
              <a:rPr sz="2100">
                <a:solidFill>
                  <a:srgbClr val="5B6775"/>
                </a:solidFill>
                <a:latin typeface="Segoe UI"/>
              </a:rPr>
              <a:t>–  Found by its USB identity, never a fixed COM number</a:t>
            </a:r>
          </a:p>
          <a:p>
            <a:pPr>
              <a:spcAft>
                <a:spcPts val="800"/>
              </a:spcAft>
            </a:pPr>
            <a:r>
              <a:rPr sz="2400">
                <a:solidFill>
                  <a:srgbClr val="222B36"/>
                </a:solidFill>
                <a:latin typeface="Segoe UI"/>
              </a:rPr>
              <a:t>•  Messages: the harness's newline JSON, with request ID and tick</a:t>
            </a:r>
          </a:p>
          <a:p>
            <a:pPr>
              <a:spcAft>
                <a:spcPts val="800"/>
              </a:spcAft>
            </a:pPr>
            <a:r>
              <a:rPr sz="2400">
                <a:solidFill>
                  <a:srgbClr val="222B36"/>
                </a:solidFill>
                <a:latin typeface="Segoe UI"/>
              </a:rPr>
              <a:t>•  The PC process owns the COM port and relays harness messages to the Pi</a:t>
            </a:r>
          </a:p>
          <a:p>
            <a:pPr>
              <a:spcAft>
                <a:spcPts val="800"/>
              </a:spcAft>
            </a:pPr>
            <a:r>
              <a:rPr sz="2400">
                <a:solidFill>
                  <a:srgbClr val="222B36"/>
                </a:solidFill>
                <a:latin typeface="Segoe UI"/>
              </a:rPr>
              <a:t>•  10x: 100 ticks per second, so USB round trip + scan &lt; 10 ms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Open items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Open items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Open items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41</a:t>
            </a:r>
          </a:p>
        </p:txBody>
      </p:sp>
      <p:graphicFrame>
        <p:nvGraphicFramePr>
          <p:cNvPr id="7" name="Table 6"/>
          <p:cNvGraphicFramePr>
            <a:graphicFrameLocks noGrp="1"/>
          </p:cNvGraphicFramePr>
          <p:nvPr/>
        </p:nvGraphicFramePr>
        <p:xfrm>
          <a:off x="411480" y="1097280"/>
          <a:ext cx="11338560" cy="3291840"/>
        </p:xfrm>
        <a:graphic>
          <a:graphicData uri="http://schemas.openxmlformats.org/drawingml/2006/table">
            <a:tbl>
              <a:tblPr firstRow="1" bandRow="1">
                <a:tableStyleId>{5C22544A-7EE6-4342-B048-85BDC9FD1C3A}</a:tableStyleId>
              </a:tblPr>
              <a:tblGrid>
                <a:gridCol w="548640"/>
                <a:gridCol w="8412480"/>
                <a:gridCol w="2377440"/>
              </a:tblGrid>
              <a:tr h="365760">
                <a:tc>
                  <a:txBody>
                    <a:bodyPr wrap="square"/>
                    <a:lstStyle/>
                    <a:p>
                      <a:r>
                        <a:rPr sz="1600" b="1">
                          <a:solidFill>
                            <a:srgbClr val="FFFFFF"/>
                          </a:solidFill>
                          <a:latin typeface="Segoe UI"/>
                        </a:rPr>
                        <a:t>#</a:t>
                      </a:r>
                    </a:p>
                  </a:txBody>
                  <a:tcPr marL="73152" marR="73152" marT="36576" marB="36576">
                    <a:solidFill>
                      <a:srgbClr val="1F3A5F"/>
                    </a:solidFill>
                  </a:tcPr>
                </a:tc>
                <a:tc>
                  <a:txBody>
                    <a:bodyPr wrap="square"/>
                    <a:lstStyle/>
                    <a:p>
                      <a:r>
                        <a:rPr sz="1600" b="1">
                          <a:solidFill>
                            <a:srgbClr val="FFFFFF"/>
                          </a:solidFill>
                          <a:latin typeface="Segoe UI"/>
                        </a:rPr>
                        <a:t>Item</a:t>
                      </a:r>
                    </a:p>
                  </a:txBody>
                  <a:tcPr marL="73152" marR="73152" marT="36576" marB="36576">
                    <a:solidFill>
                      <a:srgbClr val="1F3A5F"/>
                    </a:solidFill>
                  </a:tcPr>
                </a:tc>
                <a:tc>
                  <a:txBody>
                    <a:bodyPr wrap="square"/>
                    <a:lstStyle/>
                    <a:p>
                      <a:r>
                        <a:rPr sz="1600" b="1">
                          <a:solidFill>
                            <a:srgbClr val="FFFFFF"/>
                          </a:solidFill>
                          <a:latin typeface="Segoe UI"/>
                        </a:rPr>
                        <a:t>Owner</a:t>
                      </a:r>
                    </a:p>
                  </a:txBody>
                  <a:tcPr marL="73152" marR="73152" marT="36576" marB="36576">
                    <a:solidFill>
                      <a:srgbClr val="1F3A5F"/>
                    </a:solidFill>
                  </a:tcPr>
                </a:tc>
              </a:tr>
              <a:tr h="365760">
                <a:tc>
                  <a:txBody>
                    <a:bodyPr wrap="square"/>
                    <a:lstStyle/>
                    <a:p>
                      <a:r>
                        <a:rPr sz="1600" b="0">
                          <a:solidFill>
                            <a:srgbClr val="222B36"/>
                          </a:solidFill>
                          <a:latin typeface="Segoe UI"/>
                        </a:rPr>
                        <a:t>1</a:t>
                      </a:r>
                    </a:p>
                  </a:txBody>
                  <a:tcPr marL="73152" marR="73152" marT="36576" marB="36576">
                    <a:solidFill>
                      <a:srgbClr val="F7F9FC"/>
                    </a:solidFill>
                  </a:tcPr>
                </a:tc>
                <a:tc>
                  <a:txBody>
                    <a:bodyPr wrap="square"/>
                    <a:lstStyle/>
                    <a:p>
                      <a:r>
                        <a:rPr sz="1600" b="0">
                          <a:solidFill>
                            <a:srgbClr val="222B36"/>
                          </a:solidFill>
                          <a:latin typeface="Segoe UI"/>
                        </a:rPr>
                        <a:t>Read-only vital PLC block: assumed, to confirm for both variants</a:t>
                      </a:r>
                    </a:p>
                  </a:txBody>
                  <a:tcPr marL="73152" marR="73152" marT="36576" marB="36576">
                    <a:solidFill>
                      <a:srgbClr val="F7F9FC"/>
                    </a:solidFill>
                  </a:tcPr>
                </a:tc>
                <a:tc>
                  <a:txBody>
                    <a:bodyPr wrap="square"/>
                    <a:lstStyle/>
                    <a:p>
                      <a:r>
                        <a:rPr sz="1600" b="0">
                          <a:solidFill>
                            <a:srgbClr val="222B36"/>
                          </a:solidFill>
                          <a:latin typeface="Segoe UI"/>
                        </a:rPr>
                        <a:t>Braden, Harry</a:t>
                      </a:r>
                    </a:p>
                  </a:txBody>
                  <a:tcPr marL="73152" marR="73152" marT="36576" marB="36576">
                    <a:solidFill>
                      <a:srgbClr val="F7F9FC"/>
                    </a:solidFill>
                  </a:tcPr>
                </a:tc>
              </a:tr>
              <a:tr h="365760">
                <a:tc>
                  <a:txBody>
                    <a:bodyPr wrap="square"/>
                    <a:lstStyle/>
                    <a:p>
                      <a:r>
                        <a:rPr sz="1600" b="0">
                          <a:solidFill>
                            <a:srgbClr val="222B36"/>
                          </a:solidFill>
                          <a:latin typeface="Segoe UI"/>
                        </a:rPr>
                        <a:t>2</a:t>
                      </a:r>
                    </a:p>
                  </a:txBody>
                  <a:tcPr marL="73152" marR="73152" marT="36576" marB="36576">
                    <a:solidFill>
                      <a:srgbClr val="FFFFFF"/>
                    </a:solidFill>
                  </a:tcPr>
                </a:tc>
                <a:tc>
                  <a:txBody>
                    <a:bodyPr wrap="square"/>
                    <a:lstStyle/>
                    <a:p>
                      <a:r>
                        <a:rPr sz="1600" b="0">
                          <a:solidFill>
                            <a:srgbClr val="222B36"/>
                          </a:solidFill>
                          <a:latin typeface="Segoe UI"/>
                        </a:rPr>
                        <a:t>Manual switch at the wayside in maintenance (rubric 6.8); assumed CTC only</a:t>
                      </a:r>
                    </a:p>
                  </a:txBody>
                  <a:tcPr marL="73152" marR="73152" marT="36576" marB="36576">
                    <a:solidFill>
                      <a:srgbClr val="FFFFFF"/>
                    </a:solidFill>
                  </a:tcPr>
                </a:tc>
                <a:tc>
                  <a:txBody>
                    <a:bodyPr wrap="square"/>
                    <a:lstStyle/>
                    <a:p>
                      <a:r>
                        <a:rPr sz="1600" b="0">
                          <a:solidFill>
                            <a:srgbClr val="222B36"/>
                          </a:solidFill>
                          <a:latin typeface="Segoe UI"/>
                        </a:rPr>
                        <a:t>Braden, Harry</a:t>
                      </a:r>
                    </a:p>
                  </a:txBody>
                  <a:tcPr marL="73152" marR="73152" marT="36576" marB="36576">
                    <a:solidFill>
                      <a:srgbClr val="FFFFFF"/>
                    </a:solidFill>
                  </a:tcPr>
                </a:tc>
              </a:tr>
              <a:tr h="365760">
                <a:tc>
                  <a:txBody>
                    <a:bodyPr wrap="square"/>
                    <a:lstStyle/>
                    <a:p>
                      <a:r>
                        <a:rPr sz="1600" b="0">
                          <a:solidFill>
                            <a:srgbClr val="222B36"/>
                          </a:solidFill>
                          <a:latin typeface="Segoe UI"/>
                        </a:rPr>
                        <a:t>3</a:t>
                      </a:r>
                    </a:p>
                  </a:txBody>
                  <a:tcPr marL="73152" marR="73152" marT="36576" marB="36576">
                    <a:solidFill>
                      <a:srgbClr val="F7F9FC"/>
                    </a:solidFill>
                  </a:tcPr>
                </a:tc>
                <a:tc>
                  <a:txBody>
                    <a:bodyPr wrap="square"/>
                    <a:lstStyle/>
                    <a:p>
                      <a:r>
                        <a:rPr sz="1600" b="0">
                          <a:solidFill>
                            <a:srgbClr val="222B36"/>
                          </a:solidFill>
                          <a:latin typeface="Segoe UI"/>
                        </a:rPr>
                        <a:t>Red Line wayside boundaries, databases and programs</a:t>
                      </a:r>
                    </a:p>
                  </a:txBody>
                  <a:tcPr marL="73152" marR="73152" marT="36576" marB="36576">
                    <a:solidFill>
                      <a:srgbClr val="F7F9FC"/>
                    </a:solidFill>
                  </a:tcPr>
                </a:tc>
                <a:tc>
                  <a:txBody>
                    <a:bodyPr wrap="square"/>
                    <a:lstStyle/>
                    <a:p>
                      <a:r>
                        <a:rPr sz="1600" b="0">
                          <a:solidFill>
                            <a:srgbClr val="222B36"/>
                          </a:solidFill>
                          <a:latin typeface="Segoe UI"/>
                        </a:rPr>
                        <a:t>Braden</a:t>
                      </a:r>
                    </a:p>
                  </a:txBody>
                  <a:tcPr marL="73152" marR="73152" marT="36576" marB="36576">
                    <a:solidFill>
                      <a:srgbClr val="F7F9FC"/>
                    </a:solidFill>
                  </a:tcPr>
                </a:tc>
              </a:tr>
              <a:tr h="365760">
                <a:tc>
                  <a:txBody>
                    <a:bodyPr wrap="square"/>
                    <a:lstStyle/>
                    <a:p>
                      <a:r>
                        <a:rPr sz="1600" b="0">
                          <a:solidFill>
                            <a:srgbClr val="222B36"/>
                          </a:solidFill>
                          <a:latin typeface="Segoe UI"/>
                        </a:rPr>
                        <a:t>4</a:t>
                      </a:r>
                    </a:p>
                  </a:txBody>
                  <a:tcPr marL="73152" marR="73152" marT="36576" marB="36576">
                    <a:solidFill>
                      <a:srgbClr val="FFFFFF"/>
                    </a:solidFill>
                  </a:tcPr>
                </a:tc>
                <a:tc>
                  <a:txBody>
                    <a:bodyPr wrap="square"/>
                    <a:lstStyle/>
                    <a:p>
                      <a:r>
                        <a:rPr sz="1600" b="0">
                          <a:solidFill>
                            <a:srgbClr val="222B36"/>
                          </a:solidFill>
                          <a:latin typeface="Segoe UI"/>
                        </a:rPr>
                        <a:t>USB message framing; the Pi's identification</a:t>
                      </a:r>
                    </a:p>
                  </a:txBody>
                  <a:tcPr marL="73152" marR="73152" marT="36576" marB="36576">
                    <a:solidFill>
                      <a:srgbClr val="FFFFFF"/>
                    </a:solidFill>
                  </a:tcPr>
                </a:tc>
                <a:tc>
                  <a:txBody>
                    <a:bodyPr wrap="square"/>
                    <a:lstStyle/>
                    <a:p>
                      <a:r>
                        <a:rPr sz="1600" b="0">
                          <a:solidFill>
                            <a:srgbClr val="222B36"/>
                          </a:solidFill>
                          <a:latin typeface="Segoe UI"/>
                        </a:rPr>
                        <a:t>Kevin, Braden</a:t>
                      </a:r>
                    </a:p>
                  </a:txBody>
                  <a:tcPr marL="73152" marR="73152" marT="36576" marB="36576">
                    <a:solidFill>
                      <a:srgbClr val="FFFFFF"/>
                    </a:solidFill>
                  </a:tcPr>
                </a:tc>
              </a:tr>
              <a:tr h="365760">
                <a:tc>
                  <a:txBody>
                    <a:bodyPr wrap="square"/>
                    <a:lstStyle/>
                    <a:p>
                      <a:r>
                        <a:rPr sz="1600" b="0">
                          <a:solidFill>
                            <a:srgbClr val="222B36"/>
                          </a:solidFill>
                          <a:latin typeface="Segoe UI"/>
                        </a:rPr>
                        <a:t>5</a:t>
                      </a:r>
                    </a:p>
                  </a:txBody>
                  <a:tcPr marL="73152" marR="73152" marT="36576" marB="36576">
                    <a:solidFill>
                      <a:srgbClr val="F7F9FC"/>
                    </a:solidFill>
                  </a:tcPr>
                </a:tc>
                <a:tc>
                  <a:txBody>
                    <a:bodyPr wrap="square"/>
                    <a:lstStyle/>
                    <a:p>
                      <a:r>
                        <a:rPr sz="1600" b="0">
                          <a:solidFill>
                            <a:srgbClr val="222B36"/>
                          </a:solidFill>
                          <a:latin typeface="Segoe UI"/>
                        </a:rPr>
                        <a:t>Pi 5 power through its USB-C port</a:t>
                      </a:r>
                    </a:p>
                  </a:txBody>
                  <a:tcPr marL="73152" marR="73152" marT="36576" marB="36576">
                    <a:solidFill>
                      <a:srgbClr val="F7F9FC"/>
                    </a:solidFill>
                  </a:tcPr>
                </a:tc>
                <a:tc>
                  <a:txBody>
                    <a:bodyPr wrap="square"/>
                    <a:lstStyle/>
                    <a:p>
                      <a:r>
                        <a:rPr sz="1600" b="0">
                          <a:solidFill>
                            <a:srgbClr val="222B36"/>
                          </a:solidFill>
                          <a:latin typeface="Segoe UI"/>
                        </a:rPr>
                        <a:t>Braden, Kevin</a:t>
                      </a:r>
                    </a:p>
                  </a:txBody>
                  <a:tcPr marL="73152" marR="73152" marT="36576" marB="36576">
                    <a:solidFill>
                      <a:srgbClr val="F7F9FC"/>
                    </a:solidFill>
                  </a:tcPr>
                </a:tc>
              </a:tr>
              <a:tr h="365760">
                <a:tc>
                  <a:txBody>
                    <a:bodyPr wrap="square"/>
                    <a:lstStyle/>
                    <a:p>
                      <a:r>
                        <a:rPr sz="1600" b="0">
                          <a:solidFill>
                            <a:srgbClr val="222B36"/>
                          </a:solidFill>
                          <a:latin typeface="Segoe UI"/>
                        </a:rPr>
                        <a:t>6</a:t>
                      </a:r>
                    </a:p>
                  </a:txBody>
                  <a:tcPr marL="73152" marR="73152" marT="36576" marB="36576">
                    <a:solidFill>
                      <a:srgbClr val="FFFFFF"/>
                    </a:solidFill>
                  </a:tcPr>
                </a:tc>
                <a:tc>
                  <a:txBody>
                    <a:bodyPr wrap="square"/>
                    <a:lstStyle/>
                    <a:p>
                      <a:r>
                        <a:rPr sz="1600" b="0">
                          <a:solidFill>
                            <a:srgbClr val="222B36"/>
                          </a:solidFill>
                          <a:latin typeface="Segoe UI"/>
                        </a:rPr>
                        <a:t>Measure USB round trip + scan against the 10 ms budget</a:t>
                      </a:r>
                    </a:p>
                  </a:txBody>
                  <a:tcPr marL="73152" marR="73152" marT="36576" marB="36576">
                    <a:solidFill>
                      <a:srgbClr val="FFFFFF"/>
                    </a:solidFill>
                  </a:tcPr>
                </a:tc>
                <a:tc>
                  <a:txBody>
                    <a:bodyPr wrap="square"/>
                    <a:lstStyle/>
                    <a:p>
                      <a:r>
                        <a:rPr sz="1600" b="0">
                          <a:solidFill>
                            <a:srgbClr val="222B36"/>
                          </a:solidFill>
                          <a:latin typeface="Segoe UI"/>
                        </a:rPr>
                        <a:t>Braden</a:t>
                      </a:r>
                    </a:p>
                  </a:txBody>
                  <a:tcPr marL="73152" marR="73152" marT="36576" marB="36576">
                    <a:solidFill>
                      <a:srgbClr val="FFFFFF"/>
                    </a:solidFill>
                  </a:tcPr>
                </a:tc>
              </a:tr>
              <a:tr h="365760">
                <a:tc>
                  <a:txBody>
                    <a:bodyPr wrap="square"/>
                    <a:lstStyle/>
                    <a:p>
                      <a:r>
                        <a:rPr sz="1600" b="0">
                          <a:solidFill>
                            <a:srgbClr val="222B36"/>
                          </a:solidFill>
                          <a:latin typeface="Segoe UI"/>
                        </a:rPr>
                        <a:t>7</a:t>
                      </a:r>
                    </a:p>
                  </a:txBody>
                  <a:tcPr marL="73152" marR="73152" marT="36576" marB="36576">
                    <a:solidFill>
                      <a:srgbClr val="F7F9FC"/>
                    </a:solidFill>
                  </a:tcPr>
                </a:tc>
                <a:tc>
                  <a:txBody>
                    <a:bodyPr wrap="square"/>
                    <a:lstStyle/>
                    <a:p>
                      <a:r>
                        <a:rPr sz="1600" b="0">
                          <a:solidFill>
                            <a:srgbClr val="222B36"/>
                          </a:solidFill>
                          <a:latin typeface="Segoe UI"/>
                        </a:rPr>
                        <a:t>PLC names differ between the variants (REQ-INTF-009)</a:t>
                      </a:r>
                    </a:p>
                  </a:txBody>
                  <a:tcPr marL="73152" marR="73152" marT="36576" marB="36576">
                    <a:solidFill>
                      <a:srgbClr val="F7F9FC"/>
                    </a:solidFill>
                  </a:tcPr>
                </a:tc>
                <a:tc>
                  <a:txBody>
                    <a:bodyPr wrap="square"/>
                    <a:lstStyle/>
                    <a:p>
                      <a:r>
                        <a:rPr sz="1600" b="0">
                          <a:solidFill>
                            <a:srgbClr val="222B36"/>
                          </a:solidFill>
                          <a:latin typeface="Segoe UI"/>
                        </a:rPr>
                        <a:t>Braden, Harry</a:t>
                      </a:r>
                    </a:p>
                  </a:txBody>
                  <a:tcPr marL="73152" marR="73152" marT="36576" marB="36576">
                    <a:solidFill>
                      <a:srgbClr val="F7F9FC"/>
                    </a:solidFill>
                  </a:tcPr>
                </a:tc>
              </a:tr>
              <a:tr h="365760">
                <a:tc>
                  <a:txBody>
                    <a:bodyPr wrap="square"/>
                    <a:lstStyle/>
                    <a:p>
                      <a:r>
                        <a:rPr sz="1600" b="0">
                          <a:solidFill>
                            <a:srgbClr val="222B36"/>
                          </a:solidFill>
                          <a:latin typeface="Segoe UI"/>
                        </a:rPr>
                        <a:t>8</a:t>
                      </a:r>
                    </a:p>
                  </a:txBody>
                  <a:tcPr marL="73152" marR="73152" marT="36576" marB="36576">
                    <a:solidFill>
                      <a:srgbClr val="FFFFFF"/>
                    </a:solidFill>
                  </a:tcPr>
                </a:tc>
                <a:tc>
                  <a:txBody>
                    <a:bodyPr wrap="square"/>
                    <a:lstStyle/>
                    <a:p>
                      <a:r>
                        <a:rPr sz="1600" b="0">
                          <a:solidFill>
                            <a:srgbClr val="222B36"/>
                          </a:solidFill>
                          <a:latin typeface="Segoe UI"/>
                        </a:rPr>
                        <a:t>Aspect values: lower case here, upper case system-wide</a:t>
                      </a:r>
                    </a:p>
                  </a:txBody>
                  <a:tcPr marL="73152" marR="73152" marT="36576" marB="36576">
                    <a:solidFill>
                      <a:srgbClr val="FFFFFF"/>
                    </a:solidFill>
                  </a:tcPr>
                </a:tc>
                <a:tc>
                  <a:txBody>
                    <a:bodyPr wrap="square"/>
                    <a:lstStyle/>
                    <a:p>
                      <a:r>
                        <a:rPr sz="1600" b="0">
                          <a:solidFill>
                            <a:srgbClr val="222B36"/>
                          </a:solidFill>
                          <a:latin typeface="Segoe UI"/>
                        </a:rPr>
                        <a:t>Braden</a:t>
                      </a:r>
                    </a:p>
                  </a:txBody>
                  <a:tcPr marL="73152" marR="73152"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